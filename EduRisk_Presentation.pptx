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628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EduRisk title, subtitle, presenter name, and course/instructor placeholders, with a graduation-cap and brain icon representing students plus machine learning.
Say: Good [morning/afternoon]. My project is called EduRisk — Academic Failure Risk Prediction Using Machine Learning. It's a supervised classification project that predicts whether a student is at risk of academic failure based on their data, so instructors can step in early. I'm Salma Mohamed, and I'll walk you through the problem, the data, how I built and compared five models, and the final model I selected for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four problem-framing statements on the left, and the guiding research question on the right in a highlighted panel.
Say: Let's start with why this matters. Academic failure affects students, families, and institutions, and the earlier we can identify a student who's struggling, the more we can actually help them. But instructors can't manually track every factor for every student — grades, engagement, background, behavior — at scale. That's where Machine Learning comes in: it can process many factors at once and flag risk automatically. That leads to the core question driving this project: can Machine Learning help identify students at risk of academic failure?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 five-step objective pipeline — Predict, Compare, Evaluate, Select, Deploy.
Say: The project has five concrete goals. First, predict each student's academic failure risk. Second, compare multiple classification algorithms rather than relying on just one. Third, evaluate every model with proper classification metrics, not just accuracy. Fourth, select whichever model performs best. And fifth, prepare that trained model so it can actually be used — saved to disk and ready for an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framing of student data flowing into features and then into the target, plus the two target classes.
Say: The dataset holds student-related information, and the column the models are trained to predict is Academic_Failure_Risk. Since this column only has two possible outcomes — No Academic Failure Risk, or Academic Failure Risk — this is a binary classification problem. I'm not going to quote an exact row count or feature count here, since I want every number in this deck to come straight from the actual notebook output rather than be estimated.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four data-quality checks performed in the notebook — dataset info, missing values, duplicate rows, and descriptive statistics — each with the pandas call used and why it matters.
Say: Before training anything, the notebook runs standard data-quality checks. df.info() confirms the structure and data types of every column. isnull().sum() checks for missing values, since gaps in the data can bias or break a model. duplicated().sum() checks for duplicate rows, which can artificially inflate performance if the same record appears in both train and test. And describe() gives descriptive statistics — mean, spread, and range — which helps catch outliers before they distort training.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six-step preprocessing pipeline from raw data to train/test data, and below it the actual techniques used in the code.
Say: Before modeling, the data goes through a clear pipeline. After feature selection, categorical columns are converted to numbers with an OrdinalEncoder, and all features are standardized with a StandardScaler — both fit only on the training set to avoid leakage. Because the target classes are imbalanced, SMOTE is applied to the training data to oversample the minority class. Finally, the data was split 80/20 into train and test sets, using stratified sampling so both sets keep the same class proportions. I'm not quoting an exact imbalance percentage here since that number isn't in the source I was given.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five model cards — Random Forest, Logistic Regression, Gaussian Naive Bayes, K-Nearest Neighbors, and Decision Tree — each with a one-line description.
Say: Rather than relying on a single algorithm, the project trains and compares five classifiers: Random Forest, an ensemble of many decision trees; Logistic Regression, a linear baseline; Gaussian Naive Bayes, a fast probabilistic model; K-Nearest Neighbors, which classifies a student based on similar students in the data; and a single Decision Tree, capped at a max depth of three for interpretability. Comparing several models, rather than just one, is what lets us pick the strongest performer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an explanation of the K search from 1 to 20, a callout for the best K and best accuracy, and a placeholder for the actual accuracy-vs-K plot.
Say: For K-Nearest Neighbors, the choice of K matters a lot, so the notebook loops through every K from 1 to 20, trains a model for each, and records its accuracy. It then picks the K with the highest accuracy using argmax. I've left the exact best K and best accuracy as placeholders here, along with the plot itself — those need to be filled in from the actual run output rather than guessed, since I don't want to present numbers that aren't real.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four metric cards, a callout on why F1-score is useful, and the four outcomes of a confusion matrix.
Say: To judge the models fairly I used four metrics. Accuracy is the overall share of correct predictions, but it can be misleading on imbalanced data. Precision tells us, of the students flagged as at-risk, how many actually are — this matters if false alarms are costly. Recall tells us how many truly at-risk students we actually caught — this matters because a missed student gets no intervention. F1-score balances Precision and Recall into one number, which is why it's used to pick the final model. The confusion matrix breaks every prediction into four outcomes: true positives and true negatives are correct; false positives and false negatives are the two ways a model can be wrong — and a false negative is the more costly mistake here, since it means an at-risk student is missed entirely.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 comparison table of all five models across Accuracy, Precision, Recall, and F1-score, with placeholders where real numbers go.
Say: This table brings all five models together side by side, using the evaluate_model function defined in the notebook, which computes weighted Accuracy, Precision, Recall, and F1-score for each one. I've left the individual cells as placeholders rather than inventing numbers, since the actual values come from results_data when the notebook is executed. In the source code, the best model is identified programmatically as whichever row has the highest F1-score — I'll show exactly how that selection plays out on the next couple of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 2x2 confusion matrix for the best model, Random Forest, with True/False Positive/Negative cells, and a callout explaining False Negatives.
Say: This is the confusion matrix for the selected model. The diagonal — true negatives and true positives — represents correct predictions. Off the diagonal are the two error types. A false positive means a student who isn't actually at risk gets flagged, which can waste support resources. A false negative is more serious: it means a student who is genuinely at risk is predicted as not at risk, so they get no intervention at all. That's the error we most want to minimize. The actual counts in each cell come from the notebook's confusion_matrix output and are placeholders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final model card for Random Forest with placeholder metrics, and a flagged callout explaining a detail in the selection code.
Say: The final model prepared for deployment is Random Forest. As an ensemble of many trees, it typically generalizes better than a single tree and handles multiple interacting student factors well. One detail worth being transparent about: the code first computes the best model programmatically by taking the highest F1-score across the comparison table — that's the idxmax line. But the very next line unconditionally reassigns best_model to the Random Forest object, regardless of what that F1-score comparison actually returned. So Random Forest is the model that gets saved and deployed either way — I'm flagging this because it's exactly the kind of thing worth double-checking rather than glossing over in a defense.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artifact-saving pipeline (model, encoder, scaler saved with joblib), the inference pipeline from student input to a Risk/No Risk prediction, and a note about Streamlit.
Say: Once the best model is selected, three artifacts are saved with joblib: the trained model itself, the OrdinalEncoder, and the StandardScaler — all three are needed at inference time, since new input has to go through the same encoding and scaling the training data did. At prediction time, a new student's data would flow through that same preprocessing, into the trained model, and out as a Risk or No Risk prediction. The notebook also imports Streamlit, which is the intended framework for turning this into an interactive app — but in the code I was given, only the import is present; the actual Streamlit interface hasn't been built yet, so I'm noting that honestly rather than describing an app that doesn't exist in the source.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a two-column recap of the conclusion and future work, followed by a closing Thank You / Questions banner.
Say: To wrap up — this project shows that Machine Learning can meaningfully support academic failure risk prediction. I trained and compared five classification algorithms, evaluated them with Accuracy, Precision, Recall, and F1-score, and selected a final model to prepare for deployment. Looking ahead, the model could be improved with more student data, more feature engineering, systematic hyperparameter tuning across all five models, more advanced architectures, a feature-importance analysis to see which factors matter most, and finally, finishing and deploying the Streamlit application so instructors can actually use it.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BFBF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6.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png"/><Relationship Id="rId4" Type="http://schemas.openxmlformats.org/officeDocument/2006/relationships/image" Target="../media/image34.pn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4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62C63"/>
          </a:solidFill>
          <a:ln/>
        </p:spPr>
        <p:txBody>
          <a:bodyPr/>
          <a:lstStyle/>
          <a:p>
            <a:endParaRPr lang="en-AE"/>
          </a:p>
        </p:txBody>
      </p:sp>
      <p:sp>
        <p:nvSpPr>
          <p:cNvPr id="3" name="Shape 1"/>
          <p:cNvSpPr/>
          <p:nvPr/>
        </p:nvSpPr>
        <p:spPr>
          <a:xfrm>
            <a:off x="10607040" y="-640080"/>
            <a:ext cx="2926080" cy="2926080"/>
          </a:xfrm>
          <a:prstGeom prst="ellipse">
            <a:avLst/>
          </a:prstGeom>
          <a:solidFill>
            <a:srgbClr val="6C3FC5"/>
          </a:solidFill>
          <a:ln/>
        </p:spPr>
        <p:txBody>
          <a:bodyPr/>
          <a:lstStyle/>
          <a:p>
            <a:endParaRPr lang="en-AE"/>
          </a:p>
        </p:txBody>
      </p:sp>
      <p:sp>
        <p:nvSpPr>
          <p:cNvPr id="4" name="Text 2"/>
          <p:cNvSpPr txBox="1"/>
          <p:nvPr/>
        </p:nvSpPr>
        <p:spPr>
          <a:xfrm>
            <a:off x="548640" y="1417320"/>
            <a:ext cx="7315200" cy="292608"/>
          </a:xfrm>
          <a:prstGeom prst="rect">
            <a:avLst/>
          </a:prstGeom>
          <a:noFill/>
          <a:ln/>
        </p:spPr>
        <p:txBody>
          <a:bodyPr wrap="square" lIns="0" tIns="0" rIns="0" bIns="0" rtlCol="0" anchor="ctr"/>
          <a:lstStyle/>
          <a:p>
            <a:pPr marL="0" indent="0">
              <a:buNone/>
            </a:pPr>
            <a:r>
              <a:rPr lang="en-US" sz="1200" b="1" kern="0" spc="200" dirty="0">
                <a:solidFill>
                  <a:srgbClr val="CFE0FA"/>
                </a:solidFill>
                <a:latin typeface="Calibri" pitchFamily="34" charset="0"/>
                <a:ea typeface="Calibri" pitchFamily="34" charset="-122"/>
                <a:cs typeface="Calibri" pitchFamily="34" charset="-120"/>
              </a:rPr>
              <a:t>MACHINE LEARNING PROJECT</a:t>
            </a:r>
            <a:endParaRPr lang="en-US" sz="1200" dirty="0"/>
          </a:p>
        </p:txBody>
      </p:sp>
      <p:sp>
        <p:nvSpPr>
          <p:cNvPr id="5" name="Text 3"/>
          <p:cNvSpPr txBox="1"/>
          <p:nvPr/>
        </p:nvSpPr>
        <p:spPr>
          <a:xfrm>
            <a:off x="548640" y="1783080"/>
            <a:ext cx="7863840" cy="137160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EduRisk</a:t>
            </a:r>
            <a:endParaRPr lang="en-US" sz="6400" dirty="0"/>
          </a:p>
        </p:txBody>
      </p:sp>
      <p:sp>
        <p:nvSpPr>
          <p:cNvPr id="6" name="Text 4"/>
          <p:cNvSpPr txBox="1"/>
          <p:nvPr/>
        </p:nvSpPr>
        <p:spPr>
          <a:xfrm>
            <a:off x="566928" y="2880360"/>
            <a:ext cx="7498080" cy="548640"/>
          </a:xfrm>
          <a:prstGeom prst="rect">
            <a:avLst/>
          </a:prstGeom>
          <a:noFill/>
          <a:ln/>
        </p:spPr>
        <p:txBody>
          <a:bodyPr wrap="square" lIns="0" tIns="0" rIns="0" bIns="0" rtlCol="0" anchor="ctr"/>
          <a:lstStyle/>
          <a:p>
            <a:pPr marL="0" indent="0">
              <a:buNone/>
            </a:pPr>
            <a:r>
              <a:rPr lang="en-US" sz="1900" dirty="0">
                <a:solidFill>
                  <a:srgbClr val="CFE0FA"/>
                </a:solidFill>
                <a:latin typeface="Calibri" pitchFamily="34" charset="0"/>
                <a:ea typeface="Calibri" pitchFamily="34" charset="-122"/>
                <a:cs typeface="Calibri" pitchFamily="34" charset="-120"/>
              </a:rPr>
              <a:t>Academic Failure Risk Prediction Using Machine Learning</a:t>
            </a:r>
            <a:endParaRPr lang="en-US" sz="1900" dirty="0"/>
          </a:p>
        </p:txBody>
      </p:sp>
      <p:sp>
        <p:nvSpPr>
          <p:cNvPr id="7" name="Shape 5"/>
          <p:cNvSpPr/>
          <p:nvPr/>
        </p:nvSpPr>
        <p:spPr>
          <a:xfrm>
            <a:off x="9464040" y="1920240"/>
            <a:ext cx="1737360" cy="1737360"/>
          </a:xfrm>
          <a:prstGeom prst="ellipse">
            <a:avLst/>
          </a:prstGeom>
          <a:solidFill>
            <a:srgbClr val="6C3FC5"/>
          </a:solidFill>
          <a:ln/>
        </p:spPr>
        <p:txBody>
          <a:bodyPr/>
          <a:lstStyle/>
          <a:p>
            <a:endParaRPr lang="en-AE"/>
          </a:p>
        </p:txBody>
      </p:sp>
      <p:pic>
        <p:nvPicPr>
          <p:cNvPr id="8" name="Image 0" descr="/home/claude/edurisk/icons/usergraduate_white.png"/>
          <p:cNvPicPr>
            <a:picLocks noChangeAspect="1"/>
          </p:cNvPicPr>
          <p:nvPr/>
        </p:nvPicPr>
        <p:blipFill>
          <a:blip r:embed="rId3"/>
          <a:stretch>
            <a:fillRect/>
          </a:stretch>
        </p:blipFill>
        <p:spPr>
          <a:xfrm>
            <a:off x="9898380" y="2354580"/>
            <a:ext cx="868680" cy="868680"/>
          </a:xfrm>
          <a:prstGeom prst="rect">
            <a:avLst/>
          </a:prstGeom>
        </p:spPr>
      </p:pic>
      <p:sp>
        <p:nvSpPr>
          <p:cNvPr id="9" name="Shape 6"/>
          <p:cNvSpPr/>
          <p:nvPr/>
        </p:nvSpPr>
        <p:spPr>
          <a:xfrm>
            <a:off x="10607040" y="2971800"/>
            <a:ext cx="960120" cy="960120"/>
          </a:xfrm>
          <a:prstGeom prst="ellipse">
            <a:avLst/>
          </a:prstGeom>
          <a:solidFill>
            <a:srgbClr val="1E9E82"/>
          </a:solidFill>
          <a:ln w="38100">
            <a:solidFill>
              <a:srgbClr val="1B1F4B"/>
            </a:solidFill>
            <a:prstDash val="solid"/>
          </a:ln>
        </p:spPr>
        <p:txBody>
          <a:bodyPr/>
          <a:lstStyle/>
          <a:p>
            <a:endParaRPr lang="en-AE"/>
          </a:p>
        </p:txBody>
      </p:sp>
      <p:pic>
        <p:nvPicPr>
          <p:cNvPr id="10" name="Image 1" descr="/home/claude/edurisk/icons/brain_white.png"/>
          <p:cNvPicPr>
            <a:picLocks noChangeAspect="1"/>
          </p:cNvPicPr>
          <p:nvPr/>
        </p:nvPicPr>
        <p:blipFill>
          <a:blip r:embed="rId4"/>
          <a:stretch>
            <a:fillRect/>
          </a:stretch>
        </p:blipFill>
        <p:spPr>
          <a:xfrm>
            <a:off x="10826496" y="3191256"/>
            <a:ext cx="521208" cy="521208"/>
          </a:xfrm>
          <a:prstGeom prst="rect">
            <a:avLst/>
          </a:prstGeom>
        </p:spPr>
      </p:pic>
      <p:sp>
        <p:nvSpPr>
          <p:cNvPr id="11" name="Shape 7"/>
          <p:cNvSpPr/>
          <p:nvPr/>
        </p:nvSpPr>
        <p:spPr>
          <a:xfrm>
            <a:off x="566928" y="4160520"/>
            <a:ext cx="7406640" cy="0"/>
          </a:xfrm>
          <a:prstGeom prst="line">
            <a:avLst/>
          </a:prstGeom>
          <a:noFill/>
          <a:ln w="19050">
            <a:solidFill>
              <a:srgbClr val="262C63"/>
            </a:solidFill>
            <a:prstDash val="solid"/>
          </a:ln>
        </p:spPr>
        <p:txBody>
          <a:bodyPr/>
          <a:lstStyle/>
          <a:p>
            <a:endParaRPr lang="en-AE"/>
          </a:p>
        </p:txBody>
      </p:sp>
      <p:sp>
        <p:nvSpPr>
          <p:cNvPr id="13" name="Text 9"/>
          <p:cNvSpPr txBox="1"/>
          <p:nvPr/>
        </p:nvSpPr>
        <p:spPr>
          <a:xfrm>
            <a:off x="3017520" y="4416552"/>
            <a:ext cx="4937760" cy="32004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91640"/>
            <a:ext cx="420624" cy="420624"/>
          </a:xfrm>
          <a:prstGeom prst="ellipse">
            <a:avLst/>
          </a:prstGeom>
          <a:solidFill>
            <a:srgbClr val="EFE9FB"/>
          </a:solidFill>
          <a:ln/>
        </p:spPr>
        <p:txBody>
          <a:bodyPr/>
          <a:lstStyle/>
          <a:p>
            <a:endParaRPr lang="en-AE"/>
          </a:p>
        </p:txBody>
      </p:sp>
      <p:pic>
        <p:nvPicPr>
          <p:cNvPr id="5" name="Image 0" descr="/home/claude/edurisk/icons/alert_purple.png"/>
          <p:cNvPicPr>
            <a:picLocks noChangeAspect="1"/>
          </p:cNvPicPr>
          <p:nvPr/>
        </p:nvPicPr>
        <p:blipFill>
          <a:blip r:embed="rId3"/>
          <a:stretch>
            <a:fillRect/>
          </a:stretch>
        </p:blipFill>
        <p:spPr>
          <a:xfrm>
            <a:off x="653796" y="1796796"/>
            <a:ext cx="210312" cy="210312"/>
          </a:xfrm>
          <a:prstGeom prst="rect">
            <a:avLst/>
          </a:prstGeom>
        </p:spPr>
      </p:pic>
      <p:sp>
        <p:nvSpPr>
          <p:cNvPr id="6" name="Text 3"/>
          <p:cNvSpPr txBox="1"/>
          <p:nvPr/>
        </p:nvSpPr>
        <p:spPr>
          <a:xfrm>
            <a:off x="1143000" y="1664208"/>
            <a:ext cx="5852160" cy="566928"/>
          </a:xfrm>
          <a:prstGeom prst="rect">
            <a:avLst/>
          </a:prstGeom>
          <a:noFill/>
          <a:ln/>
        </p:spPr>
        <p:txBody>
          <a:bodyPr wrap="square" lIns="0" tIns="0" rIns="0" bIns="0" rtlCol="0" anchor="ctr"/>
          <a:lstStyle/>
          <a:p>
            <a:pPr marL="0" indent="0">
              <a:buNone/>
            </a:pPr>
            <a:r>
              <a:rPr lang="en-US" sz="1450" dirty="0">
                <a:solidFill>
                  <a:srgbClr val="23264A"/>
                </a:solidFill>
                <a:latin typeface="Calibri" pitchFamily="34" charset="0"/>
                <a:ea typeface="Calibri" pitchFamily="34" charset="-122"/>
                <a:cs typeface="Calibri" pitchFamily="34" charset="-120"/>
              </a:rPr>
              <a:t>Academic failure is a significant challenge in education today.</a:t>
            </a:r>
            <a:endParaRPr lang="en-US" sz="1450" dirty="0"/>
          </a:p>
        </p:txBody>
      </p:sp>
      <p:sp>
        <p:nvSpPr>
          <p:cNvPr id="7" name="Shape 4"/>
          <p:cNvSpPr/>
          <p:nvPr/>
        </p:nvSpPr>
        <p:spPr>
          <a:xfrm>
            <a:off x="548640" y="2532888"/>
            <a:ext cx="420624" cy="420624"/>
          </a:xfrm>
          <a:prstGeom prst="ellipse">
            <a:avLst/>
          </a:prstGeom>
          <a:solidFill>
            <a:srgbClr val="EFE9FB"/>
          </a:solidFill>
          <a:ln/>
        </p:spPr>
        <p:txBody>
          <a:bodyPr/>
          <a:lstStyle/>
          <a:p>
            <a:endParaRPr lang="en-AE"/>
          </a:p>
        </p:txBody>
      </p:sp>
      <p:pic>
        <p:nvPicPr>
          <p:cNvPr id="8" name="Image 1" descr="/home/claude/edurisk/icons/alert_purple.png"/>
          <p:cNvPicPr>
            <a:picLocks noChangeAspect="1"/>
          </p:cNvPicPr>
          <p:nvPr/>
        </p:nvPicPr>
        <p:blipFill>
          <a:blip r:embed="rId3"/>
          <a:stretch>
            <a:fillRect/>
          </a:stretch>
        </p:blipFill>
        <p:spPr>
          <a:xfrm>
            <a:off x="653796" y="2638044"/>
            <a:ext cx="210312" cy="210312"/>
          </a:xfrm>
          <a:prstGeom prst="rect">
            <a:avLst/>
          </a:prstGeom>
        </p:spPr>
      </p:pic>
      <p:sp>
        <p:nvSpPr>
          <p:cNvPr id="9" name="Text 5"/>
          <p:cNvSpPr txBox="1"/>
          <p:nvPr/>
        </p:nvSpPr>
        <p:spPr>
          <a:xfrm>
            <a:off x="1143000" y="2505456"/>
            <a:ext cx="5852160" cy="566928"/>
          </a:xfrm>
          <a:prstGeom prst="rect">
            <a:avLst/>
          </a:prstGeom>
          <a:noFill/>
          <a:ln/>
        </p:spPr>
        <p:txBody>
          <a:bodyPr wrap="square" lIns="0" tIns="0" rIns="0" bIns="0" rtlCol="0" anchor="ctr"/>
          <a:lstStyle/>
          <a:p>
            <a:pPr marL="0" indent="0">
              <a:buNone/>
            </a:pPr>
            <a:r>
              <a:rPr lang="en-US" sz="1450" dirty="0">
                <a:solidFill>
                  <a:srgbClr val="23264A"/>
                </a:solidFill>
                <a:latin typeface="Calibri" pitchFamily="34" charset="0"/>
                <a:ea typeface="Calibri" pitchFamily="34" charset="-122"/>
                <a:cs typeface="Calibri" pitchFamily="34" charset="-120"/>
              </a:rPr>
              <a:t>Identifying at-risk students early allows for timely support and intervention.</a:t>
            </a:r>
            <a:endParaRPr lang="en-US" sz="1450" dirty="0"/>
          </a:p>
        </p:txBody>
      </p:sp>
      <p:sp>
        <p:nvSpPr>
          <p:cNvPr id="10" name="Shape 6"/>
          <p:cNvSpPr/>
          <p:nvPr/>
        </p:nvSpPr>
        <p:spPr>
          <a:xfrm>
            <a:off x="548640" y="3374136"/>
            <a:ext cx="420624" cy="420624"/>
          </a:xfrm>
          <a:prstGeom prst="ellipse">
            <a:avLst/>
          </a:prstGeom>
          <a:solidFill>
            <a:srgbClr val="EFE9FB"/>
          </a:solidFill>
          <a:ln/>
        </p:spPr>
        <p:txBody>
          <a:bodyPr/>
          <a:lstStyle/>
          <a:p>
            <a:endParaRPr lang="en-AE"/>
          </a:p>
        </p:txBody>
      </p:sp>
      <p:pic>
        <p:nvPicPr>
          <p:cNvPr id="11" name="Image 2" descr="/home/claude/edurisk/icons/alert_purple.png"/>
          <p:cNvPicPr>
            <a:picLocks noChangeAspect="1"/>
          </p:cNvPicPr>
          <p:nvPr/>
        </p:nvPicPr>
        <p:blipFill>
          <a:blip r:embed="rId3"/>
          <a:stretch>
            <a:fillRect/>
          </a:stretch>
        </p:blipFill>
        <p:spPr>
          <a:xfrm>
            <a:off x="653796" y="3479292"/>
            <a:ext cx="210312" cy="210312"/>
          </a:xfrm>
          <a:prstGeom prst="rect">
            <a:avLst/>
          </a:prstGeom>
        </p:spPr>
      </p:pic>
      <p:sp>
        <p:nvSpPr>
          <p:cNvPr id="12" name="Text 7"/>
          <p:cNvSpPr txBox="1"/>
          <p:nvPr/>
        </p:nvSpPr>
        <p:spPr>
          <a:xfrm>
            <a:off x="1143000" y="3346704"/>
            <a:ext cx="5852160" cy="566928"/>
          </a:xfrm>
          <a:prstGeom prst="rect">
            <a:avLst/>
          </a:prstGeom>
          <a:noFill/>
          <a:ln/>
        </p:spPr>
        <p:txBody>
          <a:bodyPr wrap="square" lIns="0" tIns="0" rIns="0" bIns="0" rtlCol="0" anchor="ctr"/>
          <a:lstStyle/>
          <a:p>
            <a:pPr marL="0" indent="0">
              <a:buNone/>
            </a:pPr>
            <a:r>
              <a:rPr lang="en-US" sz="1450" dirty="0">
                <a:solidFill>
                  <a:srgbClr val="23264A"/>
                </a:solidFill>
                <a:latin typeface="Calibri" pitchFamily="34" charset="0"/>
                <a:ea typeface="Calibri" pitchFamily="34" charset="-122"/>
                <a:cs typeface="Calibri" pitchFamily="34" charset="-120"/>
              </a:rPr>
              <a:t>Manually analyzing many student-related factors at once is difficult and inconsistent.</a:t>
            </a:r>
            <a:endParaRPr lang="en-US" sz="1450" dirty="0"/>
          </a:p>
        </p:txBody>
      </p:sp>
      <p:sp>
        <p:nvSpPr>
          <p:cNvPr id="13" name="Shape 8"/>
          <p:cNvSpPr/>
          <p:nvPr/>
        </p:nvSpPr>
        <p:spPr>
          <a:xfrm>
            <a:off x="548640" y="4215384"/>
            <a:ext cx="420624" cy="420624"/>
          </a:xfrm>
          <a:prstGeom prst="ellipse">
            <a:avLst/>
          </a:prstGeom>
          <a:solidFill>
            <a:srgbClr val="EFE9FB"/>
          </a:solidFill>
          <a:ln/>
        </p:spPr>
        <p:txBody>
          <a:bodyPr/>
          <a:lstStyle/>
          <a:p>
            <a:endParaRPr lang="en-AE"/>
          </a:p>
        </p:txBody>
      </p:sp>
      <p:pic>
        <p:nvPicPr>
          <p:cNvPr id="14" name="Image 3" descr="/home/claude/edurisk/icons/alert_purple.png"/>
          <p:cNvPicPr>
            <a:picLocks noChangeAspect="1"/>
          </p:cNvPicPr>
          <p:nvPr/>
        </p:nvPicPr>
        <p:blipFill>
          <a:blip r:embed="rId3"/>
          <a:stretch>
            <a:fillRect/>
          </a:stretch>
        </p:blipFill>
        <p:spPr>
          <a:xfrm>
            <a:off x="653796" y="4320540"/>
            <a:ext cx="210312" cy="210312"/>
          </a:xfrm>
          <a:prstGeom prst="rect">
            <a:avLst/>
          </a:prstGeom>
        </p:spPr>
      </p:pic>
      <p:sp>
        <p:nvSpPr>
          <p:cNvPr id="15" name="Text 9"/>
          <p:cNvSpPr txBox="1"/>
          <p:nvPr/>
        </p:nvSpPr>
        <p:spPr>
          <a:xfrm>
            <a:off x="1143000" y="4187952"/>
            <a:ext cx="5852160" cy="566928"/>
          </a:xfrm>
          <a:prstGeom prst="rect">
            <a:avLst/>
          </a:prstGeom>
          <a:noFill/>
          <a:ln/>
        </p:spPr>
        <p:txBody>
          <a:bodyPr wrap="square" lIns="0" tIns="0" rIns="0" bIns="0" rtlCol="0" anchor="ctr"/>
          <a:lstStyle/>
          <a:p>
            <a:pPr marL="0" indent="0">
              <a:buNone/>
            </a:pPr>
            <a:r>
              <a:rPr lang="en-US" sz="1450" dirty="0">
                <a:solidFill>
                  <a:srgbClr val="23264A"/>
                </a:solidFill>
                <a:latin typeface="Calibri" pitchFamily="34" charset="0"/>
                <a:ea typeface="Calibri" pitchFamily="34" charset="-122"/>
                <a:cs typeface="Calibri" pitchFamily="34" charset="-120"/>
              </a:rPr>
              <a:t>Machine Learning can automate risk prediction, flagging students earlier and more reliably.</a:t>
            </a:r>
            <a:endParaRPr lang="en-US" sz="1450" dirty="0"/>
          </a:p>
        </p:txBody>
      </p:sp>
      <p:sp>
        <p:nvSpPr>
          <p:cNvPr id="16" name="Shape 10"/>
          <p:cNvSpPr/>
          <p:nvPr/>
        </p:nvSpPr>
        <p:spPr>
          <a:xfrm>
            <a:off x="7635240" y="1691640"/>
            <a:ext cx="4023360" cy="3657600"/>
          </a:xfrm>
          <a:prstGeom prst="roundRect">
            <a:avLst>
              <a:gd name="adj" fmla="val 2000"/>
            </a:avLst>
          </a:prstGeom>
          <a:solidFill>
            <a:srgbClr val="1B1F4B"/>
          </a:solidFill>
          <a:ln w="12700">
            <a:solidFill>
              <a:srgbClr val="1B1F4B"/>
            </a:solidFill>
            <a:prstDash val="solid"/>
          </a:ln>
          <a:effectLst>
            <a:outerShdw blurRad="101600" dist="25400" dir="5400000" algn="bl" rotWithShape="0">
              <a:srgbClr val="1B1F4B">
                <a:alpha val="12000"/>
              </a:srgbClr>
            </a:outerShdw>
          </a:effectLst>
        </p:spPr>
        <p:txBody>
          <a:bodyPr/>
          <a:lstStyle/>
          <a:p>
            <a:endParaRPr lang="en-AE"/>
          </a:p>
        </p:txBody>
      </p:sp>
      <p:pic>
        <p:nvPicPr>
          <p:cNvPr id="17" name="Image 4" descr="/home/claude/edurisk/icons/bullseye_white.png"/>
          <p:cNvPicPr>
            <a:picLocks noChangeAspect="1"/>
          </p:cNvPicPr>
          <p:nvPr/>
        </p:nvPicPr>
        <p:blipFill>
          <a:blip r:embed="rId4"/>
          <a:stretch>
            <a:fillRect/>
          </a:stretch>
        </p:blipFill>
        <p:spPr>
          <a:xfrm>
            <a:off x="8001000" y="2011680"/>
            <a:ext cx="502920" cy="502920"/>
          </a:xfrm>
          <a:prstGeom prst="rect">
            <a:avLst/>
          </a:prstGeom>
        </p:spPr>
      </p:pic>
      <p:sp>
        <p:nvSpPr>
          <p:cNvPr id="18" name="Text 11"/>
          <p:cNvSpPr txBox="1"/>
          <p:nvPr/>
        </p:nvSpPr>
        <p:spPr>
          <a:xfrm>
            <a:off x="7955280" y="2743200"/>
            <a:ext cx="3383280" cy="2286000"/>
          </a:xfrm>
          <a:prstGeom prst="rect">
            <a:avLst/>
          </a:prstGeom>
          <a:noFill/>
          <a:ln/>
        </p:spPr>
        <p:txBody>
          <a:bodyPr wrap="square" lIns="0" tIns="0" rIns="0" bIns="0" rtlCol="0" anchor="t"/>
          <a:lstStyle/>
          <a:p>
            <a:pPr marL="0" indent="0">
              <a:buNone/>
            </a:pPr>
            <a:r>
              <a:rPr lang="en-US" sz="1900" i="1" dirty="0">
                <a:solidFill>
                  <a:srgbClr val="FFFFFF"/>
                </a:solidFill>
                <a:latin typeface="Cambria" pitchFamily="34" charset="0"/>
                <a:ea typeface="Cambria" pitchFamily="34" charset="-122"/>
                <a:cs typeface="Cambria" pitchFamily="34" charset="-120"/>
              </a:rPr>
              <a:t>Can Machine Learning help identify students at risk of academic failure?</a:t>
            </a:r>
            <a:endParaRPr lang="en-US" sz="1900" dirty="0"/>
          </a:p>
        </p:txBody>
      </p:sp>
      <p:sp>
        <p:nvSpPr>
          <p:cNvPr id="19" name="Text 12"/>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02</a:t>
            </a:r>
            <a:endParaRPr lang="en-US" sz="1000" dirty="0"/>
          </a:p>
        </p:txBody>
      </p:sp>
      <p:sp>
        <p:nvSpPr>
          <p:cNvPr id="20" name="Text 13"/>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PROJECT OBJECTIVE</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From Data to a Deployable Model</a:t>
            </a:r>
            <a:endParaRPr lang="en-US" sz="3000" dirty="0"/>
          </a:p>
        </p:txBody>
      </p:sp>
      <p:sp>
        <p:nvSpPr>
          <p:cNvPr id="4" name="Shape 2"/>
          <p:cNvSpPr/>
          <p:nvPr/>
        </p:nvSpPr>
        <p:spPr>
          <a:xfrm>
            <a:off x="548640" y="2377440"/>
            <a:ext cx="1956816" cy="2651760"/>
          </a:xfrm>
          <a:prstGeom prst="roundRect">
            <a:avLst>
              <a:gd name="adj" fmla="val 3738"/>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1207008" y="2697480"/>
            <a:ext cx="640080" cy="640080"/>
          </a:xfrm>
          <a:prstGeom prst="ellipse">
            <a:avLst/>
          </a:prstGeom>
          <a:solidFill>
            <a:srgbClr val="6C3FC5"/>
          </a:solidFill>
          <a:ln/>
        </p:spPr>
        <p:txBody>
          <a:bodyPr/>
          <a:lstStyle/>
          <a:p>
            <a:endParaRPr lang="en-AE"/>
          </a:p>
        </p:txBody>
      </p:sp>
      <p:pic>
        <p:nvPicPr>
          <p:cNvPr id="6" name="Image 0" descr="/home/claude/edurisk/icons/bullseye_white.png"/>
          <p:cNvPicPr>
            <a:picLocks noChangeAspect="1"/>
          </p:cNvPicPr>
          <p:nvPr/>
        </p:nvPicPr>
        <p:blipFill>
          <a:blip r:embed="rId3"/>
          <a:stretch>
            <a:fillRect/>
          </a:stretch>
        </p:blipFill>
        <p:spPr>
          <a:xfrm>
            <a:off x="1367028" y="2857500"/>
            <a:ext cx="320040" cy="320040"/>
          </a:xfrm>
          <a:prstGeom prst="rect">
            <a:avLst/>
          </a:prstGeom>
        </p:spPr>
      </p:pic>
      <p:sp>
        <p:nvSpPr>
          <p:cNvPr id="7" name="Text 4"/>
          <p:cNvSpPr txBox="1"/>
          <p:nvPr/>
        </p:nvSpPr>
        <p:spPr>
          <a:xfrm>
            <a:off x="658368" y="2487168"/>
            <a:ext cx="365760" cy="274320"/>
          </a:xfrm>
          <a:prstGeom prst="rect">
            <a:avLst/>
          </a:prstGeom>
          <a:noFill/>
          <a:ln/>
        </p:spPr>
        <p:txBody>
          <a:bodyPr wrap="square" lIns="0" tIns="0" rIns="0" bIns="0" rtlCol="0" anchor="ctr"/>
          <a:lstStyle/>
          <a:p>
            <a:pPr marL="0" indent="0">
              <a:buNone/>
            </a:pPr>
            <a:r>
              <a:rPr lang="en-US" sz="1100" b="1" dirty="0">
                <a:solidFill>
                  <a:srgbClr val="6B7089"/>
                </a:solidFill>
                <a:latin typeface="Calibri" pitchFamily="34" charset="0"/>
                <a:ea typeface="Calibri" pitchFamily="34" charset="-122"/>
                <a:cs typeface="Calibri" pitchFamily="34" charset="-120"/>
              </a:rPr>
              <a:t>1</a:t>
            </a:r>
            <a:endParaRPr lang="en-US" sz="1100" dirty="0"/>
          </a:p>
        </p:txBody>
      </p:sp>
      <p:sp>
        <p:nvSpPr>
          <p:cNvPr id="8" name="Text 5"/>
          <p:cNvSpPr txBox="1"/>
          <p:nvPr/>
        </p:nvSpPr>
        <p:spPr>
          <a:xfrm>
            <a:off x="685800" y="3520440"/>
            <a:ext cx="1682496" cy="365760"/>
          </a:xfrm>
          <a:prstGeom prst="rect">
            <a:avLst/>
          </a:prstGeom>
          <a:noFill/>
          <a:ln/>
        </p:spPr>
        <p:txBody>
          <a:bodyPr wrap="square" lIns="0" tIns="0" rIns="0" bIns="0" rtlCol="0" anchor="ctr"/>
          <a:lstStyle/>
          <a:p>
            <a:pPr marL="0" indent="0" algn="ctr">
              <a:buNone/>
            </a:pPr>
            <a:r>
              <a:rPr lang="en-US" sz="1600" b="1" dirty="0">
                <a:solidFill>
                  <a:srgbClr val="1B1F4B"/>
                </a:solidFill>
                <a:latin typeface="Cambria" pitchFamily="34" charset="0"/>
                <a:ea typeface="Cambria" pitchFamily="34" charset="-122"/>
                <a:cs typeface="Cambria" pitchFamily="34" charset="-120"/>
              </a:rPr>
              <a:t>Predict</a:t>
            </a:r>
            <a:endParaRPr lang="en-US" sz="1600" dirty="0"/>
          </a:p>
        </p:txBody>
      </p:sp>
      <p:sp>
        <p:nvSpPr>
          <p:cNvPr id="9" name="Text 6"/>
          <p:cNvSpPr txBox="1"/>
          <p:nvPr/>
        </p:nvSpPr>
        <p:spPr>
          <a:xfrm>
            <a:off x="685800" y="3913632"/>
            <a:ext cx="1682496" cy="1005840"/>
          </a:xfrm>
          <a:prstGeom prst="rect">
            <a:avLst/>
          </a:prstGeom>
          <a:noFill/>
          <a:ln/>
        </p:spPr>
        <p:txBody>
          <a:bodyPr wrap="square" lIns="0" tIns="0" rIns="0" bIns="0" rtlCol="0" anchor="ctr"/>
          <a:lstStyle/>
          <a:p>
            <a:pPr marL="0" indent="0" algn="ctr">
              <a:buNone/>
            </a:pPr>
            <a:r>
              <a:rPr lang="en-US" sz="1150" dirty="0">
                <a:solidFill>
                  <a:srgbClr val="6B7089"/>
                </a:solidFill>
                <a:latin typeface="Calibri" pitchFamily="34" charset="0"/>
                <a:ea typeface="Calibri" pitchFamily="34" charset="-122"/>
                <a:cs typeface="Calibri" pitchFamily="34" charset="-120"/>
              </a:rPr>
              <a:t>Academic Failure Risk</a:t>
            </a:r>
            <a:endParaRPr lang="en-US" sz="1150" dirty="0"/>
          </a:p>
        </p:txBody>
      </p:sp>
      <p:sp>
        <p:nvSpPr>
          <p:cNvPr id="10" name="Shape 7"/>
          <p:cNvSpPr/>
          <p:nvPr/>
        </p:nvSpPr>
        <p:spPr>
          <a:xfrm>
            <a:off x="2532888" y="3648456"/>
            <a:ext cx="265176" cy="109728"/>
          </a:xfrm>
          <a:prstGeom prst="rightArrow">
            <a:avLst/>
          </a:prstGeom>
          <a:solidFill>
            <a:srgbClr val="E4E3EE"/>
          </a:solidFill>
          <a:ln/>
        </p:spPr>
        <p:txBody>
          <a:bodyPr/>
          <a:lstStyle/>
          <a:p>
            <a:endParaRPr lang="en-AE"/>
          </a:p>
        </p:txBody>
      </p:sp>
      <p:sp>
        <p:nvSpPr>
          <p:cNvPr id="11" name="Shape 8"/>
          <p:cNvSpPr/>
          <p:nvPr/>
        </p:nvSpPr>
        <p:spPr>
          <a:xfrm>
            <a:off x="2825496" y="2377440"/>
            <a:ext cx="1956816" cy="2651760"/>
          </a:xfrm>
          <a:prstGeom prst="roundRect">
            <a:avLst>
              <a:gd name="adj" fmla="val 3738"/>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2" name="Shape 9"/>
          <p:cNvSpPr/>
          <p:nvPr/>
        </p:nvSpPr>
        <p:spPr>
          <a:xfrm>
            <a:off x="3483864" y="2697480"/>
            <a:ext cx="640080" cy="640080"/>
          </a:xfrm>
          <a:prstGeom prst="ellipse">
            <a:avLst/>
          </a:prstGeom>
          <a:solidFill>
            <a:srgbClr val="6C3FC5"/>
          </a:solidFill>
          <a:ln/>
        </p:spPr>
        <p:txBody>
          <a:bodyPr/>
          <a:lstStyle/>
          <a:p>
            <a:endParaRPr lang="en-AE"/>
          </a:p>
        </p:txBody>
      </p:sp>
      <p:pic>
        <p:nvPicPr>
          <p:cNvPr id="13" name="Image 1" descr="/home/claude/edurisk/icons/chartline_white.png"/>
          <p:cNvPicPr>
            <a:picLocks noChangeAspect="1"/>
          </p:cNvPicPr>
          <p:nvPr/>
        </p:nvPicPr>
        <p:blipFill>
          <a:blip r:embed="rId4"/>
          <a:stretch>
            <a:fillRect/>
          </a:stretch>
        </p:blipFill>
        <p:spPr>
          <a:xfrm>
            <a:off x="3643884" y="2857500"/>
            <a:ext cx="320040" cy="320040"/>
          </a:xfrm>
          <a:prstGeom prst="rect">
            <a:avLst/>
          </a:prstGeom>
        </p:spPr>
      </p:pic>
      <p:sp>
        <p:nvSpPr>
          <p:cNvPr id="14" name="Text 10"/>
          <p:cNvSpPr txBox="1"/>
          <p:nvPr/>
        </p:nvSpPr>
        <p:spPr>
          <a:xfrm>
            <a:off x="2935224" y="2487168"/>
            <a:ext cx="365760" cy="274320"/>
          </a:xfrm>
          <a:prstGeom prst="rect">
            <a:avLst/>
          </a:prstGeom>
          <a:noFill/>
          <a:ln/>
        </p:spPr>
        <p:txBody>
          <a:bodyPr wrap="square" lIns="0" tIns="0" rIns="0" bIns="0" rtlCol="0" anchor="ctr"/>
          <a:lstStyle/>
          <a:p>
            <a:pPr marL="0" indent="0">
              <a:buNone/>
            </a:pPr>
            <a:r>
              <a:rPr lang="en-US" sz="1100" b="1" dirty="0">
                <a:solidFill>
                  <a:srgbClr val="6B7089"/>
                </a:solidFill>
                <a:latin typeface="Calibri" pitchFamily="34" charset="0"/>
                <a:ea typeface="Calibri" pitchFamily="34" charset="-122"/>
                <a:cs typeface="Calibri" pitchFamily="34" charset="-120"/>
              </a:rPr>
              <a:t>2</a:t>
            </a:r>
            <a:endParaRPr lang="en-US" sz="1100" dirty="0"/>
          </a:p>
        </p:txBody>
      </p:sp>
      <p:sp>
        <p:nvSpPr>
          <p:cNvPr id="15" name="Text 11"/>
          <p:cNvSpPr txBox="1"/>
          <p:nvPr/>
        </p:nvSpPr>
        <p:spPr>
          <a:xfrm>
            <a:off x="2962656" y="3520440"/>
            <a:ext cx="1682496" cy="365760"/>
          </a:xfrm>
          <a:prstGeom prst="rect">
            <a:avLst/>
          </a:prstGeom>
          <a:noFill/>
          <a:ln/>
        </p:spPr>
        <p:txBody>
          <a:bodyPr wrap="square" lIns="0" tIns="0" rIns="0" bIns="0" rtlCol="0" anchor="ctr"/>
          <a:lstStyle/>
          <a:p>
            <a:pPr marL="0" indent="0" algn="ctr">
              <a:buNone/>
            </a:pPr>
            <a:r>
              <a:rPr lang="en-US" sz="1600" b="1" dirty="0">
                <a:solidFill>
                  <a:srgbClr val="1B1F4B"/>
                </a:solidFill>
                <a:latin typeface="Cambria" pitchFamily="34" charset="0"/>
                <a:ea typeface="Cambria" pitchFamily="34" charset="-122"/>
                <a:cs typeface="Cambria" pitchFamily="34" charset="-120"/>
              </a:rPr>
              <a:t>Compare</a:t>
            </a:r>
            <a:endParaRPr lang="en-US" sz="1600" dirty="0"/>
          </a:p>
        </p:txBody>
      </p:sp>
      <p:sp>
        <p:nvSpPr>
          <p:cNvPr id="16" name="Text 12"/>
          <p:cNvSpPr txBox="1"/>
          <p:nvPr/>
        </p:nvSpPr>
        <p:spPr>
          <a:xfrm>
            <a:off x="2962656" y="3913632"/>
            <a:ext cx="1682496" cy="1005840"/>
          </a:xfrm>
          <a:prstGeom prst="rect">
            <a:avLst/>
          </a:prstGeom>
          <a:noFill/>
          <a:ln/>
        </p:spPr>
        <p:txBody>
          <a:bodyPr wrap="square" lIns="0" tIns="0" rIns="0" bIns="0" rtlCol="0" anchor="ctr"/>
          <a:lstStyle/>
          <a:p>
            <a:pPr marL="0" indent="0" algn="ctr">
              <a:buNone/>
            </a:pPr>
            <a:r>
              <a:rPr lang="en-US" sz="1150" dirty="0">
                <a:solidFill>
                  <a:srgbClr val="6B7089"/>
                </a:solidFill>
                <a:latin typeface="Calibri" pitchFamily="34" charset="0"/>
                <a:ea typeface="Calibri" pitchFamily="34" charset="-122"/>
                <a:cs typeface="Calibri" pitchFamily="34" charset="-120"/>
              </a:rPr>
              <a:t>multiple classification algorithms</a:t>
            </a:r>
            <a:endParaRPr lang="en-US" sz="1150" dirty="0"/>
          </a:p>
        </p:txBody>
      </p:sp>
      <p:sp>
        <p:nvSpPr>
          <p:cNvPr id="17" name="Shape 13"/>
          <p:cNvSpPr/>
          <p:nvPr/>
        </p:nvSpPr>
        <p:spPr>
          <a:xfrm>
            <a:off x="4809744" y="3648456"/>
            <a:ext cx="265176" cy="109728"/>
          </a:xfrm>
          <a:prstGeom prst="rightArrow">
            <a:avLst/>
          </a:prstGeom>
          <a:solidFill>
            <a:srgbClr val="E4E3EE"/>
          </a:solidFill>
          <a:ln/>
        </p:spPr>
        <p:txBody>
          <a:bodyPr/>
          <a:lstStyle/>
          <a:p>
            <a:endParaRPr lang="en-AE"/>
          </a:p>
        </p:txBody>
      </p:sp>
      <p:sp>
        <p:nvSpPr>
          <p:cNvPr id="18" name="Shape 14"/>
          <p:cNvSpPr/>
          <p:nvPr/>
        </p:nvSpPr>
        <p:spPr>
          <a:xfrm>
            <a:off x="5102352" y="2377440"/>
            <a:ext cx="1956816" cy="2651760"/>
          </a:xfrm>
          <a:prstGeom prst="roundRect">
            <a:avLst>
              <a:gd name="adj" fmla="val 3738"/>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9" name="Shape 15"/>
          <p:cNvSpPr/>
          <p:nvPr/>
        </p:nvSpPr>
        <p:spPr>
          <a:xfrm>
            <a:off x="5760720" y="2697480"/>
            <a:ext cx="640080" cy="640080"/>
          </a:xfrm>
          <a:prstGeom prst="ellipse">
            <a:avLst/>
          </a:prstGeom>
          <a:solidFill>
            <a:srgbClr val="6C3FC5"/>
          </a:solidFill>
          <a:ln/>
        </p:spPr>
        <p:txBody>
          <a:bodyPr/>
          <a:lstStyle/>
          <a:p>
            <a:endParaRPr lang="en-AE"/>
          </a:p>
        </p:txBody>
      </p:sp>
      <p:pic>
        <p:nvPicPr>
          <p:cNvPr id="20" name="Image 2" descr="/home/claude/edurisk/icons/checkcircle_white.png"/>
          <p:cNvPicPr>
            <a:picLocks noChangeAspect="1"/>
          </p:cNvPicPr>
          <p:nvPr/>
        </p:nvPicPr>
        <p:blipFill>
          <a:blip r:embed="rId5"/>
          <a:stretch>
            <a:fillRect/>
          </a:stretch>
        </p:blipFill>
        <p:spPr>
          <a:xfrm>
            <a:off x="5920740" y="2857500"/>
            <a:ext cx="320040" cy="320040"/>
          </a:xfrm>
          <a:prstGeom prst="rect">
            <a:avLst/>
          </a:prstGeom>
        </p:spPr>
      </p:pic>
      <p:sp>
        <p:nvSpPr>
          <p:cNvPr id="21" name="Text 16"/>
          <p:cNvSpPr txBox="1"/>
          <p:nvPr/>
        </p:nvSpPr>
        <p:spPr>
          <a:xfrm>
            <a:off x="5212080" y="2487168"/>
            <a:ext cx="365760" cy="274320"/>
          </a:xfrm>
          <a:prstGeom prst="rect">
            <a:avLst/>
          </a:prstGeom>
          <a:noFill/>
          <a:ln/>
        </p:spPr>
        <p:txBody>
          <a:bodyPr wrap="square" lIns="0" tIns="0" rIns="0" bIns="0" rtlCol="0" anchor="ctr"/>
          <a:lstStyle/>
          <a:p>
            <a:pPr marL="0" indent="0">
              <a:buNone/>
            </a:pPr>
            <a:r>
              <a:rPr lang="en-US" sz="1100" b="1" dirty="0">
                <a:solidFill>
                  <a:srgbClr val="6B7089"/>
                </a:solidFill>
                <a:latin typeface="Calibri" pitchFamily="34" charset="0"/>
                <a:ea typeface="Calibri" pitchFamily="34" charset="-122"/>
                <a:cs typeface="Calibri" pitchFamily="34" charset="-120"/>
              </a:rPr>
              <a:t>3</a:t>
            </a:r>
            <a:endParaRPr lang="en-US" sz="1100" dirty="0"/>
          </a:p>
        </p:txBody>
      </p:sp>
      <p:sp>
        <p:nvSpPr>
          <p:cNvPr id="22" name="Text 17"/>
          <p:cNvSpPr txBox="1"/>
          <p:nvPr/>
        </p:nvSpPr>
        <p:spPr>
          <a:xfrm>
            <a:off x="5239512" y="3520440"/>
            <a:ext cx="1682496" cy="365760"/>
          </a:xfrm>
          <a:prstGeom prst="rect">
            <a:avLst/>
          </a:prstGeom>
          <a:noFill/>
          <a:ln/>
        </p:spPr>
        <p:txBody>
          <a:bodyPr wrap="square" lIns="0" tIns="0" rIns="0" bIns="0" rtlCol="0" anchor="ctr"/>
          <a:lstStyle/>
          <a:p>
            <a:pPr marL="0" indent="0" algn="ctr">
              <a:buNone/>
            </a:pPr>
            <a:r>
              <a:rPr lang="en-US" sz="1600" b="1" dirty="0">
                <a:solidFill>
                  <a:srgbClr val="1B1F4B"/>
                </a:solidFill>
                <a:latin typeface="Cambria" pitchFamily="34" charset="0"/>
                <a:ea typeface="Cambria" pitchFamily="34" charset="-122"/>
                <a:cs typeface="Cambria" pitchFamily="34" charset="-120"/>
              </a:rPr>
              <a:t>Evaluate</a:t>
            </a:r>
            <a:endParaRPr lang="en-US" sz="1600" dirty="0"/>
          </a:p>
        </p:txBody>
      </p:sp>
      <p:sp>
        <p:nvSpPr>
          <p:cNvPr id="23" name="Text 18"/>
          <p:cNvSpPr txBox="1"/>
          <p:nvPr/>
        </p:nvSpPr>
        <p:spPr>
          <a:xfrm>
            <a:off x="5239512" y="3913632"/>
            <a:ext cx="1682496" cy="1005840"/>
          </a:xfrm>
          <a:prstGeom prst="rect">
            <a:avLst/>
          </a:prstGeom>
          <a:noFill/>
          <a:ln/>
        </p:spPr>
        <p:txBody>
          <a:bodyPr wrap="square" lIns="0" tIns="0" rIns="0" bIns="0" rtlCol="0" anchor="ctr"/>
          <a:lstStyle/>
          <a:p>
            <a:pPr marL="0" indent="0" algn="ctr">
              <a:buNone/>
            </a:pPr>
            <a:r>
              <a:rPr lang="en-US" sz="1150" dirty="0">
                <a:solidFill>
                  <a:srgbClr val="6B7089"/>
                </a:solidFill>
                <a:latin typeface="Calibri" pitchFamily="34" charset="0"/>
                <a:ea typeface="Calibri" pitchFamily="34" charset="-122"/>
                <a:cs typeface="Calibri" pitchFamily="34" charset="-120"/>
              </a:rPr>
              <a:t>models with classification metrics</a:t>
            </a:r>
            <a:endParaRPr lang="en-US" sz="1150" dirty="0"/>
          </a:p>
        </p:txBody>
      </p:sp>
      <p:sp>
        <p:nvSpPr>
          <p:cNvPr id="24" name="Shape 19"/>
          <p:cNvSpPr/>
          <p:nvPr/>
        </p:nvSpPr>
        <p:spPr>
          <a:xfrm>
            <a:off x="7086600" y="3648456"/>
            <a:ext cx="265176" cy="109728"/>
          </a:xfrm>
          <a:prstGeom prst="rightArrow">
            <a:avLst/>
          </a:prstGeom>
          <a:solidFill>
            <a:srgbClr val="E4E3EE"/>
          </a:solidFill>
          <a:ln/>
        </p:spPr>
        <p:txBody>
          <a:bodyPr/>
          <a:lstStyle/>
          <a:p>
            <a:endParaRPr lang="en-AE"/>
          </a:p>
        </p:txBody>
      </p:sp>
      <p:sp>
        <p:nvSpPr>
          <p:cNvPr id="25" name="Shape 20"/>
          <p:cNvSpPr/>
          <p:nvPr/>
        </p:nvSpPr>
        <p:spPr>
          <a:xfrm>
            <a:off x="7379208" y="2377440"/>
            <a:ext cx="1956816" cy="2651760"/>
          </a:xfrm>
          <a:prstGeom prst="roundRect">
            <a:avLst>
              <a:gd name="adj" fmla="val 3738"/>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6" name="Shape 21"/>
          <p:cNvSpPr/>
          <p:nvPr/>
        </p:nvSpPr>
        <p:spPr>
          <a:xfrm>
            <a:off x="8037576" y="2697480"/>
            <a:ext cx="640080" cy="640080"/>
          </a:xfrm>
          <a:prstGeom prst="ellipse">
            <a:avLst/>
          </a:prstGeom>
          <a:solidFill>
            <a:srgbClr val="6C3FC5"/>
          </a:solidFill>
          <a:ln/>
        </p:spPr>
        <p:txBody>
          <a:bodyPr/>
          <a:lstStyle/>
          <a:p>
            <a:endParaRPr lang="en-AE"/>
          </a:p>
        </p:txBody>
      </p:sp>
      <p:pic>
        <p:nvPicPr>
          <p:cNvPr id="27" name="Image 3" descr="/home/claude/edurisk/icons/trophy_white.png"/>
          <p:cNvPicPr>
            <a:picLocks noChangeAspect="1"/>
          </p:cNvPicPr>
          <p:nvPr/>
        </p:nvPicPr>
        <p:blipFill>
          <a:blip r:embed="rId6"/>
          <a:stretch>
            <a:fillRect/>
          </a:stretch>
        </p:blipFill>
        <p:spPr>
          <a:xfrm>
            <a:off x="8197596" y="2857500"/>
            <a:ext cx="320040" cy="320040"/>
          </a:xfrm>
          <a:prstGeom prst="rect">
            <a:avLst/>
          </a:prstGeom>
        </p:spPr>
      </p:pic>
      <p:sp>
        <p:nvSpPr>
          <p:cNvPr id="28" name="Text 22"/>
          <p:cNvSpPr txBox="1"/>
          <p:nvPr/>
        </p:nvSpPr>
        <p:spPr>
          <a:xfrm>
            <a:off x="7488936" y="2487168"/>
            <a:ext cx="365760" cy="274320"/>
          </a:xfrm>
          <a:prstGeom prst="rect">
            <a:avLst/>
          </a:prstGeom>
          <a:noFill/>
          <a:ln/>
        </p:spPr>
        <p:txBody>
          <a:bodyPr wrap="square" lIns="0" tIns="0" rIns="0" bIns="0" rtlCol="0" anchor="ctr"/>
          <a:lstStyle/>
          <a:p>
            <a:pPr marL="0" indent="0">
              <a:buNone/>
            </a:pPr>
            <a:r>
              <a:rPr lang="en-US" sz="1100" b="1" dirty="0">
                <a:solidFill>
                  <a:srgbClr val="6B7089"/>
                </a:solidFill>
                <a:latin typeface="Calibri" pitchFamily="34" charset="0"/>
                <a:ea typeface="Calibri" pitchFamily="34" charset="-122"/>
                <a:cs typeface="Calibri" pitchFamily="34" charset="-120"/>
              </a:rPr>
              <a:t>4</a:t>
            </a:r>
            <a:endParaRPr lang="en-US" sz="1100" dirty="0"/>
          </a:p>
        </p:txBody>
      </p:sp>
      <p:sp>
        <p:nvSpPr>
          <p:cNvPr id="29" name="Text 23"/>
          <p:cNvSpPr txBox="1"/>
          <p:nvPr/>
        </p:nvSpPr>
        <p:spPr>
          <a:xfrm>
            <a:off x="7516368" y="3520440"/>
            <a:ext cx="1682496" cy="365760"/>
          </a:xfrm>
          <a:prstGeom prst="rect">
            <a:avLst/>
          </a:prstGeom>
          <a:noFill/>
          <a:ln/>
        </p:spPr>
        <p:txBody>
          <a:bodyPr wrap="square" lIns="0" tIns="0" rIns="0" bIns="0" rtlCol="0" anchor="ctr"/>
          <a:lstStyle/>
          <a:p>
            <a:pPr marL="0" indent="0" algn="ctr">
              <a:buNone/>
            </a:pPr>
            <a:r>
              <a:rPr lang="en-US" sz="1600" b="1" dirty="0">
                <a:solidFill>
                  <a:srgbClr val="1B1F4B"/>
                </a:solidFill>
                <a:latin typeface="Cambria" pitchFamily="34" charset="0"/>
                <a:ea typeface="Cambria" pitchFamily="34" charset="-122"/>
                <a:cs typeface="Cambria" pitchFamily="34" charset="-120"/>
              </a:rPr>
              <a:t>Select</a:t>
            </a:r>
            <a:endParaRPr lang="en-US" sz="1600" dirty="0"/>
          </a:p>
        </p:txBody>
      </p:sp>
      <p:sp>
        <p:nvSpPr>
          <p:cNvPr id="30" name="Text 24"/>
          <p:cNvSpPr txBox="1"/>
          <p:nvPr/>
        </p:nvSpPr>
        <p:spPr>
          <a:xfrm>
            <a:off x="7516368" y="3913632"/>
            <a:ext cx="1682496" cy="1005840"/>
          </a:xfrm>
          <a:prstGeom prst="rect">
            <a:avLst/>
          </a:prstGeom>
          <a:noFill/>
          <a:ln/>
        </p:spPr>
        <p:txBody>
          <a:bodyPr wrap="square" lIns="0" tIns="0" rIns="0" bIns="0" rtlCol="0" anchor="ctr"/>
          <a:lstStyle/>
          <a:p>
            <a:pPr marL="0" indent="0" algn="ctr">
              <a:buNone/>
            </a:pPr>
            <a:r>
              <a:rPr lang="en-US" sz="1150" dirty="0">
                <a:solidFill>
                  <a:srgbClr val="6B7089"/>
                </a:solidFill>
                <a:latin typeface="Calibri" pitchFamily="34" charset="0"/>
                <a:ea typeface="Calibri" pitchFamily="34" charset="-122"/>
                <a:cs typeface="Calibri" pitchFamily="34" charset="-120"/>
              </a:rPr>
              <a:t>the best-performing model</a:t>
            </a:r>
            <a:endParaRPr lang="en-US" sz="1150" dirty="0"/>
          </a:p>
        </p:txBody>
      </p:sp>
      <p:sp>
        <p:nvSpPr>
          <p:cNvPr id="31" name="Shape 25"/>
          <p:cNvSpPr/>
          <p:nvPr/>
        </p:nvSpPr>
        <p:spPr>
          <a:xfrm>
            <a:off x="9363456" y="3648456"/>
            <a:ext cx="265176" cy="109728"/>
          </a:xfrm>
          <a:prstGeom prst="rightArrow">
            <a:avLst/>
          </a:prstGeom>
          <a:solidFill>
            <a:srgbClr val="E4E3EE"/>
          </a:solidFill>
          <a:ln/>
        </p:spPr>
        <p:txBody>
          <a:bodyPr/>
          <a:lstStyle/>
          <a:p>
            <a:endParaRPr lang="en-AE"/>
          </a:p>
        </p:txBody>
      </p:sp>
      <p:sp>
        <p:nvSpPr>
          <p:cNvPr id="32" name="Shape 26"/>
          <p:cNvSpPr/>
          <p:nvPr/>
        </p:nvSpPr>
        <p:spPr>
          <a:xfrm>
            <a:off x="9656064" y="2377440"/>
            <a:ext cx="1956816" cy="2651760"/>
          </a:xfrm>
          <a:prstGeom prst="roundRect">
            <a:avLst>
              <a:gd name="adj" fmla="val 3738"/>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33" name="Shape 27"/>
          <p:cNvSpPr/>
          <p:nvPr/>
        </p:nvSpPr>
        <p:spPr>
          <a:xfrm>
            <a:off x="10314432" y="2697480"/>
            <a:ext cx="640080" cy="640080"/>
          </a:xfrm>
          <a:prstGeom prst="ellipse">
            <a:avLst/>
          </a:prstGeom>
          <a:solidFill>
            <a:srgbClr val="1E9E82"/>
          </a:solidFill>
          <a:ln/>
        </p:spPr>
        <p:txBody>
          <a:bodyPr/>
          <a:lstStyle/>
          <a:p>
            <a:endParaRPr lang="en-AE"/>
          </a:p>
        </p:txBody>
      </p:sp>
      <p:pic>
        <p:nvPicPr>
          <p:cNvPr id="34" name="Image 4" descr="/home/claude/edurisk/icons/rocket_white.png"/>
          <p:cNvPicPr>
            <a:picLocks noChangeAspect="1"/>
          </p:cNvPicPr>
          <p:nvPr/>
        </p:nvPicPr>
        <p:blipFill>
          <a:blip r:embed="rId7"/>
          <a:stretch>
            <a:fillRect/>
          </a:stretch>
        </p:blipFill>
        <p:spPr>
          <a:xfrm>
            <a:off x="10474452" y="2857500"/>
            <a:ext cx="320040" cy="320040"/>
          </a:xfrm>
          <a:prstGeom prst="rect">
            <a:avLst/>
          </a:prstGeom>
        </p:spPr>
      </p:pic>
      <p:sp>
        <p:nvSpPr>
          <p:cNvPr id="35" name="Text 28"/>
          <p:cNvSpPr txBox="1"/>
          <p:nvPr/>
        </p:nvSpPr>
        <p:spPr>
          <a:xfrm>
            <a:off x="9765792" y="2487168"/>
            <a:ext cx="365760" cy="274320"/>
          </a:xfrm>
          <a:prstGeom prst="rect">
            <a:avLst/>
          </a:prstGeom>
          <a:noFill/>
          <a:ln/>
        </p:spPr>
        <p:txBody>
          <a:bodyPr wrap="square" lIns="0" tIns="0" rIns="0" bIns="0" rtlCol="0" anchor="ctr"/>
          <a:lstStyle/>
          <a:p>
            <a:pPr marL="0" indent="0">
              <a:buNone/>
            </a:pPr>
            <a:r>
              <a:rPr lang="en-US" sz="1100" b="1" dirty="0">
                <a:solidFill>
                  <a:srgbClr val="6B7089"/>
                </a:solidFill>
                <a:latin typeface="Calibri" pitchFamily="34" charset="0"/>
                <a:ea typeface="Calibri" pitchFamily="34" charset="-122"/>
                <a:cs typeface="Calibri" pitchFamily="34" charset="-120"/>
              </a:rPr>
              <a:t>5</a:t>
            </a:r>
            <a:endParaRPr lang="en-US" sz="1100" dirty="0"/>
          </a:p>
        </p:txBody>
      </p:sp>
      <p:sp>
        <p:nvSpPr>
          <p:cNvPr id="36" name="Text 29"/>
          <p:cNvSpPr txBox="1"/>
          <p:nvPr/>
        </p:nvSpPr>
        <p:spPr>
          <a:xfrm>
            <a:off x="9793224" y="3520440"/>
            <a:ext cx="1682496" cy="365760"/>
          </a:xfrm>
          <a:prstGeom prst="rect">
            <a:avLst/>
          </a:prstGeom>
          <a:noFill/>
          <a:ln/>
        </p:spPr>
        <p:txBody>
          <a:bodyPr wrap="square" lIns="0" tIns="0" rIns="0" bIns="0" rtlCol="0" anchor="ctr"/>
          <a:lstStyle/>
          <a:p>
            <a:pPr marL="0" indent="0" algn="ctr">
              <a:buNone/>
            </a:pPr>
            <a:r>
              <a:rPr lang="en-US" sz="1600" b="1" dirty="0">
                <a:solidFill>
                  <a:srgbClr val="1B1F4B"/>
                </a:solidFill>
                <a:latin typeface="Cambria" pitchFamily="34" charset="0"/>
                <a:ea typeface="Cambria" pitchFamily="34" charset="-122"/>
                <a:cs typeface="Cambria" pitchFamily="34" charset="-120"/>
              </a:rPr>
              <a:t>Deploy</a:t>
            </a:r>
            <a:endParaRPr lang="en-US" sz="1600" dirty="0"/>
          </a:p>
        </p:txBody>
      </p:sp>
      <p:sp>
        <p:nvSpPr>
          <p:cNvPr id="37" name="Text 30"/>
          <p:cNvSpPr txBox="1"/>
          <p:nvPr/>
        </p:nvSpPr>
        <p:spPr>
          <a:xfrm>
            <a:off x="9793224" y="3913632"/>
            <a:ext cx="1682496" cy="1005840"/>
          </a:xfrm>
          <a:prstGeom prst="rect">
            <a:avLst/>
          </a:prstGeom>
          <a:noFill/>
          <a:ln/>
        </p:spPr>
        <p:txBody>
          <a:bodyPr wrap="square" lIns="0" tIns="0" rIns="0" bIns="0" rtlCol="0" anchor="ctr"/>
          <a:lstStyle/>
          <a:p>
            <a:pPr marL="0" indent="0" algn="ctr">
              <a:buNone/>
            </a:pPr>
            <a:r>
              <a:rPr lang="en-US" sz="1150" dirty="0">
                <a:solidFill>
                  <a:srgbClr val="6B7089"/>
                </a:solidFill>
                <a:latin typeface="Calibri" pitchFamily="34" charset="0"/>
                <a:ea typeface="Calibri" pitchFamily="34" charset="-122"/>
                <a:cs typeface="Calibri" pitchFamily="34" charset="-120"/>
              </a:rPr>
              <a:t>the trained model for practical use</a:t>
            </a:r>
            <a:endParaRPr lang="en-US" sz="1150" dirty="0"/>
          </a:p>
        </p:txBody>
      </p:sp>
      <p:sp>
        <p:nvSpPr>
          <p:cNvPr id="38" name="Text 31"/>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03</a:t>
            </a:r>
            <a:endParaRPr lang="en-US" sz="1000" dirty="0"/>
          </a:p>
        </p:txBody>
      </p:sp>
      <p:sp>
        <p:nvSpPr>
          <p:cNvPr id="39" name="Text 32"/>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DATASET</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Dataset &amp; Target Variable</a:t>
            </a:r>
            <a:endParaRPr lang="en-US" sz="3000" dirty="0"/>
          </a:p>
        </p:txBody>
      </p:sp>
      <p:sp>
        <p:nvSpPr>
          <p:cNvPr id="4" name="Shape 2"/>
          <p:cNvSpPr/>
          <p:nvPr/>
        </p:nvSpPr>
        <p:spPr>
          <a:xfrm>
            <a:off x="566928" y="1792224"/>
            <a:ext cx="82296" cy="82296"/>
          </a:xfrm>
          <a:prstGeom prst="ellipse">
            <a:avLst/>
          </a:prstGeom>
          <a:solidFill>
            <a:srgbClr val="6C3FC5"/>
          </a:solidFill>
          <a:ln/>
        </p:spPr>
        <p:txBody>
          <a:bodyPr/>
          <a:lstStyle/>
          <a:p>
            <a:endParaRPr lang="en-AE"/>
          </a:p>
        </p:txBody>
      </p:sp>
      <p:sp>
        <p:nvSpPr>
          <p:cNvPr id="5" name="Text 3"/>
          <p:cNvSpPr txBox="1"/>
          <p:nvPr/>
        </p:nvSpPr>
        <p:spPr>
          <a:xfrm>
            <a:off x="822960" y="1691640"/>
            <a:ext cx="5212080" cy="502920"/>
          </a:xfrm>
          <a:prstGeom prst="rect">
            <a:avLst/>
          </a:prstGeom>
          <a:noFill/>
          <a:ln/>
        </p:spPr>
        <p:txBody>
          <a:bodyPr wrap="square" lIns="0" tIns="0" rIns="0" bIns="0" rtlCol="0" anchor="t"/>
          <a:lstStyle/>
          <a:p>
            <a:pPr marL="0" indent="0">
              <a:buNone/>
            </a:pPr>
            <a:r>
              <a:rPr lang="en-US" sz="1350" dirty="0">
                <a:solidFill>
                  <a:srgbClr val="23264A"/>
                </a:solidFill>
                <a:latin typeface="Calibri" pitchFamily="34" charset="0"/>
                <a:ea typeface="Calibri" pitchFamily="34" charset="-122"/>
                <a:cs typeface="Calibri" pitchFamily="34" charset="-120"/>
              </a:rPr>
              <a:t>The dataset contains student-related information used to train the models.</a:t>
            </a:r>
            <a:endParaRPr lang="en-US" sz="1350" dirty="0"/>
          </a:p>
        </p:txBody>
      </p:sp>
      <p:sp>
        <p:nvSpPr>
          <p:cNvPr id="6" name="Shape 4"/>
          <p:cNvSpPr/>
          <p:nvPr/>
        </p:nvSpPr>
        <p:spPr>
          <a:xfrm>
            <a:off x="566928" y="2359152"/>
            <a:ext cx="82296" cy="82296"/>
          </a:xfrm>
          <a:prstGeom prst="ellipse">
            <a:avLst/>
          </a:prstGeom>
          <a:solidFill>
            <a:srgbClr val="6C3FC5"/>
          </a:solidFill>
          <a:ln/>
        </p:spPr>
        <p:txBody>
          <a:bodyPr/>
          <a:lstStyle/>
          <a:p>
            <a:endParaRPr lang="en-AE"/>
          </a:p>
        </p:txBody>
      </p:sp>
      <p:sp>
        <p:nvSpPr>
          <p:cNvPr id="7" name="Text 5"/>
          <p:cNvSpPr txBox="1"/>
          <p:nvPr/>
        </p:nvSpPr>
        <p:spPr>
          <a:xfrm>
            <a:off x="822960" y="2258568"/>
            <a:ext cx="5212080" cy="502920"/>
          </a:xfrm>
          <a:prstGeom prst="rect">
            <a:avLst/>
          </a:prstGeom>
          <a:noFill/>
          <a:ln/>
        </p:spPr>
        <p:txBody>
          <a:bodyPr wrap="square" lIns="0" tIns="0" rIns="0" bIns="0" rtlCol="0" anchor="t"/>
          <a:lstStyle/>
          <a:p>
            <a:pPr marL="0" indent="0">
              <a:buNone/>
            </a:pPr>
            <a:r>
              <a:rPr lang="en-US" sz="1350" dirty="0">
                <a:solidFill>
                  <a:srgbClr val="23264A"/>
                </a:solidFill>
                <a:latin typeface="Calibri" pitchFamily="34" charset="0"/>
                <a:ea typeface="Calibri" pitchFamily="34" charset="-122"/>
                <a:cs typeface="Calibri" pitchFamily="34" charset="-120"/>
              </a:rPr>
              <a:t>Target variable: Academic_Failure_Risk — the label the models learn to predict.</a:t>
            </a:r>
            <a:endParaRPr lang="en-US" sz="1350" dirty="0"/>
          </a:p>
        </p:txBody>
      </p:sp>
      <p:sp>
        <p:nvSpPr>
          <p:cNvPr id="8" name="Shape 6"/>
          <p:cNvSpPr/>
          <p:nvPr/>
        </p:nvSpPr>
        <p:spPr>
          <a:xfrm>
            <a:off x="566928" y="2926080"/>
            <a:ext cx="82296" cy="82296"/>
          </a:xfrm>
          <a:prstGeom prst="ellipse">
            <a:avLst/>
          </a:prstGeom>
          <a:solidFill>
            <a:srgbClr val="6C3FC5"/>
          </a:solidFill>
          <a:ln/>
        </p:spPr>
        <p:txBody>
          <a:bodyPr/>
          <a:lstStyle/>
          <a:p>
            <a:endParaRPr lang="en-AE"/>
          </a:p>
        </p:txBody>
      </p:sp>
      <p:sp>
        <p:nvSpPr>
          <p:cNvPr id="9" name="Text 7"/>
          <p:cNvSpPr txBox="1"/>
          <p:nvPr/>
        </p:nvSpPr>
        <p:spPr>
          <a:xfrm>
            <a:off x="822960" y="2825496"/>
            <a:ext cx="5212080" cy="502920"/>
          </a:xfrm>
          <a:prstGeom prst="rect">
            <a:avLst/>
          </a:prstGeom>
          <a:noFill/>
          <a:ln/>
        </p:spPr>
        <p:txBody>
          <a:bodyPr wrap="square" lIns="0" tIns="0" rIns="0" bIns="0" rtlCol="0" anchor="t"/>
          <a:lstStyle/>
          <a:p>
            <a:pPr marL="0" indent="0">
              <a:buNone/>
            </a:pPr>
            <a:r>
              <a:rPr lang="en-US" sz="1350" dirty="0">
                <a:solidFill>
                  <a:srgbClr val="23264A"/>
                </a:solidFill>
                <a:latin typeface="Calibri" pitchFamily="34" charset="0"/>
                <a:ea typeface="Calibri" pitchFamily="34" charset="-122"/>
                <a:cs typeface="Calibri" pitchFamily="34" charset="-120"/>
              </a:rPr>
              <a:t>This is framed as a binary classification problem.</a:t>
            </a:r>
            <a:endParaRPr lang="en-US" sz="1350" dirty="0"/>
          </a:p>
        </p:txBody>
      </p:sp>
      <p:sp>
        <p:nvSpPr>
          <p:cNvPr id="10" name="Text 8"/>
          <p:cNvSpPr txBox="1"/>
          <p:nvPr/>
        </p:nvSpPr>
        <p:spPr>
          <a:xfrm>
            <a:off x="566928" y="3813048"/>
            <a:ext cx="5394960" cy="1108964"/>
          </a:xfrm>
          <a:prstGeom prst="rect">
            <a:avLst/>
          </a:prstGeom>
          <a:noFill/>
          <a:ln/>
        </p:spPr>
        <p:txBody>
          <a:bodyPr wrap="square" lIns="0" tIns="0" rIns="0" bIns="0" rtlCol="0" anchor="ctr"/>
          <a:lstStyle/>
          <a:p>
            <a:pPr marL="0" indent="0">
              <a:buNone/>
            </a:pPr>
            <a:endParaRPr lang="en-US" sz="1100" dirty="0"/>
          </a:p>
        </p:txBody>
      </p:sp>
      <p:sp>
        <p:nvSpPr>
          <p:cNvPr id="11" name="Shape 9"/>
          <p:cNvSpPr/>
          <p:nvPr/>
        </p:nvSpPr>
        <p:spPr>
          <a:xfrm>
            <a:off x="6236330" y="146471"/>
            <a:ext cx="1554480" cy="1554480"/>
          </a:xfrm>
          <a:prstGeom prst="roundRect">
            <a:avLst>
              <a:gd name="adj" fmla="val 470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2" name="Shape 10"/>
          <p:cNvSpPr/>
          <p:nvPr/>
        </p:nvSpPr>
        <p:spPr>
          <a:xfrm>
            <a:off x="6697310" y="330674"/>
            <a:ext cx="603504" cy="603504"/>
          </a:xfrm>
          <a:prstGeom prst="ellipse">
            <a:avLst/>
          </a:prstGeom>
          <a:solidFill>
            <a:srgbClr val="6C3FC5"/>
          </a:solidFill>
          <a:ln/>
        </p:spPr>
        <p:txBody>
          <a:bodyPr/>
          <a:lstStyle/>
          <a:p>
            <a:endParaRPr lang="en-AE"/>
          </a:p>
        </p:txBody>
      </p:sp>
      <p:pic>
        <p:nvPicPr>
          <p:cNvPr id="13" name="Image 0" descr="/home/claude/edurisk/icons/database_white.png"/>
          <p:cNvPicPr>
            <a:picLocks noChangeAspect="1"/>
          </p:cNvPicPr>
          <p:nvPr/>
        </p:nvPicPr>
        <p:blipFill>
          <a:blip r:embed="rId3"/>
          <a:stretch>
            <a:fillRect/>
          </a:stretch>
        </p:blipFill>
        <p:spPr>
          <a:xfrm>
            <a:off x="6866596" y="491595"/>
            <a:ext cx="313822" cy="313822"/>
          </a:xfrm>
          <a:prstGeom prst="rect">
            <a:avLst/>
          </a:prstGeom>
        </p:spPr>
      </p:pic>
      <p:sp>
        <p:nvSpPr>
          <p:cNvPr id="14" name="Text 11"/>
          <p:cNvSpPr txBox="1"/>
          <p:nvPr/>
        </p:nvSpPr>
        <p:spPr>
          <a:xfrm>
            <a:off x="6261354" y="955908"/>
            <a:ext cx="1554480" cy="548640"/>
          </a:xfrm>
          <a:prstGeom prst="rect">
            <a:avLst/>
          </a:prstGeom>
          <a:noFill/>
          <a:ln/>
        </p:spPr>
        <p:txBody>
          <a:bodyPr wrap="square" lIns="0" tIns="0" rIns="0" bIns="0" rtlCol="0" anchor="ctr"/>
          <a:lstStyle/>
          <a:p>
            <a:pPr marL="0" indent="0" algn="ctr">
              <a:buNone/>
            </a:pPr>
            <a:r>
              <a:rPr lang="en-US" sz="1250" b="1" dirty="0">
                <a:solidFill>
                  <a:srgbClr val="1B1F4B"/>
                </a:solidFill>
                <a:latin typeface="Calibri" pitchFamily="34" charset="0"/>
                <a:ea typeface="Calibri" pitchFamily="34" charset="-122"/>
                <a:cs typeface="Calibri" pitchFamily="34" charset="-120"/>
              </a:rPr>
              <a:t>Student</a:t>
            </a:r>
            <a:endParaRPr lang="en-US" sz="1250" dirty="0"/>
          </a:p>
          <a:p>
            <a:pPr marL="0" indent="0" algn="ctr">
              <a:buNone/>
            </a:pPr>
            <a:r>
              <a:rPr lang="en-US" sz="1250" b="1" dirty="0">
                <a:solidFill>
                  <a:srgbClr val="1B1F4B"/>
                </a:solidFill>
                <a:latin typeface="Calibri" pitchFamily="34" charset="0"/>
                <a:ea typeface="Calibri" pitchFamily="34" charset="-122"/>
                <a:cs typeface="Calibri" pitchFamily="34" charset="-120"/>
              </a:rPr>
              <a:t>Data</a:t>
            </a:r>
            <a:endParaRPr lang="en-US" sz="1250" dirty="0"/>
          </a:p>
        </p:txBody>
      </p:sp>
      <p:sp>
        <p:nvSpPr>
          <p:cNvPr id="15" name="Shape 12"/>
          <p:cNvSpPr/>
          <p:nvPr/>
        </p:nvSpPr>
        <p:spPr>
          <a:xfrm>
            <a:off x="7878755" y="922081"/>
            <a:ext cx="393192" cy="109728"/>
          </a:xfrm>
          <a:prstGeom prst="rightArrow">
            <a:avLst/>
          </a:prstGeom>
          <a:solidFill>
            <a:srgbClr val="E4E3EE"/>
          </a:solidFill>
          <a:ln/>
        </p:spPr>
        <p:txBody>
          <a:bodyPr/>
          <a:lstStyle/>
          <a:p>
            <a:endParaRPr lang="en-AE"/>
          </a:p>
        </p:txBody>
      </p:sp>
      <p:sp>
        <p:nvSpPr>
          <p:cNvPr id="16" name="Shape 13"/>
          <p:cNvSpPr/>
          <p:nvPr/>
        </p:nvSpPr>
        <p:spPr>
          <a:xfrm>
            <a:off x="8346186" y="137160"/>
            <a:ext cx="1554480" cy="1554480"/>
          </a:xfrm>
          <a:prstGeom prst="roundRect">
            <a:avLst>
              <a:gd name="adj" fmla="val 470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dirty="0"/>
          </a:p>
        </p:txBody>
      </p:sp>
      <p:sp>
        <p:nvSpPr>
          <p:cNvPr id="17" name="Shape 14"/>
          <p:cNvSpPr/>
          <p:nvPr/>
        </p:nvSpPr>
        <p:spPr>
          <a:xfrm>
            <a:off x="8827323" y="373441"/>
            <a:ext cx="603504" cy="603504"/>
          </a:xfrm>
          <a:prstGeom prst="ellipse">
            <a:avLst/>
          </a:prstGeom>
          <a:solidFill>
            <a:srgbClr val="1B1F4B"/>
          </a:solidFill>
          <a:ln/>
        </p:spPr>
        <p:txBody>
          <a:bodyPr/>
          <a:lstStyle/>
          <a:p>
            <a:endParaRPr lang="en-AE"/>
          </a:p>
        </p:txBody>
      </p:sp>
      <p:pic>
        <p:nvPicPr>
          <p:cNvPr id="18" name="Image 1" descr="/home/claude/edurisk/icons/listul_white.png"/>
          <p:cNvPicPr>
            <a:picLocks noChangeAspect="1"/>
          </p:cNvPicPr>
          <p:nvPr/>
        </p:nvPicPr>
        <p:blipFill>
          <a:blip r:embed="rId4"/>
          <a:stretch>
            <a:fillRect/>
          </a:stretch>
        </p:blipFill>
        <p:spPr>
          <a:xfrm>
            <a:off x="8966515" y="499723"/>
            <a:ext cx="313822" cy="313822"/>
          </a:xfrm>
          <a:prstGeom prst="rect">
            <a:avLst/>
          </a:prstGeom>
        </p:spPr>
      </p:pic>
      <p:sp>
        <p:nvSpPr>
          <p:cNvPr id="19" name="Text 15"/>
          <p:cNvSpPr txBox="1"/>
          <p:nvPr/>
        </p:nvSpPr>
        <p:spPr>
          <a:xfrm>
            <a:off x="8340263" y="937260"/>
            <a:ext cx="1554480" cy="548640"/>
          </a:xfrm>
          <a:prstGeom prst="rect">
            <a:avLst/>
          </a:prstGeom>
          <a:noFill/>
          <a:ln/>
        </p:spPr>
        <p:txBody>
          <a:bodyPr wrap="square" lIns="0" tIns="0" rIns="0" bIns="0" rtlCol="0" anchor="ctr"/>
          <a:lstStyle/>
          <a:p>
            <a:pPr marL="0" indent="0" algn="ctr">
              <a:buNone/>
            </a:pPr>
            <a:r>
              <a:rPr lang="en-US" sz="1250" b="1" dirty="0">
                <a:solidFill>
                  <a:srgbClr val="1B1F4B"/>
                </a:solidFill>
                <a:latin typeface="Calibri" pitchFamily="34" charset="0"/>
                <a:ea typeface="Calibri" pitchFamily="34" charset="-122"/>
                <a:cs typeface="Calibri" pitchFamily="34" charset="-120"/>
              </a:rPr>
              <a:t>Features</a:t>
            </a:r>
            <a:endParaRPr lang="en-US" sz="1250" dirty="0"/>
          </a:p>
        </p:txBody>
      </p:sp>
      <p:sp>
        <p:nvSpPr>
          <p:cNvPr id="20" name="Shape 16"/>
          <p:cNvSpPr/>
          <p:nvPr/>
        </p:nvSpPr>
        <p:spPr>
          <a:xfrm>
            <a:off x="9963059" y="960120"/>
            <a:ext cx="393192" cy="109728"/>
          </a:xfrm>
          <a:prstGeom prst="rightArrow">
            <a:avLst/>
          </a:prstGeom>
          <a:solidFill>
            <a:srgbClr val="E4E3EE"/>
          </a:solidFill>
          <a:ln/>
        </p:spPr>
        <p:txBody>
          <a:bodyPr/>
          <a:lstStyle/>
          <a:p>
            <a:endParaRPr lang="en-AE"/>
          </a:p>
        </p:txBody>
      </p:sp>
      <p:sp>
        <p:nvSpPr>
          <p:cNvPr id="21" name="Shape 17"/>
          <p:cNvSpPr/>
          <p:nvPr/>
        </p:nvSpPr>
        <p:spPr>
          <a:xfrm>
            <a:off x="10418644" y="131686"/>
            <a:ext cx="1554480" cy="1554480"/>
          </a:xfrm>
          <a:prstGeom prst="roundRect">
            <a:avLst>
              <a:gd name="adj" fmla="val 470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2" name="Shape 18"/>
          <p:cNvSpPr/>
          <p:nvPr/>
        </p:nvSpPr>
        <p:spPr>
          <a:xfrm>
            <a:off x="10945368" y="338328"/>
            <a:ext cx="603504" cy="603504"/>
          </a:xfrm>
          <a:prstGeom prst="ellipse">
            <a:avLst/>
          </a:prstGeom>
          <a:solidFill>
            <a:srgbClr val="E14B5A"/>
          </a:solidFill>
          <a:ln/>
        </p:spPr>
        <p:txBody>
          <a:bodyPr/>
          <a:lstStyle/>
          <a:p>
            <a:endParaRPr lang="en-AE" dirty="0"/>
          </a:p>
        </p:txBody>
      </p:sp>
      <p:pic>
        <p:nvPicPr>
          <p:cNvPr id="23" name="Image 2" descr="/home/claude/edurisk/icons/alert_white.png"/>
          <p:cNvPicPr>
            <a:picLocks noChangeAspect="1"/>
          </p:cNvPicPr>
          <p:nvPr/>
        </p:nvPicPr>
        <p:blipFill>
          <a:blip r:embed="rId5"/>
          <a:stretch>
            <a:fillRect/>
          </a:stretch>
        </p:blipFill>
        <p:spPr>
          <a:xfrm>
            <a:off x="11090209" y="450832"/>
            <a:ext cx="313822" cy="313822"/>
          </a:xfrm>
          <a:prstGeom prst="rect">
            <a:avLst/>
          </a:prstGeom>
        </p:spPr>
      </p:pic>
      <p:sp>
        <p:nvSpPr>
          <p:cNvPr id="24" name="Text 19"/>
          <p:cNvSpPr txBox="1"/>
          <p:nvPr/>
        </p:nvSpPr>
        <p:spPr>
          <a:xfrm>
            <a:off x="10477551" y="960120"/>
            <a:ext cx="1554480" cy="548640"/>
          </a:xfrm>
          <a:prstGeom prst="rect">
            <a:avLst/>
          </a:prstGeom>
          <a:noFill/>
          <a:ln/>
        </p:spPr>
        <p:txBody>
          <a:bodyPr wrap="square" lIns="0" tIns="0" rIns="0" bIns="0" rtlCol="0" anchor="ctr"/>
          <a:lstStyle/>
          <a:p>
            <a:pPr marL="0" indent="0" algn="ctr">
              <a:buNone/>
            </a:pPr>
            <a:r>
              <a:rPr lang="en-US" sz="1250" b="1" dirty="0">
                <a:solidFill>
                  <a:srgbClr val="1B1F4B"/>
                </a:solidFill>
                <a:latin typeface="Calibri" pitchFamily="34" charset="0"/>
                <a:ea typeface="Calibri" pitchFamily="34" charset="-122"/>
                <a:cs typeface="Calibri" pitchFamily="34" charset="-120"/>
              </a:rPr>
              <a:t>Academic</a:t>
            </a:r>
            <a:endParaRPr lang="en-US" sz="1250" dirty="0"/>
          </a:p>
          <a:p>
            <a:pPr marL="0" indent="0" algn="ctr">
              <a:buNone/>
            </a:pPr>
            <a:r>
              <a:rPr lang="en-US" sz="1250" b="1" dirty="0">
                <a:solidFill>
                  <a:srgbClr val="1B1F4B"/>
                </a:solidFill>
                <a:latin typeface="Calibri" pitchFamily="34" charset="0"/>
                <a:ea typeface="Calibri" pitchFamily="34" charset="-122"/>
                <a:cs typeface="Calibri" pitchFamily="34" charset="-120"/>
              </a:rPr>
              <a:t>Failure Risk</a:t>
            </a:r>
            <a:endParaRPr lang="en-US" sz="1250" dirty="0"/>
          </a:p>
        </p:txBody>
      </p:sp>
      <p:sp>
        <p:nvSpPr>
          <p:cNvPr id="25" name="Shape 20"/>
          <p:cNvSpPr/>
          <p:nvPr/>
        </p:nvSpPr>
        <p:spPr>
          <a:xfrm>
            <a:off x="6697310" y="2082896"/>
            <a:ext cx="2331720" cy="1371600"/>
          </a:xfrm>
          <a:prstGeom prst="roundRect">
            <a:avLst>
              <a:gd name="adj" fmla="val 5333"/>
            </a:avLst>
          </a:prstGeom>
          <a:solidFill>
            <a:srgbClr val="E3F6F1"/>
          </a:solidFill>
          <a:ln w="12700">
            <a:solidFill>
              <a:srgbClr val="1E9E82"/>
            </a:solidFill>
            <a:prstDash val="solid"/>
          </a:ln>
          <a:effectLst>
            <a:outerShdw blurRad="101600" dist="25400" dir="5400000" algn="bl" rotWithShape="0">
              <a:srgbClr val="1B1F4B">
                <a:alpha val="12000"/>
              </a:srgbClr>
            </a:outerShdw>
          </a:effectLst>
        </p:spPr>
        <p:txBody>
          <a:bodyPr/>
          <a:lstStyle/>
          <a:p>
            <a:endParaRPr lang="en-AE"/>
          </a:p>
        </p:txBody>
      </p:sp>
      <p:pic>
        <p:nvPicPr>
          <p:cNvPr id="26" name="Image 3" descr="/home/claude/edurisk/icons/shieldcheck_teal.png"/>
          <p:cNvPicPr>
            <a:picLocks noChangeAspect="1"/>
          </p:cNvPicPr>
          <p:nvPr/>
        </p:nvPicPr>
        <p:blipFill>
          <a:blip r:embed="rId6"/>
          <a:stretch>
            <a:fillRect/>
          </a:stretch>
        </p:blipFill>
        <p:spPr>
          <a:xfrm>
            <a:off x="7611710" y="2249840"/>
            <a:ext cx="502920" cy="502920"/>
          </a:xfrm>
          <a:prstGeom prst="rect">
            <a:avLst/>
          </a:prstGeom>
        </p:spPr>
      </p:pic>
      <p:sp>
        <p:nvSpPr>
          <p:cNvPr id="27" name="Text 21"/>
          <p:cNvSpPr txBox="1"/>
          <p:nvPr/>
        </p:nvSpPr>
        <p:spPr>
          <a:xfrm>
            <a:off x="6652510" y="2768696"/>
            <a:ext cx="2331720" cy="502920"/>
          </a:xfrm>
          <a:prstGeom prst="rect">
            <a:avLst/>
          </a:prstGeom>
          <a:noFill/>
          <a:ln/>
        </p:spPr>
        <p:txBody>
          <a:bodyPr wrap="square" lIns="0" tIns="0" rIns="0" bIns="0" rtlCol="0" anchor="ctr"/>
          <a:lstStyle/>
          <a:p>
            <a:pPr marL="0" indent="0" algn="ctr">
              <a:buNone/>
            </a:pPr>
            <a:r>
              <a:rPr lang="en-US" sz="1200" b="1" dirty="0">
                <a:solidFill>
                  <a:srgbClr val="1E9E82"/>
                </a:solidFill>
                <a:latin typeface="Calibri" pitchFamily="34" charset="0"/>
                <a:ea typeface="Calibri" pitchFamily="34" charset="-122"/>
                <a:cs typeface="Calibri" pitchFamily="34" charset="-120"/>
              </a:rPr>
              <a:t>No Academic</a:t>
            </a:r>
            <a:endParaRPr lang="en-US" sz="1200" dirty="0"/>
          </a:p>
          <a:p>
            <a:pPr marL="0" indent="0" algn="ctr">
              <a:buNone/>
            </a:pPr>
            <a:r>
              <a:rPr lang="en-US" sz="1200" b="1" dirty="0">
                <a:solidFill>
                  <a:srgbClr val="1E9E82"/>
                </a:solidFill>
                <a:latin typeface="Calibri" pitchFamily="34" charset="0"/>
                <a:ea typeface="Calibri" pitchFamily="34" charset="-122"/>
                <a:cs typeface="Calibri" pitchFamily="34" charset="-120"/>
              </a:rPr>
              <a:t>Failure Risk</a:t>
            </a:r>
            <a:endParaRPr lang="en-US" sz="1200" dirty="0"/>
          </a:p>
        </p:txBody>
      </p:sp>
      <p:sp>
        <p:nvSpPr>
          <p:cNvPr id="28" name="Shape 22"/>
          <p:cNvSpPr/>
          <p:nvPr/>
        </p:nvSpPr>
        <p:spPr>
          <a:xfrm>
            <a:off x="9293352" y="2095294"/>
            <a:ext cx="2331720" cy="1371600"/>
          </a:xfrm>
          <a:prstGeom prst="roundRect">
            <a:avLst>
              <a:gd name="adj" fmla="val 5333"/>
            </a:avLst>
          </a:prstGeom>
          <a:solidFill>
            <a:srgbClr val="FCE9EB"/>
          </a:solidFill>
          <a:ln w="12700">
            <a:solidFill>
              <a:srgbClr val="E14B5A"/>
            </a:solidFill>
            <a:prstDash val="solid"/>
          </a:ln>
          <a:effectLst>
            <a:outerShdw blurRad="101600" dist="25400" dir="5400000" algn="bl" rotWithShape="0">
              <a:srgbClr val="1B1F4B">
                <a:alpha val="12000"/>
              </a:srgbClr>
            </a:outerShdw>
          </a:effectLst>
        </p:spPr>
        <p:txBody>
          <a:bodyPr/>
          <a:lstStyle/>
          <a:p>
            <a:endParaRPr lang="en-AE" dirty="0"/>
          </a:p>
        </p:txBody>
      </p:sp>
      <p:pic>
        <p:nvPicPr>
          <p:cNvPr id="29" name="Image 4" descr="/home/claude/edurisk/icons/exclamationcircle_coral.png"/>
          <p:cNvPicPr>
            <a:picLocks noChangeAspect="1"/>
          </p:cNvPicPr>
          <p:nvPr/>
        </p:nvPicPr>
        <p:blipFill>
          <a:blip r:embed="rId7"/>
          <a:stretch>
            <a:fillRect/>
          </a:stretch>
        </p:blipFill>
        <p:spPr>
          <a:xfrm>
            <a:off x="10214519" y="2249840"/>
            <a:ext cx="502920" cy="502920"/>
          </a:xfrm>
          <a:prstGeom prst="rect">
            <a:avLst/>
          </a:prstGeom>
        </p:spPr>
      </p:pic>
      <p:sp>
        <p:nvSpPr>
          <p:cNvPr id="30" name="Text 23"/>
          <p:cNvSpPr txBox="1"/>
          <p:nvPr/>
        </p:nvSpPr>
        <p:spPr>
          <a:xfrm>
            <a:off x="9280337" y="2836690"/>
            <a:ext cx="2331720" cy="502920"/>
          </a:xfrm>
          <a:prstGeom prst="rect">
            <a:avLst/>
          </a:prstGeom>
          <a:noFill/>
          <a:ln/>
        </p:spPr>
        <p:txBody>
          <a:bodyPr wrap="square" lIns="0" tIns="0" rIns="0" bIns="0" rtlCol="0" anchor="ctr"/>
          <a:lstStyle/>
          <a:p>
            <a:pPr marL="0" indent="0" algn="ctr">
              <a:buNone/>
            </a:pPr>
            <a:r>
              <a:rPr lang="en-US" sz="1200" b="1" dirty="0">
                <a:solidFill>
                  <a:srgbClr val="E14B5A"/>
                </a:solidFill>
                <a:latin typeface="Calibri" pitchFamily="34" charset="0"/>
                <a:ea typeface="Calibri" pitchFamily="34" charset="-122"/>
                <a:cs typeface="Calibri" pitchFamily="34" charset="-120"/>
              </a:rPr>
              <a:t>Academic</a:t>
            </a:r>
            <a:endParaRPr lang="en-US" sz="1200" dirty="0"/>
          </a:p>
          <a:p>
            <a:pPr marL="0" indent="0" algn="ctr">
              <a:buNone/>
            </a:pPr>
            <a:r>
              <a:rPr lang="en-US" sz="1200" b="1" dirty="0">
                <a:solidFill>
                  <a:srgbClr val="E14B5A"/>
                </a:solidFill>
                <a:latin typeface="Calibri" pitchFamily="34" charset="0"/>
                <a:ea typeface="Calibri" pitchFamily="34" charset="-122"/>
                <a:cs typeface="Calibri" pitchFamily="34" charset="-120"/>
              </a:rPr>
              <a:t>Failure Risk</a:t>
            </a:r>
            <a:endParaRPr lang="en-US" sz="1200" dirty="0"/>
          </a:p>
        </p:txBody>
      </p:sp>
      <p:sp>
        <p:nvSpPr>
          <p:cNvPr id="31" name="Text 24"/>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04</a:t>
            </a:r>
            <a:endParaRPr lang="en-US" sz="1000" dirty="0"/>
          </a:p>
        </p:txBody>
      </p:sp>
      <p:sp>
        <p:nvSpPr>
          <p:cNvPr id="32" name="Text 25"/>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pic>
        <p:nvPicPr>
          <p:cNvPr id="34" name="Picture 33">
            <a:extLst>
              <a:ext uri="{FF2B5EF4-FFF2-40B4-BE49-F238E27FC236}">
                <a16:creationId xmlns:a16="http://schemas.microsoft.com/office/drawing/2014/main" id="{E5A9CCA6-139D-3919-57C2-D8CB000EA462}"/>
              </a:ext>
            </a:extLst>
          </p:cNvPr>
          <p:cNvPicPr>
            <a:picLocks noChangeAspect="1"/>
          </p:cNvPicPr>
          <p:nvPr/>
        </p:nvPicPr>
        <p:blipFill>
          <a:blip r:embed="rId8"/>
          <a:stretch>
            <a:fillRect/>
          </a:stretch>
        </p:blipFill>
        <p:spPr>
          <a:xfrm>
            <a:off x="0" y="3925412"/>
            <a:ext cx="12192000" cy="2272757"/>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BEFORE TRAINING</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Data Quality Checks</a:t>
            </a:r>
            <a:endParaRPr lang="en-US" sz="3000" dirty="0"/>
          </a:p>
        </p:txBody>
      </p:sp>
      <p:sp>
        <p:nvSpPr>
          <p:cNvPr id="4" name="Shape 2"/>
          <p:cNvSpPr/>
          <p:nvPr/>
        </p:nvSpPr>
        <p:spPr>
          <a:xfrm>
            <a:off x="548640" y="1783080"/>
            <a:ext cx="2526030" cy="3383280"/>
          </a:xfrm>
          <a:prstGeom prst="roundRect">
            <a:avLst>
              <a:gd name="adj" fmla="val 289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1509903" y="2075688"/>
            <a:ext cx="603504" cy="603504"/>
          </a:xfrm>
          <a:prstGeom prst="ellipse">
            <a:avLst/>
          </a:prstGeom>
          <a:solidFill>
            <a:srgbClr val="6C3FC5"/>
          </a:solidFill>
          <a:ln/>
        </p:spPr>
        <p:txBody>
          <a:bodyPr/>
          <a:lstStyle/>
          <a:p>
            <a:endParaRPr lang="en-AE"/>
          </a:p>
        </p:txBody>
      </p:sp>
      <p:pic>
        <p:nvPicPr>
          <p:cNvPr id="6" name="Image 0" descr="/home/claude/edurisk/icons/infocircle_white.png"/>
          <p:cNvPicPr>
            <a:picLocks noChangeAspect="1"/>
          </p:cNvPicPr>
          <p:nvPr/>
        </p:nvPicPr>
        <p:blipFill>
          <a:blip r:embed="rId3"/>
          <a:stretch>
            <a:fillRect/>
          </a:stretch>
        </p:blipFill>
        <p:spPr>
          <a:xfrm>
            <a:off x="1654744" y="2220529"/>
            <a:ext cx="313822" cy="313822"/>
          </a:xfrm>
          <a:prstGeom prst="rect">
            <a:avLst/>
          </a:prstGeom>
        </p:spPr>
      </p:pic>
      <p:sp>
        <p:nvSpPr>
          <p:cNvPr id="7" name="Text 4"/>
          <p:cNvSpPr txBox="1"/>
          <p:nvPr/>
        </p:nvSpPr>
        <p:spPr>
          <a:xfrm>
            <a:off x="658368" y="2880360"/>
            <a:ext cx="2306574" cy="411480"/>
          </a:xfrm>
          <a:prstGeom prst="rect">
            <a:avLst/>
          </a:prstGeom>
          <a:noFill/>
          <a:ln/>
        </p:spPr>
        <p:txBody>
          <a:bodyPr wrap="square" lIns="0" tIns="0" rIns="0" bIns="0" rtlCol="0" anchor="ctr"/>
          <a:lstStyle/>
          <a:p>
            <a:pPr marL="0" indent="0" algn="ctr">
              <a:buNone/>
            </a:pPr>
            <a:r>
              <a:rPr lang="en-US" sz="1450" b="1" dirty="0">
                <a:solidFill>
                  <a:srgbClr val="1B1F4B"/>
                </a:solidFill>
                <a:latin typeface="Cambria" pitchFamily="34" charset="0"/>
                <a:ea typeface="Cambria" pitchFamily="34" charset="-122"/>
                <a:cs typeface="Cambria" pitchFamily="34" charset="-120"/>
              </a:rPr>
              <a:t>Dataset Info</a:t>
            </a:r>
            <a:endParaRPr lang="en-US" sz="1450" dirty="0"/>
          </a:p>
        </p:txBody>
      </p:sp>
      <p:sp>
        <p:nvSpPr>
          <p:cNvPr id="8" name="Shape 5"/>
          <p:cNvSpPr/>
          <p:nvPr/>
        </p:nvSpPr>
        <p:spPr>
          <a:xfrm>
            <a:off x="685800" y="3355848"/>
            <a:ext cx="2251710" cy="365760"/>
          </a:xfrm>
          <a:prstGeom prst="roundRect">
            <a:avLst>
              <a:gd name="adj" fmla="val 15000"/>
            </a:avLst>
          </a:prstGeom>
          <a:solidFill>
            <a:srgbClr val="F4F3FA"/>
          </a:solidFill>
          <a:ln/>
        </p:spPr>
        <p:txBody>
          <a:bodyPr/>
          <a:lstStyle/>
          <a:p>
            <a:endParaRPr lang="en-AE"/>
          </a:p>
        </p:txBody>
      </p:sp>
      <p:sp>
        <p:nvSpPr>
          <p:cNvPr id="9" name="Text 6"/>
          <p:cNvSpPr txBox="1"/>
          <p:nvPr/>
        </p:nvSpPr>
        <p:spPr>
          <a:xfrm>
            <a:off x="685800" y="3355848"/>
            <a:ext cx="2251710" cy="365760"/>
          </a:xfrm>
          <a:prstGeom prst="rect">
            <a:avLst/>
          </a:prstGeom>
          <a:noFill/>
          <a:ln/>
        </p:spPr>
        <p:txBody>
          <a:bodyPr wrap="square" lIns="0" tIns="0" rIns="0" bIns="0" rtlCol="0" anchor="ctr"/>
          <a:lstStyle/>
          <a:p>
            <a:pPr marL="0" indent="0" algn="ctr">
              <a:buNone/>
            </a:pPr>
            <a:r>
              <a:rPr lang="en-US" sz="950" dirty="0">
                <a:solidFill>
                  <a:srgbClr val="6C3FC5"/>
                </a:solidFill>
                <a:latin typeface="Courier New" pitchFamily="34" charset="0"/>
                <a:ea typeface="Courier New" pitchFamily="34" charset="-122"/>
                <a:cs typeface="Courier New" pitchFamily="34" charset="-120"/>
              </a:rPr>
              <a:t>df.info()</a:t>
            </a:r>
            <a:endParaRPr lang="en-US" sz="950" dirty="0"/>
          </a:p>
        </p:txBody>
      </p:sp>
      <p:sp>
        <p:nvSpPr>
          <p:cNvPr id="10" name="Text 7"/>
          <p:cNvSpPr txBox="1"/>
          <p:nvPr/>
        </p:nvSpPr>
        <p:spPr>
          <a:xfrm>
            <a:off x="685800" y="3840480"/>
            <a:ext cx="2251710" cy="118872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Confirms column types &amp; structure before modeling</a:t>
            </a:r>
            <a:endParaRPr lang="en-US" sz="1100" dirty="0"/>
          </a:p>
        </p:txBody>
      </p:sp>
      <p:sp>
        <p:nvSpPr>
          <p:cNvPr id="11" name="Shape 8"/>
          <p:cNvSpPr/>
          <p:nvPr/>
        </p:nvSpPr>
        <p:spPr>
          <a:xfrm>
            <a:off x="3394710" y="1783080"/>
            <a:ext cx="2526030" cy="3383280"/>
          </a:xfrm>
          <a:prstGeom prst="roundRect">
            <a:avLst>
              <a:gd name="adj" fmla="val 289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2" name="Shape 9"/>
          <p:cNvSpPr/>
          <p:nvPr/>
        </p:nvSpPr>
        <p:spPr>
          <a:xfrm>
            <a:off x="4355973" y="2075688"/>
            <a:ext cx="603504" cy="603504"/>
          </a:xfrm>
          <a:prstGeom prst="ellipse">
            <a:avLst/>
          </a:prstGeom>
          <a:solidFill>
            <a:srgbClr val="6C3FC5"/>
          </a:solidFill>
          <a:ln/>
        </p:spPr>
        <p:txBody>
          <a:bodyPr/>
          <a:lstStyle/>
          <a:p>
            <a:endParaRPr lang="en-AE"/>
          </a:p>
        </p:txBody>
      </p:sp>
      <p:pic>
        <p:nvPicPr>
          <p:cNvPr id="13" name="Image 1" descr="/home/claude/edurisk/icons/questioncircle_white.png"/>
          <p:cNvPicPr>
            <a:picLocks noChangeAspect="1"/>
          </p:cNvPicPr>
          <p:nvPr/>
        </p:nvPicPr>
        <p:blipFill>
          <a:blip r:embed="rId4"/>
          <a:stretch>
            <a:fillRect/>
          </a:stretch>
        </p:blipFill>
        <p:spPr>
          <a:xfrm>
            <a:off x="4500814" y="2220529"/>
            <a:ext cx="313822" cy="313822"/>
          </a:xfrm>
          <a:prstGeom prst="rect">
            <a:avLst/>
          </a:prstGeom>
        </p:spPr>
      </p:pic>
      <p:sp>
        <p:nvSpPr>
          <p:cNvPr id="14" name="Text 10"/>
          <p:cNvSpPr txBox="1"/>
          <p:nvPr/>
        </p:nvSpPr>
        <p:spPr>
          <a:xfrm>
            <a:off x="3504438" y="2880360"/>
            <a:ext cx="2306574" cy="411480"/>
          </a:xfrm>
          <a:prstGeom prst="rect">
            <a:avLst/>
          </a:prstGeom>
          <a:noFill/>
          <a:ln/>
        </p:spPr>
        <p:txBody>
          <a:bodyPr wrap="square" lIns="0" tIns="0" rIns="0" bIns="0" rtlCol="0" anchor="ctr"/>
          <a:lstStyle/>
          <a:p>
            <a:pPr marL="0" indent="0" algn="ctr">
              <a:buNone/>
            </a:pPr>
            <a:r>
              <a:rPr lang="en-US" sz="1450" b="1" dirty="0">
                <a:solidFill>
                  <a:srgbClr val="1B1F4B"/>
                </a:solidFill>
                <a:latin typeface="Cambria" pitchFamily="34" charset="0"/>
                <a:ea typeface="Cambria" pitchFamily="34" charset="-122"/>
                <a:cs typeface="Cambria" pitchFamily="34" charset="-120"/>
              </a:rPr>
              <a:t>Missing Values</a:t>
            </a:r>
            <a:endParaRPr lang="en-US" sz="1450" dirty="0"/>
          </a:p>
        </p:txBody>
      </p:sp>
      <p:sp>
        <p:nvSpPr>
          <p:cNvPr id="15" name="Shape 11"/>
          <p:cNvSpPr/>
          <p:nvPr/>
        </p:nvSpPr>
        <p:spPr>
          <a:xfrm>
            <a:off x="3531870" y="3355848"/>
            <a:ext cx="2251710" cy="365760"/>
          </a:xfrm>
          <a:prstGeom prst="roundRect">
            <a:avLst>
              <a:gd name="adj" fmla="val 15000"/>
            </a:avLst>
          </a:prstGeom>
          <a:solidFill>
            <a:srgbClr val="F4F3FA"/>
          </a:solidFill>
          <a:ln/>
        </p:spPr>
        <p:txBody>
          <a:bodyPr/>
          <a:lstStyle/>
          <a:p>
            <a:endParaRPr lang="en-AE"/>
          </a:p>
        </p:txBody>
      </p:sp>
      <p:sp>
        <p:nvSpPr>
          <p:cNvPr id="16" name="Text 12"/>
          <p:cNvSpPr txBox="1"/>
          <p:nvPr/>
        </p:nvSpPr>
        <p:spPr>
          <a:xfrm>
            <a:off x="3531870" y="3355848"/>
            <a:ext cx="2251710" cy="365760"/>
          </a:xfrm>
          <a:prstGeom prst="rect">
            <a:avLst/>
          </a:prstGeom>
          <a:noFill/>
          <a:ln/>
        </p:spPr>
        <p:txBody>
          <a:bodyPr wrap="square" lIns="0" tIns="0" rIns="0" bIns="0" rtlCol="0" anchor="ctr"/>
          <a:lstStyle/>
          <a:p>
            <a:pPr marL="0" indent="0" algn="ctr">
              <a:buNone/>
            </a:pPr>
            <a:r>
              <a:rPr lang="en-US" sz="950" dirty="0">
                <a:solidFill>
                  <a:srgbClr val="6C3FC5"/>
                </a:solidFill>
                <a:latin typeface="Courier New" pitchFamily="34" charset="0"/>
                <a:ea typeface="Courier New" pitchFamily="34" charset="-122"/>
                <a:cs typeface="Courier New" pitchFamily="34" charset="-120"/>
              </a:rPr>
              <a:t>df.isnull().sum()</a:t>
            </a:r>
            <a:endParaRPr lang="en-US" sz="950" dirty="0"/>
          </a:p>
        </p:txBody>
      </p:sp>
      <p:sp>
        <p:nvSpPr>
          <p:cNvPr id="17" name="Text 13"/>
          <p:cNvSpPr txBox="1"/>
          <p:nvPr/>
        </p:nvSpPr>
        <p:spPr>
          <a:xfrm>
            <a:off x="3531870" y="3840480"/>
            <a:ext cx="2251710" cy="118872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Missing data can bias or break training</a:t>
            </a:r>
            <a:endParaRPr lang="en-US" sz="1100" dirty="0"/>
          </a:p>
        </p:txBody>
      </p:sp>
      <p:sp>
        <p:nvSpPr>
          <p:cNvPr id="18" name="Shape 14"/>
          <p:cNvSpPr/>
          <p:nvPr/>
        </p:nvSpPr>
        <p:spPr>
          <a:xfrm>
            <a:off x="6240780" y="1783080"/>
            <a:ext cx="2526030" cy="3383280"/>
          </a:xfrm>
          <a:prstGeom prst="roundRect">
            <a:avLst>
              <a:gd name="adj" fmla="val 289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9" name="Shape 15"/>
          <p:cNvSpPr/>
          <p:nvPr/>
        </p:nvSpPr>
        <p:spPr>
          <a:xfrm>
            <a:off x="7202043" y="2075688"/>
            <a:ext cx="603504" cy="603504"/>
          </a:xfrm>
          <a:prstGeom prst="ellipse">
            <a:avLst/>
          </a:prstGeom>
          <a:solidFill>
            <a:srgbClr val="6C3FC5"/>
          </a:solidFill>
          <a:ln/>
        </p:spPr>
        <p:txBody>
          <a:bodyPr/>
          <a:lstStyle/>
          <a:p>
            <a:endParaRPr lang="en-AE"/>
          </a:p>
        </p:txBody>
      </p:sp>
      <p:pic>
        <p:nvPicPr>
          <p:cNvPr id="20" name="Image 2" descr="/home/claude/edurisk/icons/copy_white.png"/>
          <p:cNvPicPr>
            <a:picLocks noChangeAspect="1"/>
          </p:cNvPicPr>
          <p:nvPr/>
        </p:nvPicPr>
        <p:blipFill>
          <a:blip r:embed="rId5"/>
          <a:stretch>
            <a:fillRect/>
          </a:stretch>
        </p:blipFill>
        <p:spPr>
          <a:xfrm>
            <a:off x="7346884" y="2220529"/>
            <a:ext cx="313822" cy="313822"/>
          </a:xfrm>
          <a:prstGeom prst="rect">
            <a:avLst/>
          </a:prstGeom>
        </p:spPr>
      </p:pic>
      <p:sp>
        <p:nvSpPr>
          <p:cNvPr id="21" name="Text 16"/>
          <p:cNvSpPr txBox="1"/>
          <p:nvPr/>
        </p:nvSpPr>
        <p:spPr>
          <a:xfrm>
            <a:off x="6350508" y="2880360"/>
            <a:ext cx="2306574" cy="411480"/>
          </a:xfrm>
          <a:prstGeom prst="rect">
            <a:avLst/>
          </a:prstGeom>
          <a:noFill/>
          <a:ln/>
        </p:spPr>
        <p:txBody>
          <a:bodyPr wrap="square" lIns="0" tIns="0" rIns="0" bIns="0" rtlCol="0" anchor="ctr"/>
          <a:lstStyle/>
          <a:p>
            <a:pPr marL="0" indent="0" algn="ctr">
              <a:buNone/>
            </a:pPr>
            <a:r>
              <a:rPr lang="en-US" sz="1450" b="1" dirty="0">
                <a:solidFill>
                  <a:srgbClr val="1B1F4B"/>
                </a:solidFill>
                <a:latin typeface="Cambria" pitchFamily="34" charset="0"/>
                <a:ea typeface="Cambria" pitchFamily="34" charset="-122"/>
                <a:cs typeface="Cambria" pitchFamily="34" charset="-120"/>
              </a:rPr>
              <a:t>Duplicate Rows</a:t>
            </a:r>
            <a:endParaRPr lang="en-US" sz="1450" dirty="0"/>
          </a:p>
        </p:txBody>
      </p:sp>
      <p:sp>
        <p:nvSpPr>
          <p:cNvPr id="22" name="Shape 17"/>
          <p:cNvSpPr/>
          <p:nvPr/>
        </p:nvSpPr>
        <p:spPr>
          <a:xfrm>
            <a:off x="6377940" y="3355848"/>
            <a:ext cx="2251710" cy="365760"/>
          </a:xfrm>
          <a:prstGeom prst="roundRect">
            <a:avLst>
              <a:gd name="adj" fmla="val 15000"/>
            </a:avLst>
          </a:prstGeom>
          <a:solidFill>
            <a:srgbClr val="F4F3FA"/>
          </a:solidFill>
          <a:ln/>
        </p:spPr>
        <p:txBody>
          <a:bodyPr/>
          <a:lstStyle/>
          <a:p>
            <a:endParaRPr lang="en-AE"/>
          </a:p>
        </p:txBody>
      </p:sp>
      <p:sp>
        <p:nvSpPr>
          <p:cNvPr id="23" name="Text 18"/>
          <p:cNvSpPr txBox="1"/>
          <p:nvPr/>
        </p:nvSpPr>
        <p:spPr>
          <a:xfrm>
            <a:off x="6377940" y="3355848"/>
            <a:ext cx="2251710" cy="365760"/>
          </a:xfrm>
          <a:prstGeom prst="rect">
            <a:avLst/>
          </a:prstGeom>
          <a:noFill/>
          <a:ln/>
        </p:spPr>
        <p:txBody>
          <a:bodyPr wrap="square" lIns="0" tIns="0" rIns="0" bIns="0" rtlCol="0" anchor="ctr"/>
          <a:lstStyle/>
          <a:p>
            <a:pPr marL="0" indent="0" algn="ctr">
              <a:buNone/>
            </a:pPr>
            <a:r>
              <a:rPr lang="en-US" sz="950" dirty="0">
                <a:solidFill>
                  <a:srgbClr val="6C3FC5"/>
                </a:solidFill>
                <a:latin typeface="Courier New" pitchFamily="34" charset="0"/>
                <a:ea typeface="Courier New" pitchFamily="34" charset="-122"/>
                <a:cs typeface="Courier New" pitchFamily="34" charset="-120"/>
              </a:rPr>
              <a:t>df.duplicated().sum()</a:t>
            </a:r>
            <a:endParaRPr lang="en-US" sz="950" dirty="0"/>
          </a:p>
        </p:txBody>
      </p:sp>
      <p:sp>
        <p:nvSpPr>
          <p:cNvPr id="24" name="Text 19"/>
          <p:cNvSpPr txBox="1"/>
          <p:nvPr/>
        </p:nvSpPr>
        <p:spPr>
          <a:xfrm>
            <a:off x="6377940" y="3840480"/>
            <a:ext cx="2251710" cy="118872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Duplicates can inflate performance metrics</a:t>
            </a:r>
            <a:endParaRPr lang="en-US" sz="1100" dirty="0"/>
          </a:p>
        </p:txBody>
      </p:sp>
      <p:sp>
        <p:nvSpPr>
          <p:cNvPr id="25" name="Shape 20"/>
          <p:cNvSpPr/>
          <p:nvPr/>
        </p:nvSpPr>
        <p:spPr>
          <a:xfrm>
            <a:off x="9086850" y="1783080"/>
            <a:ext cx="2526030" cy="3383280"/>
          </a:xfrm>
          <a:prstGeom prst="roundRect">
            <a:avLst>
              <a:gd name="adj" fmla="val 2896"/>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6" name="Shape 21"/>
          <p:cNvSpPr/>
          <p:nvPr/>
        </p:nvSpPr>
        <p:spPr>
          <a:xfrm>
            <a:off x="10048113" y="2075688"/>
            <a:ext cx="603504" cy="603504"/>
          </a:xfrm>
          <a:prstGeom prst="ellipse">
            <a:avLst/>
          </a:prstGeom>
          <a:solidFill>
            <a:srgbClr val="6C3FC5"/>
          </a:solidFill>
          <a:ln/>
        </p:spPr>
        <p:txBody>
          <a:bodyPr/>
          <a:lstStyle/>
          <a:p>
            <a:endParaRPr lang="en-AE"/>
          </a:p>
        </p:txBody>
      </p:sp>
      <p:pic>
        <p:nvPicPr>
          <p:cNvPr id="27" name="Image 3" descr="/home/claude/edurisk/icons/calculator_white.png"/>
          <p:cNvPicPr>
            <a:picLocks noChangeAspect="1"/>
          </p:cNvPicPr>
          <p:nvPr/>
        </p:nvPicPr>
        <p:blipFill>
          <a:blip r:embed="rId6"/>
          <a:stretch>
            <a:fillRect/>
          </a:stretch>
        </p:blipFill>
        <p:spPr>
          <a:xfrm>
            <a:off x="10192954" y="2220529"/>
            <a:ext cx="313822" cy="313822"/>
          </a:xfrm>
          <a:prstGeom prst="rect">
            <a:avLst/>
          </a:prstGeom>
        </p:spPr>
      </p:pic>
      <p:sp>
        <p:nvSpPr>
          <p:cNvPr id="28" name="Text 22"/>
          <p:cNvSpPr txBox="1"/>
          <p:nvPr/>
        </p:nvSpPr>
        <p:spPr>
          <a:xfrm>
            <a:off x="9196578" y="2880360"/>
            <a:ext cx="2306574" cy="411480"/>
          </a:xfrm>
          <a:prstGeom prst="rect">
            <a:avLst/>
          </a:prstGeom>
          <a:noFill/>
          <a:ln/>
        </p:spPr>
        <p:txBody>
          <a:bodyPr wrap="square" lIns="0" tIns="0" rIns="0" bIns="0" rtlCol="0" anchor="ctr"/>
          <a:lstStyle/>
          <a:p>
            <a:pPr marL="0" indent="0" algn="ctr">
              <a:buNone/>
            </a:pPr>
            <a:r>
              <a:rPr lang="en-US" sz="1450" b="1" dirty="0">
                <a:solidFill>
                  <a:srgbClr val="1B1F4B"/>
                </a:solidFill>
                <a:latin typeface="Cambria" pitchFamily="34" charset="0"/>
                <a:ea typeface="Cambria" pitchFamily="34" charset="-122"/>
                <a:cs typeface="Cambria" pitchFamily="34" charset="-120"/>
              </a:rPr>
              <a:t>Descriptive Stats</a:t>
            </a:r>
            <a:endParaRPr lang="en-US" sz="1450" dirty="0"/>
          </a:p>
        </p:txBody>
      </p:sp>
      <p:sp>
        <p:nvSpPr>
          <p:cNvPr id="29" name="Shape 23"/>
          <p:cNvSpPr/>
          <p:nvPr/>
        </p:nvSpPr>
        <p:spPr>
          <a:xfrm>
            <a:off x="9224010" y="3355848"/>
            <a:ext cx="2251710" cy="365760"/>
          </a:xfrm>
          <a:prstGeom prst="roundRect">
            <a:avLst>
              <a:gd name="adj" fmla="val 15000"/>
            </a:avLst>
          </a:prstGeom>
          <a:solidFill>
            <a:srgbClr val="F4F3FA"/>
          </a:solidFill>
          <a:ln/>
        </p:spPr>
        <p:txBody>
          <a:bodyPr/>
          <a:lstStyle/>
          <a:p>
            <a:endParaRPr lang="en-AE"/>
          </a:p>
        </p:txBody>
      </p:sp>
      <p:sp>
        <p:nvSpPr>
          <p:cNvPr id="30" name="Text 24"/>
          <p:cNvSpPr txBox="1"/>
          <p:nvPr/>
        </p:nvSpPr>
        <p:spPr>
          <a:xfrm>
            <a:off x="9224010" y="3355848"/>
            <a:ext cx="2251710" cy="365760"/>
          </a:xfrm>
          <a:prstGeom prst="rect">
            <a:avLst/>
          </a:prstGeom>
          <a:noFill/>
          <a:ln/>
        </p:spPr>
        <p:txBody>
          <a:bodyPr wrap="square" lIns="0" tIns="0" rIns="0" bIns="0" rtlCol="0" anchor="ctr"/>
          <a:lstStyle/>
          <a:p>
            <a:pPr marL="0" indent="0" algn="ctr">
              <a:buNone/>
            </a:pPr>
            <a:r>
              <a:rPr lang="en-US" sz="950" dirty="0">
                <a:solidFill>
                  <a:srgbClr val="6C3FC5"/>
                </a:solidFill>
                <a:latin typeface="Courier New" pitchFamily="34" charset="0"/>
                <a:ea typeface="Courier New" pitchFamily="34" charset="-122"/>
                <a:cs typeface="Courier New" pitchFamily="34" charset="-120"/>
              </a:rPr>
              <a:t>df.describe()</a:t>
            </a:r>
            <a:endParaRPr lang="en-US" sz="950" dirty="0"/>
          </a:p>
        </p:txBody>
      </p:sp>
      <p:sp>
        <p:nvSpPr>
          <p:cNvPr id="31" name="Text 25"/>
          <p:cNvSpPr txBox="1"/>
          <p:nvPr/>
        </p:nvSpPr>
        <p:spPr>
          <a:xfrm>
            <a:off x="9224010" y="3840480"/>
            <a:ext cx="2251710" cy="118872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Reveals scale, spread &amp; outliers</a:t>
            </a:r>
            <a:endParaRPr lang="en-US" sz="1100" dirty="0"/>
          </a:p>
        </p:txBody>
      </p:sp>
      <p:sp>
        <p:nvSpPr>
          <p:cNvPr id="32" name="Text 26"/>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05</a:t>
            </a:r>
            <a:endParaRPr lang="en-US" sz="1000" dirty="0"/>
          </a:p>
        </p:txBody>
      </p:sp>
      <p:sp>
        <p:nvSpPr>
          <p:cNvPr id="33" name="Text 27"/>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PREPARING THE DATA</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Data Preprocessing Pipeline</a:t>
            </a:r>
            <a:endParaRPr lang="en-US" sz="3000" dirty="0"/>
          </a:p>
        </p:txBody>
      </p:sp>
      <p:sp>
        <p:nvSpPr>
          <p:cNvPr id="4" name="Shape 2"/>
          <p:cNvSpPr/>
          <p:nvPr/>
        </p:nvSpPr>
        <p:spPr>
          <a:xfrm>
            <a:off x="548640" y="1691640"/>
            <a:ext cx="1630680" cy="1600200"/>
          </a:xfrm>
          <a:prstGeom prst="roundRect">
            <a:avLst>
              <a:gd name="adj" fmla="val 457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1089660" y="1892808"/>
            <a:ext cx="548640" cy="548640"/>
          </a:xfrm>
          <a:prstGeom prst="ellipse">
            <a:avLst/>
          </a:prstGeom>
          <a:solidFill>
            <a:srgbClr val="6C3FC5"/>
          </a:solidFill>
          <a:ln/>
        </p:spPr>
        <p:txBody>
          <a:bodyPr/>
          <a:lstStyle/>
          <a:p>
            <a:endParaRPr lang="en-AE"/>
          </a:p>
        </p:txBody>
      </p:sp>
      <p:pic>
        <p:nvPicPr>
          <p:cNvPr id="6" name="Image 0" descr="/home/claude/edurisk/icons/database_white.png"/>
          <p:cNvPicPr>
            <a:picLocks noChangeAspect="1"/>
          </p:cNvPicPr>
          <p:nvPr/>
        </p:nvPicPr>
        <p:blipFill>
          <a:blip r:embed="rId3"/>
          <a:stretch>
            <a:fillRect/>
          </a:stretch>
        </p:blipFill>
        <p:spPr>
          <a:xfrm>
            <a:off x="1221334" y="2024482"/>
            <a:ext cx="285293" cy="285293"/>
          </a:xfrm>
          <a:prstGeom prst="rect">
            <a:avLst/>
          </a:prstGeom>
        </p:spPr>
      </p:pic>
      <p:sp>
        <p:nvSpPr>
          <p:cNvPr id="7" name="Text 4"/>
          <p:cNvSpPr txBox="1"/>
          <p:nvPr/>
        </p:nvSpPr>
        <p:spPr>
          <a:xfrm>
            <a:off x="603504" y="2560320"/>
            <a:ext cx="1520952" cy="640080"/>
          </a:xfrm>
          <a:prstGeom prst="rect">
            <a:avLst/>
          </a:prstGeom>
          <a:noFill/>
          <a:ln/>
        </p:spPr>
        <p:txBody>
          <a:bodyPr wrap="square" lIns="0" tIns="0" rIns="0" bIns="0" rtlCol="0" anchor="ctr"/>
          <a:lstStyle/>
          <a:p>
            <a:pPr marL="0" indent="0" algn="ctr">
              <a:buNone/>
            </a:pPr>
            <a:r>
              <a:rPr lang="en-US" sz="1150" b="1" dirty="0">
                <a:solidFill>
                  <a:srgbClr val="1B1F4B"/>
                </a:solidFill>
                <a:latin typeface="Calibri" pitchFamily="34" charset="0"/>
                <a:ea typeface="Calibri" pitchFamily="34" charset="-122"/>
                <a:cs typeface="Calibri" pitchFamily="34" charset="-120"/>
              </a:rPr>
              <a:t>Raw Data</a:t>
            </a:r>
            <a:endParaRPr lang="en-US" sz="1150" dirty="0"/>
          </a:p>
        </p:txBody>
      </p:sp>
      <p:sp>
        <p:nvSpPr>
          <p:cNvPr id="8" name="Shape 5"/>
          <p:cNvSpPr/>
          <p:nvPr/>
        </p:nvSpPr>
        <p:spPr>
          <a:xfrm>
            <a:off x="2197608" y="2436876"/>
            <a:ext cx="219456" cy="109728"/>
          </a:xfrm>
          <a:prstGeom prst="rightArrow">
            <a:avLst/>
          </a:prstGeom>
          <a:solidFill>
            <a:srgbClr val="E4E3EE"/>
          </a:solidFill>
          <a:ln/>
        </p:spPr>
        <p:txBody>
          <a:bodyPr/>
          <a:lstStyle/>
          <a:p>
            <a:endParaRPr lang="en-AE"/>
          </a:p>
        </p:txBody>
      </p:sp>
      <p:sp>
        <p:nvSpPr>
          <p:cNvPr id="9" name="Shape 6"/>
          <p:cNvSpPr/>
          <p:nvPr/>
        </p:nvSpPr>
        <p:spPr>
          <a:xfrm>
            <a:off x="2435352" y="1691640"/>
            <a:ext cx="1630680" cy="1600200"/>
          </a:xfrm>
          <a:prstGeom prst="roundRect">
            <a:avLst>
              <a:gd name="adj" fmla="val 457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0" name="Shape 7"/>
          <p:cNvSpPr/>
          <p:nvPr/>
        </p:nvSpPr>
        <p:spPr>
          <a:xfrm>
            <a:off x="2976372" y="1892808"/>
            <a:ext cx="548640" cy="548640"/>
          </a:xfrm>
          <a:prstGeom prst="ellipse">
            <a:avLst/>
          </a:prstGeom>
          <a:solidFill>
            <a:srgbClr val="6C3FC5"/>
          </a:solidFill>
          <a:ln/>
        </p:spPr>
        <p:txBody>
          <a:bodyPr/>
          <a:lstStyle/>
          <a:p>
            <a:endParaRPr lang="en-AE"/>
          </a:p>
        </p:txBody>
      </p:sp>
      <p:pic>
        <p:nvPicPr>
          <p:cNvPr id="11" name="Image 1" descr="/home/claude/edurisk/icons/filter_white.png"/>
          <p:cNvPicPr>
            <a:picLocks noChangeAspect="1"/>
          </p:cNvPicPr>
          <p:nvPr/>
        </p:nvPicPr>
        <p:blipFill>
          <a:blip r:embed="rId4"/>
          <a:stretch>
            <a:fillRect/>
          </a:stretch>
        </p:blipFill>
        <p:spPr>
          <a:xfrm>
            <a:off x="3108046" y="2024482"/>
            <a:ext cx="285293" cy="285293"/>
          </a:xfrm>
          <a:prstGeom prst="rect">
            <a:avLst/>
          </a:prstGeom>
        </p:spPr>
      </p:pic>
      <p:sp>
        <p:nvSpPr>
          <p:cNvPr id="12" name="Text 8"/>
          <p:cNvSpPr txBox="1"/>
          <p:nvPr/>
        </p:nvSpPr>
        <p:spPr>
          <a:xfrm>
            <a:off x="2490216" y="2560320"/>
            <a:ext cx="1520952" cy="640080"/>
          </a:xfrm>
          <a:prstGeom prst="rect">
            <a:avLst/>
          </a:prstGeom>
          <a:noFill/>
          <a:ln/>
        </p:spPr>
        <p:txBody>
          <a:bodyPr wrap="square" lIns="0" tIns="0" rIns="0" bIns="0" rtlCol="0" anchor="ctr"/>
          <a:lstStyle/>
          <a:p>
            <a:pPr marL="0" indent="0" algn="ctr">
              <a:buNone/>
            </a:pPr>
            <a:r>
              <a:rPr lang="en-US" sz="1150" b="1" dirty="0">
                <a:solidFill>
                  <a:srgbClr val="1B1F4B"/>
                </a:solidFill>
                <a:latin typeface="Calibri" pitchFamily="34" charset="0"/>
                <a:ea typeface="Calibri" pitchFamily="34" charset="-122"/>
                <a:cs typeface="Calibri" pitchFamily="34" charset="-120"/>
              </a:rPr>
              <a:t>Feature</a:t>
            </a:r>
            <a:endParaRPr lang="en-US" sz="1150" dirty="0"/>
          </a:p>
          <a:p>
            <a:pPr marL="0" indent="0" algn="ctr">
              <a:buNone/>
            </a:pPr>
            <a:r>
              <a:rPr lang="en-US" sz="1150" b="1" dirty="0">
                <a:solidFill>
                  <a:srgbClr val="1B1F4B"/>
                </a:solidFill>
                <a:latin typeface="Calibri" pitchFamily="34" charset="0"/>
                <a:ea typeface="Calibri" pitchFamily="34" charset="-122"/>
                <a:cs typeface="Calibri" pitchFamily="34" charset="-120"/>
              </a:rPr>
              <a:t>Selection</a:t>
            </a:r>
            <a:endParaRPr lang="en-US" sz="1150" dirty="0"/>
          </a:p>
        </p:txBody>
      </p:sp>
      <p:sp>
        <p:nvSpPr>
          <p:cNvPr id="13" name="Shape 9"/>
          <p:cNvSpPr/>
          <p:nvPr/>
        </p:nvSpPr>
        <p:spPr>
          <a:xfrm>
            <a:off x="4084320" y="2436876"/>
            <a:ext cx="219456" cy="109728"/>
          </a:xfrm>
          <a:prstGeom prst="rightArrow">
            <a:avLst/>
          </a:prstGeom>
          <a:solidFill>
            <a:srgbClr val="E4E3EE"/>
          </a:solidFill>
          <a:ln/>
        </p:spPr>
        <p:txBody>
          <a:bodyPr/>
          <a:lstStyle/>
          <a:p>
            <a:endParaRPr lang="en-AE"/>
          </a:p>
        </p:txBody>
      </p:sp>
      <p:sp>
        <p:nvSpPr>
          <p:cNvPr id="14" name="Shape 10"/>
          <p:cNvSpPr/>
          <p:nvPr/>
        </p:nvSpPr>
        <p:spPr>
          <a:xfrm>
            <a:off x="4322064" y="1691640"/>
            <a:ext cx="1630680" cy="1600200"/>
          </a:xfrm>
          <a:prstGeom prst="roundRect">
            <a:avLst>
              <a:gd name="adj" fmla="val 457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5" name="Shape 11"/>
          <p:cNvSpPr/>
          <p:nvPr/>
        </p:nvSpPr>
        <p:spPr>
          <a:xfrm>
            <a:off x="4863084" y="1892808"/>
            <a:ext cx="548640" cy="548640"/>
          </a:xfrm>
          <a:prstGeom prst="ellipse">
            <a:avLst/>
          </a:prstGeom>
          <a:solidFill>
            <a:srgbClr val="6C3FC5"/>
          </a:solidFill>
          <a:ln/>
        </p:spPr>
        <p:txBody>
          <a:bodyPr/>
          <a:lstStyle/>
          <a:p>
            <a:endParaRPr lang="en-AE"/>
          </a:p>
        </p:txBody>
      </p:sp>
      <p:pic>
        <p:nvPicPr>
          <p:cNvPr id="16" name="Image 2" descr="/home/claude/edurisk/icons/tags_white.png"/>
          <p:cNvPicPr>
            <a:picLocks noChangeAspect="1"/>
          </p:cNvPicPr>
          <p:nvPr/>
        </p:nvPicPr>
        <p:blipFill>
          <a:blip r:embed="rId5"/>
          <a:stretch>
            <a:fillRect/>
          </a:stretch>
        </p:blipFill>
        <p:spPr>
          <a:xfrm>
            <a:off x="4994758" y="2024482"/>
            <a:ext cx="285293" cy="285293"/>
          </a:xfrm>
          <a:prstGeom prst="rect">
            <a:avLst/>
          </a:prstGeom>
        </p:spPr>
      </p:pic>
      <p:sp>
        <p:nvSpPr>
          <p:cNvPr id="17" name="Text 12"/>
          <p:cNvSpPr txBox="1"/>
          <p:nvPr/>
        </p:nvSpPr>
        <p:spPr>
          <a:xfrm>
            <a:off x="4376928" y="2560320"/>
            <a:ext cx="1520952" cy="640080"/>
          </a:xfrm>
          <a:prstGeom prst="rect">
            <a:avLst/>
          </a:prstGeom>
          <a:noFill/>
          <a:ln/>
        </p:spPr>
        <p:txBody>
          <a:bodyPr wrap="square" lIns="0" tIns="0" rIns="0" bIns="0" rtlCol="0" anchor="ctr"/>
          <a:lstStyle/>
          <a:p>
            <a:pPr marL="0" indent="0" algn="ctr">
              <a:buNone/>
            </a:pPr>
            <a:r>
              <a:rPr lang="en-US" sz="1150" b="1" dirty="0">
                <a:solidFill>
                  <a:srgbClr val="1B1F4B"/>
                </a:solidFill>
                <a:latin typeface="Calibri" pitchFamily="34" charset="0"/>
                <a:ea typeface="Calibri" pitchFamily="34" charset="-122"/>
                <a:cs typeface="Calibri" pitchFamily="34" charset="-120"/>
              </a:rPr>
              <a:t>Categorical</a:t>
            </a:r>
            <a:endParaRPr lang="en-US" sz="1150" dirty="0"/>
          </a:p>
          <a:p>
            <a:pPr marL="0" indent="0" algn="ctr">
              <a:buNone/>
            </a:pPr>
            <a:r>
              <a:rPr lang="en-US" sz="1150" b="1" dirty="0">
                <a:solidFill>
                  <a:srgbClr val="1B1F4B"/>
                </a:solidFill>
                <a:latin typeface="Calibri" pitchFamily="34" charset="0"/>
                <a:ea typeface="Calibri" pitchFamily="34" charset="-122"/>
                <a:cs typeface="Calibri" pitchFamily="34" charset="-120"/>
              </a:rPr>
              <a:t>Encoding</a:t>
            </a:r>
            <a:endParaRPr lang="en-US" sz="1150" dirty="0"/>
          </a:p>
        </p:txBody>
      </p:sp>
      <p:sp>
        <p:nvSpPr>
          <p:cNvPr id="18" name="Shape 13"/>
          <p:cNvSpPr/>
          <p:nvPr/>
        </p:nvSpPr>
        <p:spPr>
          <a:xfrm>
            <a:off x="5971032" y="2436876"/>
            <a:ext cx="219456" cy="109728"/>
          </a:xfrm>
          <a:prstGeom prst="rightArrow">
            <a:avLst/>
          </a:prstGeom>
          <a:solidFill>
            <a:srgbClr val="E4E3EE"/>
          </a:solidFill>
          <a:ln/>
        </p:spPr>
        <p:txBody>
          <a:bodyPr/>
          <a:lstStyle/>
          <a:p>
            <a:endParaRPr lang="en-AE"/>
          </a:p>
        </p:txBody>
      </p:sp>
      <p:sp>
        <p:nvSpPr>
          <p:cNvPr id="19" name="Shape 14"/>
          <p:cNvSpPr/>
          <p:nvPr/>
        </p:nvSpPr>
        <p:spPr>
          <a:xfrm>
            <a:off x="6208776" y="1691640"/>
            <a:ext cx="1630680" cy="1600200"/>
          </a:xfrm>
          <a:prstGeom prst="roundRect">
            <a:avLst>
              <a:gd name="adj" fmla="val 457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0" name="Shape 15"/>
          <p:cNvSpPr/>
          <p:nvPr/>
        </p:nvSpPr>
        <p:spPr>
          <a:xfrm>
            <a:off x="6749796" y="1892808"/>
            <a:ext cx="548640" cy="548640"/>
          </a:xfrm>
          <a:prstGeom prst="ellipse">
            <a:avLst/>
          </a:prstGeom>
          <a:solidFill>
            <a:srgbClr val="6C3FC5"/>
          </a:solidFill>
          <a:ln/>
        </p:spPr>
        <p:txBody>
          <a:bodyPr/>
          <a:lstStyle/>
          <a:p>
            <a:endParaRPr lang="en-AE"/>
          </a:p>
        </p:txBody>
      </p:sp>
      <p:pic>
        <p:nvPicPr>
          <p:cNvPr id="21" name="Image 3" descr="/home/claude/edurisk/icons/slidersh_white.png"/>
          <p:cNvPicPr>
            <a:picLocks noChangeAspect="1"/>
          </p:cNvPicPr>
          <p:nvPr/>
        </p:nvPicPr>
        <p:blipFill>
          <a:blip r:embed="rId6"/>
          <a:stretch>
            <a:fillRect/>
          </a:stretch>
        </p:blipFill>
        <p:spPr>
          <a:xfrm>
            <a:off x="6881470" y="2024482"/>
            <a:ext cx="285293" cy="285293"/>
          </a:xfrm>
          <a:prstGeom prst="rect">
            <a:avLst/>
          </a:prstGeom>
        </p:spPr>
      </p:pic>
      <p:sp>
        <p:nvSpPr>
          <p:cNvPr id="22" name="Text 16"/>
          <p:cNvSpPr txBox="1"/>
          <p:nvPr/>
        </p:nvSpPr>
        <p:spPr>
          <a:xfrm>
            <a:off x="6263640" y="2560320"/>
            <a:ext cx="1520952" cy="640080"/>
          </a:xfrm>
          <a:prstGeom prst="rect">
            <a:avLst/>
          </a:prstGeom>
          <a:noFill/>
          <a:ln/>
        </p:spPr>
        <p:txBody>
          <a:bodyPr wrap="square" lIns="0" tIns="0" rIns="0" bIns="0" rtlCol="0" anchor="ctr"/>
          <a:lstStyle/>
          <a:p>
            <a:pPr marL="0" indent="0" algn="ctr">
              <a:buNone/>
            </a:pPr>
            <a:r>
              <a:rPr lang="en-US" sz="1150" b="1" dirty="0">
                <a:solidFill>
                  <a:srgbClr val="1B1F4B"/>
                </a:solidFill>
                <a:latin typeface="Calibri" pitchFamily="34" charset="0"/>
                <a:ea typeface="Calibri" pitchFamily="34" charset="-122"/>
                <a:cs typeface="Calibri" pitchFamily="34" charset="-120"/>
              </a:rPr>
              <a:t>Standard-</a:t>
            </a:r>
            <a:endParaRPr lang="en-US" sz="1150" dirty="0"/>
          </a:p>
          <a:p>
            <a:pPr marL="0" indent="0" algn="ctr">
              <a:buNone/>
            </a:pPr>
            <a:r>
              <a:rPr lang="en-US" sz="1150" b="1" dirty="0">
                <a:solidFill>
                  <a:srgbClr val="1B1F4B"/>
                </a:solidFill>
                <a:latin typeface="Calibri" pitchFamily="34" charset="0"/>
                <a:ea typeface="Calibri" pitchFamily="34" charset="-122"/>
                <a:cs typeface="Calibri" pitchFamily="34" charset="-120"/>
              </a:rPr>
              <a:t>ization</a:t>
            </a:r>
            <a:endParaRPr lang="en-US" sz="1150" dirty="0"/>
          </a:p>
        </p:txBody>
      </p:sp>
      <p:sp>
        <p:nvSpPr>
          <p:cNvPr id="23" name="Shape 17"/>
          <p:cNvSpPr/>
          <p:nvPr/>
        </p:nvSpPr>
        <p:spPr>
          <a:xfrm>
            <a:off x="7857744" y="2436876"/>
            <a:ext cx="219456" cy="109728"/>
          </a:xfrm>
          <a:prstGeom prst="rightArrow">
            <a:avLst/>
          </a:prstGeom>
          <a:solidFill>
            <a:srgbClr val="E4E3EE"/>
          </a:solidFill>
          <a:ln/>
        </p:spPr>
        <p:txBody>
          <a:bodyPr/>
          <a:lstStyle/>
          <a:p>
            <a:endParaRPr lang="en-AE"/>
          </a:p>
        </p:txBody>
      </p:sp>
      <p:sp>
        <p:nvSpPr>
          <p:cNvPr id="24" name="Shape 18"/>
          <p:cNvSpPr/>
          <p:nvPr/>
        </p:nvSpPr>
        <p:spPr>
          <a:xfrm>
            <a:off x="8095488" y="1691640"/>
            <a:ext cx="1630680" cy="1600200"/>
          </a:xfrm>
          <a:prstGeom prst="roundRect">
            <a:avLst>
              <a:gd name="adj" fmla="val 457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5" name="Shape 19"/>
          <p:cNvSpPr/>
          <p:nvPr/>
        </p:nvSpPr>
        <p:spPr>
          <a:xfrm>
            <a:off x="8636508" y="1892808"/>
            <a:ext cx="548640" cy="548640"/>
          </a:xfrm>
          <a:prstGeom prst="ellipse">
            <a:avLst/>
          </a:prstGeom>
          <a:solidFill>
            <a:srgbClr val="6C3FC5"/>
          </a:solidFill>
          <a:ln/>
        </p:spPr>
        <p:txBody>
          <a:bodyPr/>
          <a:lstStyle/>
          <a:p>
            <a:endParaRPr lang="en-AE"/>
          </a:p>
        </p:txBody>
      </p:sp>
      <p:pic>
        <p:nvPicPr>
          <p:cNvPr id="26" name="Image 4" descr="/home/claude/edurisk/icons/balancescale_white.png"/>
          <p:cNvPicPr>
            <a:picLocks noChangeAspect="1"/>
          </p:cNvPicPr>
          <p:nvPr/>
        </p:nvPicPr>
        <p:blipFill>
          <a:blip r:embed="rId7"/>
          <a:stretch>
            <a:fillRect/>
          </a:stretch>
        </p:blipFill>
        <p:spPr>
          <a:xfrm>
            <a:off x="8768182" y="2024482"/>
            <a:ext cx="285293" cy="285293"/>
          </a:xfrm>
          <a:prstGeom prst="rect">
            <a:avLst/>
          </a:prstGeom>
        </p:spPr>
      </p:pic>
      <p:sp>
        <p:nvSpPr>
          <p:cNvPr id="27" name="Text 20"/>
          <p:cNvSpPr txBox="1"/>
          <p:nvPr/>
        </p:nvSpPr>
        <p:spPr>
          <a:xfrm>
            <a:off x="8150352" y="2560320"/>
            <a:ext cx="1520952" cy="640080"/>
          </a:xfrm>
          <a:prstGeom prst="rect">
            <a:avLst/>
          </a:prstGeom>
          <a:noFill/>
          <a:ln/>
        </p:spPr>
        <p:txBody>
          <a:bodyPr wrap="square" lIns="0" tIns="0" rIns="0" bIns="0" rtlCol="0" anchor="ctr"/>
          <a:lstStyle/>
          <a:p>
            <a:pPr marL="0" indent="0" algn="ctr">
              <a:buNone/>
            </a:pPr>
            <a:r>
              <a:rPr lang="en-US" sz="1150" b="1" dirty="0">
                <a:solidFill>
                  <a:srgbClr val="1B1F4B"/>
                </a:solidFill>
                <a:latin typeface="Calibri" pitchFamily="34" charset="0"/>
                <a:ea typeface="Calibri" pitchFamily="34" charset="-122"/>
                <a:cs typeface="Calibri" pitchFamily="34" charset="-120"/>
              </a:rPr>
              <a:t>SMOTE</a:t>
            </a:r>
            <a:endParaRPr lang="en-US" sz="1150" dirty="0"/>
          </a:p>
        </p:txBody>
      </p:sp>
      <p:sp>
        <p:nvSpPr>
          <p:cNvPr id="28" name="Shape 21"/>
          <p:cNvSpPr/>
          <p:nvPr/>
        </p:nvSpPr>
        <p:spPr>
          <a:xfrm>
            <a:off x="9744456" y="2436876"/>
            <a:ext cx="219456" cy="109728"/>
          </a:xfrm>
          <a:prstGeom prst="rightArrow">
            <a:avLst/>
          </a:prstGeom>
          <a:solidFill>
            <a:srgbClr val="E4E3EE"/>
          </a:solidFill>
          <a:ln/>
        </p:spPr>
        <p:txBody>
          <a:bodyPr/>
          <a:lstStyle/>
          <a:p>
            <a:endParaRPr lang="en-AE"/>
          </a:p>
        </p:txBody>
      </p:sp>
      <p:sp>
        <p:nvSpPr>
          <p:cNvPr id="29" name="Shape 22"/>
          <p:cNvSpPr/>
          <p:nvPr/>
        </p:nvSpPr>
        <p:spPr>
          <a:xfrm>
            <a:off x="9982200" y="1691640"/>
            <a:ext cx="1630680" cy="1600200"/>
          </a:xfrm>
          <a:prstGeom prst="roundRect">
            <a:avLst>
              <a:gd name="adj" fmla="val 4571"/>
            </a:avLst>
          </a:prstGeom>
          <a:solidFill>
            <a:srgbClr val="1B1F4B"/>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30" name="Shape 23"/>
          <p:cNvSpPr/>
          <p:nvPr/>
        </p:nvSpPr>
        <p:spPr>
          <a:xfrm>
            <a:off x="10523220" y="1892808"/>
            <a:ext cx="548640" cy="548640"/>
          </a:xfrm>
          <a:prstGeom prst="ellipse">
            <a:avLst/>
          </a:prstGeom>
          <a:solidFill>
            <a:srgbClr val="1E9E82"/>
          </a:solidFill>
          <a:ln/>
        </p:spPr>
        <p:txBody>
          <a:bodyPr/>
          <a:lstStyle/>
          <a:p>
            <a:endParaRPr lang="en-AE"/>
          </a:p>
        </p:txBody>
      </p:sp>
      <p:pic>
        <p:nvPicPr>
          <p:cNvPr id="31" name="Image 5" descr="/home/claude/edurisk/icons/table_white.png"/>
          <p:cNvPicPr>
            <a:picLocks noChangeAspect="1"/>
          </p:cNvPicPr>
          <p:nvPr/>
        </p:nvPicPr>
        <p:blipFill>
          <a:blip r:embed="rId8"/>
          <a:stretch>
            <a:fillRect/>
          </a:stretch>
        </p:blipFill>
        <p:spPr>
          <a:xfrm>
            <a:off x="10654894" y="2024482"/>
            <a:ext cx="285293" cy="285293"/>
          </a:xfrm>
          <a:prstGeom prst="rect">
            <a:avLst/>
          </a:prstGeom>
        </p:spPr>
      </p:pic>
      <p:sp>
        <p:nvSpPr>
          <p:cNvPr id="32" name="Text 24"/>
          <p:cNvSpPr txBox="1"/>
          <p:nvPr/>
        </p:nvSpPr>
        <p:spPr>
          <a:xfrm>
            <a:off x="10037064" y="2560320"/>
            <a:ext cx="1520952"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Train / Test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p:txBody>
      </p:sp>
      <p:sp>
        <p:nvSpPr>
          <p:cNvPr id="33" name="Shape 25"/>
          <p:cNvSpPr/>
          <p:nvPr/>
        </p:nvSpPr>
        <p:spPr>
          <a:xfrm>
            <a:off x="548640" y="3703320"/>
            <a:ext cx="11064240" cy="2148840"/>
          </a:xfrm>
          <a:prstGeom prst="roundRect">
            <a:avLst>
              <a:gd name="adj" fmla="val 3404"/>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34" name="Text 26"/>
          <p:cNvSpPr txBox="1"/>
          <p:nvPr/>
        </p:nvSpPr>
        <p:spPr>
          <a:xfrm>
            <a:off x="868680" y="3904488"/>
            <a:ext cx="7315200" cy="365760"/>
          </a:xfrm>
          <a:prstGeom prst="rect">
            <a:avLst/>
          </a:prstGeom>
          <a:noFill/>
          <a:ln/>
        </p:spPr>
        <p:txBody>
          <a:bodyPr wrap="square" lIns="0" tIns="0" rIns="0" bIns="0" rtlCol="0" anchor="ctr"/>
          <a:lstStyle/>
          <a:p>
            <a:pPr marL="0" indent="0">
              <a:buNone/>
            </a:pPr>
            <a:r>
              <a:rPr lang="en-US" sz="1500" b="1" dirty="0">
                <a:solidFill>
                  <a:srgbClr val="1B1F4B"/>
                </a:solidFill>
                <a:latin typeface="Cambria" pitchFamily="34" charset="0"/>
                <a:ea typeface="Cambria" pitchFamily="34" charset="-122"/>
                <a:cs typeface="Cambria" pitchFamily="34" charset="-120"/>
              </a:rPr>
              <a:t>Techniques used in the notebook</a:t>
            </a:r>
            <a:endParaRPr lang="en-US" sz="1500" dirty="0"/>
          </a:p>
        </p:txBody>
      </p:sp>
      <p:sp>
        <p:nvSpPr>
          <p:cNvPr id="35" name="Shape 27"/>
          <p:cNvSpPr/>
          <p:nvPr/>
        </p:nvSpPr>
        <p:spPr>
          <a:xfrm>
            <a:off x="868680" y="4471416"/>
            <a:ext cx="91440" cy="91440"/>
          </a:xfrm>
          <a:prstGeom prst="ellipse">
            <a:avLst/>
          </a:prstGeom>
          <a:solidFill>
            <a:srgbClr val="6C3FC5"/>
          </a:solidFill>
          <a:ln/>
        </p:spPr>
        <p:txBody>
          <a:bodyPr/>
          <a:lstStyle/>
          <a:p>
            <a:endParaRPr lang="en-AE"/>
          </a:p>
        </p:txBody>
      </p:sp>
      <p:sp>
        <p:nvSpPr>
          <p:cNvPr id="36" name="Text 28"/>
          <p:cNvSpPr txBox="1"/>
          <p:nvPr/>
        </p:nvSpPr>
        <p:spPr>
          <a:xfrm>
            <a:off x="1143000" y="4343400"/>
            <a:ext cx="4937760" cy="594360"/>
          </a:xfrm>
          <a:prstGeom prst="rect">
            <a:avLst/>
          </a:prstGeom>
          <a:noFill/>
          <a:ln/>
        </p:spPr>
        <p:txBody>
          <a:bodyPr wrap="square" lIns="0" tIns="0" rIns="0" bIns="0" rtlCol="0" anchor="t"/>
          <a:lstStyle/>
          <a:p>
            <a:pPr marL="0" indent="0">
              <a:buNone/>
            </a:pPr>
            <a:r>
              <a:rPr lang="en-US" sz="1200" b="1" dirty="0">
                <a:solidFill>
                  <a:srgbClr val="1B1F4B"/>
                </a:solidFill>
                <a:latin typeface="Calibri" pitchFamily="34" charset="0"/>
                <a:ea typeface="Calibri" pitchFamily="34" charset="-122"/>
                <a:cs typeface="Calibri" pitchFamily="34" charset="-120"/>
              </a:rPr>
              <a:t>OrdinalEncoder  </a:t>
            </a:r>
            <a:r>
              <a:rPr lang="en-US" sz="1200" dirty="0">
                <a:solidFill>
                  <a:srgbClr val="6B7089"/>
                </a:solidFill>
                <a:latin typeface="Calibri" pitchFamily="34" charset="0"/>
                <a:ea typeface="Calibri" pitchFamily="34" charset="-122"/>
                <a:cs typeface="Calibri" pitchFamily="34" charset="-120"/>
              </a:rPr>
              <a:t>encodes categorical features (fit on train, applied to test)</a:t>
            </a:r>
            <a:endParaRPr lang="en-US" sz="1200" dirty="0"/>
          </a:p>
        </p:txBody>
      </p:sp>
      <p:sp>
        <p:nvSpPr>
          <p:cNvPr id="37" name="Shape 29"/>
          <p:cNvSpPr/>
          <p:nvPr/>
        </p:nvSpPr>
        <p:spPr>
          <a:xfrm>
            <a:off x="6263640" y="4471416"/>
            <a:ext cx="91440" cy="91440"/>
          </a:xfrm>
          <a:prstGeom prst="ellipse">
            <a:avLst/>
          </a:prstGeom>
          <a:solidFill>
            <a:srgbClr val="6C3FC5"/>
          </a:solidFill>
          <a:ln/>
        </p:spPr>
        <p:txBody>
          <a:bodyPr/>
          <a:lstStyle/>
          <a:p>
            <a:endParaRPr lang="en-AE"/>
          </a:p>
        </p:txBody>
      </p:sp>
      <p:sp>
        <p:nvSpPr>
          <p:cNvPr id="38" name="Text 30"/>
          <p:cNvSpPr txBox="1"/>
          <p:nvPr/>
        </p:nvSpPr>
        <p:spPr>
          <a:xfrm>
            <a:off x="6537960" y="4343400"/>
            <a:ext cx="4937760" cy="594360"/>
          </a:xfrm>
          <a:prstGeom prst="rect">
            <a:avLst/>
          </a:prstGeom>
          <a:noFill/>
          <a:ln/>
        </p:spPr>
        <p:txBody>
          <a:bodyPr wrap="square" lIns="0" tIns="0" rIns="0" bIns="0" rtlCol="0" anchor="t"/>
          <a:lstStyle/>
          <a:p>
            <a:pPr marL="0" indent="0">
              <a:buNone/>
            </a:pPr>
            <a:r>
              <a:rPr lang="en-US" sz="1200" b="1" dirty="0">
                <a:solidFill>
                  <a:srgbClr val="1B1F4B"/>
                </a:solidFill>
                <a:latin typeface="Calibri" pitchFamily="34" charset="0"/>
                <a:ea typeface="Calibri" pitchFamily="34" charset="-122"/>
                <a:cs typeface="Calibri" pitchFamily="34" charset="-120"/>
              </a:rPr>
              <a:t>StandardScaler  </a:t>
            </a:r>
            <a:r>
              <a:rPr lang="en-US" sz="1200" dirty="0">
                <a:solidFill>
                  <a:srgbClr val="6B7089"/>
                </a:solidFill>
                <a:latin typeface="Calibri" pitchFamily="34" charset="0"/>
                <a:ea typeface="Calibri" pitchFamily="34" charset="-122"/>
                <a:cs typeface="Calibri" pitchFamily="34" charset="-120"/>
              </a:rPr>
              <a:t>standardizes numeric feature scale (fit on train, applied to test)</a:t>
            </a:r>
            <a:endParaRPr lang="en-US" sz="1200" dirty="0"/>
          </a:p>
        </p:txBody>
      </p:sp>
      <p:sp>
        <p:nvSpPr>
          <p:cNvPr id="39" name="Shape 31"/>
          <p:cNvSpPr/>
          <p:nvPr/>
        </p:nvSpPr>
        <p:spPr>
          <a:xfrm>
            <a:off x="868680" y="5202936"/>
            <a:ext cx="91440" cy="91440"/>
          </a:xfrm>
          <a:prstGeom prst="ellipse">
            <a:avLst/>
          </a:prstGeom>
          <a:solidFill>
            <a:srgbClr val="6C3FC5"/>
          </a:solidFill>
          <a:ln/>
        </p:spPr>
        <p:txBody>
          <a:bodyPr/>
          <a:lstStyle/>
          <a:p>
            <a:endParaRPr lang="en-AE"/>
          </a:p>
        </p:txBody>
      </p:sp>
      <p:sp>
        <p:nvSpPr>
          <p:cNvPr id="40" name="Text 32"/>
          <p:cNvSpPr txBox="1"/>
          <p:nvPr/>
        </p:nvSpPr>
        <p:spPr>
          <a:xfrm>
            <a:off x="1143000" y="5074920"/>
            <a:ext cx="4937760" cy="594360"/>
          </a:xfrm>
          <a:prstGeom prst="rect">
            <a:avLst/>
          </a:prstGeom>
          <a:noFill/>
          <a:ln/>
        </p:spPr>
        <p:txBody>
          <a:bodyPr wrap="square" lIns="0" tIns="0" rIns="0" bIns="0" rtlCol="0" anchor="t"/>
          <a:lstStyle/>
          <a:p>
            <a:pPr marL="0" indent="0">
              <a:buNone/>
            </a:pPr>
            <a:r>
              <a:rPr lang="en-US" sz="1200" b="1" dirty="0">
                <a:solidFill>
                  <a:srgbClr val="1B1F4B"/>
                </a:solidFill>
                <a:latin typeface="Calibri" pitchFamily="34" charset="0"/>
                <a:ea typeface="Calibri" pitchFamily="34" charset="-122"/>
                <a:cs typeface="Calibri" pitchFamily="34" charset="-120"/>
              </a:rPr>
              <a:t>SMOTE  </a:t>
            </a:r>
            <a:r>
              <a:rPr lang="en-US" sz="1200" dirty="0">
                <a:solidFill>
                  <a:srgbClr val="6B7089"/>
                </a:solidFill>
                <a:latin typeface="Calibri" pitchFamily="34" charset="0"/>
                <a:ea typeface="Calibri" pitchFamily="34" charset="-122"/>
                <a:cs typeface="Calibri" pitchFamily="34" charset="-120"/>
              </a:rPr>
              <a:t>oversamples the minority class on the training set to address class imbalance</a:t>
            </a:r>
            <a:endParaRPr lang="en-US" sz="1200" dirty="0"/>
          </a:p>
        </p:txBody>
      </p:sp>
      <p:sp>
        <p:nvSpPr>
          <p:cNvPr id="41" name="Shape 33"/>
          <p:cNvSpPr/>
          <p:nvPr/>
        </p:nvSpPr>
        <p:spPr>
          <a:xfrm>
            <a:off x="6263640" y="5202936"/>
            <a:ext cx="91440" cy="91440"/>
          </a:xfrm>
          <a:prstGeom prst="ellipse">
            <a:avLst/>
          </a:prstGeom>
          <a:solidFill>
            <a:srgbClr val="6C3FC5"/>
          </a:solidFill>
          <a:ln/>
        </p:spPr>
        <p:txBody>
          <a:bodyPr/>
          <a:lstStyle/>
          <a:p>
            <a:endParaRPr lang="en-AE"/>
          </a:p>
        </p:txBody>
      </p:sp>
      <p:sp>
        <p:nvSpPr>
          <p:cNvPr id="42" name="Text 34"/>
          <p:cNvSpPr txBox="1"/>
          <p:nvPr/>
        </p:nvSpPr>
        <p:spPr>
          <a:xfrm>
            <a:off x="6537960" y="5074920"/>
            <a:ext cx="4937760" cy="594360"/>
          </a:xfrm>
          <a:prstGeom prst="rect">
            <a:avLst/>
          </a:prstGeom>
          <a:noFill/>
          <a:ln/>
        </p:spPr>
        <p:txBody>
          <a:bodyPr wrap="square" lIns="0" tIns="0" rIns="0" bIns="0" rtlCol="0" anchor="t"/>
          <a:lstStyle/>
          <a:p>
            <a:pPr marL="0" indent="0">
              <a:buNone/>
            </a:pPr>
            <a:r>
              <a:rPr lang="en-US" sz="1200" b="1" dirty="0">
                <a:solidFill>
                  <a:srgbClr val="1B1F4B"/>
                </a:solidFill>
                <a:latin typeface="Calibri" pitchFamily="34" charset="0"/>
                <a:ea typeface="Calibri" pitchFamily="34" charset="-122"/>
                <a:cs typeface="Calibri" pitchFamily="34" charset="-120"/>
              </a:rPr>
              <a:t>80 / 20 split, stratified  </a:t>
            </a:r>
            <a:r>
              <a:rPr lang="en-US" sz="1200" dirty="0">
                <a:solidFill>
                  <a:srgbClr val="6B7089"/>
                </a:solidFill>
                <a:latin typeface="Calibri" pitchFamily="34" charset="0"/>
                <a:ea typeface="Calibri" pitchFamily="34" charset="-122"/>
                <a:cs typeface="Calibri" pitchFamily="34" charset="-120"/>
              </a:rPr>
              <a:t>train_test_split(test_size=0.20, stratify=y, random_state=42)</a:t>
            </a:r>
            <a:endParaRPr lang="en-US" sz="1200" dirty="0"/>
          </a:p>
        </p:txBody>
      </p:sp>
      <p:sp>
        <p:nvSpPr>
          <p:cNvPr id="43" name="Text 35"/>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06</a:t>
            </a:r>
            <a:endParaRPr lang="en-US" sz="1000" dirty="0"/>
          </a:p>
        </p:txBody>
      </p:sp>
      <p:sp>
        <p:nvSpPr>
          <p:cNvPr id="44" name="Text 36"/>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FIVE CANDIDATES</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Machine Learning Models</a:t>
            </a:r>
            <a:endParaRPr lang="en-US" sz="3000" dirty="0"/>
          </a:p>
        </p:txBody>
      </p:sp>
      <p:sp>
        <p:nvSpPr>
          <p:cNvPr id="4" name="Shape 2"/>
          <p:cNvSpPr/>
          <p:nvPr/>
        </p:nvSpPr>
        <p:spPr>
          <a:xfrm>
            <a:off x="548640" y="1783080"/>
            <a:ext cx="1993392" cy="3566160"/>
          </a:xfrm>
          <a:prstGeom prst="roundRect">
            <a:avLst>
              <a:gd name="adj" fmla="val 3670"/>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1234440" y="2075688"/>
            <a:ext cx="621792" cy="621792"/>
          </a:xfrm>
          <a:prstGeom prst="ellipse">
            <a:avLst/>
          </a:prstGeom>
          <a:solidFill>
            <a:srgbClr val="6C3FC5"/>
          </a:solidFill>
          <a:ln/>
        </p:spPr>
        <p:txBody>
          <a:bodyPr/>
          <a:lstStyle/>
          <a:p>
            <a:endParaRPr lang="en-AE"/>
          </a:p>
        </p:txBody>
      </p:sp>
      <p:pic>
        <p:nvPicPr>
          <p:cNvPr id="6" name="Image 0" descr="/home/claude/edurisk/icons/tree_white.png"/>
          <p:cNvPicPr>
            <a:picLocks noChangeAspect="1"/>
          </p:cNvPicPr>
          <p:nvPr/>
        </p:nvPicPr>
        <p:blipFill>
          <a:blip r:embed="rId3"/>
          <a:stretch>
            <a:fillRect/>
          </a:stretch>
        </p:blipFill>
        <p:spPr>
          <a:xfrm>
            <a:off x="1383670" y="2224918"/>
            <a:ext cx="323332" cy="323332"/>
          </a:xfrm>
          <a:prstGeom prst="rect">
            <a:avLst/>
          </a:prstGeom>
        </p:spPr>
      </p:pic>
      <p:sp>
        <p:nvSpPr>
          <p:cNvPr id="7" name="Text 4"/>
          <p:cNvSpPr txBox="1"/>
          <p:nvPr/>
        </p:nvSpPr>
        <p:spPr>
          <a:xfrm>
            <a:off x="640080" y="2880360"/>
            <a:ext cx="1810512" cy="685800"/>
          </a:xfrm>
          <a:prstGeom prst="rect">
            <a:avLst/>
          </a:prstGeom>
          <a:noFill/>
          <a:ln/>
        </p:spPr>
        <p:txBody>
          <a:bodyPr wrap="square" lIns="0" tIns="0" rIns="0" bIns="0" rtlCol="0" anchor="ctr"/>
          <a:lstStyle/>
          <a:p>
            <a:pPr marL="0" indent="0" algn="ctr">
              <a:buNone/>
            </a:pPr>
            <a:r>
              <a:rPr lang="en-US" sz="1400" b="1" dirty="0">
                <a:solidFill>
                  <a:srgbClr val="1B1F4B"/>
                </a:solidFill>
                <a:latin typeface="Cambria" pitchFamily="34" charset="0"/>
                <a:ea typeface="Cambria" pitchFamily="34" charset="-122"/>
                <a:cs typeface="Cambria" pitchFamily="34" charset="-120"/>
              </a:rPr>
              <a:t>Random</a:t>
            </a:r>
            <a:endParaRPr lang="en-US" sz="1400" dirty="0"/>
          </a:p>
          <a:p>
            <a:pPr marL="0" indent="0" algn="ctr">
              <a:buNone/>
            </a:pPr>
            <a:r>
              <a:rPr lang="en-US" sz="1400" b="1" dirty="0">
                <a:solidFill>
                  <a:srgbClr val="1B1F4B"/>
                </a:solidFill>
                <a:latin typeface="Cambria" pitchFamily="34" charset="0"/>
                <a:ea typeface="Cambria" pitchFamily="34" charset="-122"/>
                <a:cs typeface="Cambria" pitchFamily="34" charset="-120"/>
              </a:rPr>
              <a:t>Forest</a:t>
            </a:r>
            <a:endParaRPr lang="en-US" sz="1400" dirty="0"/>
          </a:p>
        </p:txBody>
      </p:sp>
      <p:sp>
        <p:nvSpPr>
          <p:cNvPr id="8" name="Text 5"/>
          <p:cNvSpPr txBox="1"/>
          <p:nvPr/>
        </p:nvSpPr>
        <p:spPr>
          <a:xfrm>
            <a:off x="676656" y="3657600"/>
            <a:ext cx="1737360" cy="146304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An ensemble of decision trees that votes on the final prediction.</a:t>
            </a:r>
            <a:endParaRPr lang="en-US" sz="1100" dirty="0"/>
          </a:p>
        </p:txBody>
      </p:sp>
      <p:sp>
        <p:nvSpPr>
          <p:cNvPr id="9" name="Shape 6"/>
          <p:cNvSpPr/>
          <p:nvPr/>
        </p:nvSpPr>
        <p:spPr>
          <a:xfrm>
            <a:off x="2816352" y="1783080"/>
            <a:ext cx="1993392" cy="3566160"/>
          </a:xfrm>
          <a:prstGeom prst="roundRect">
            <a:avLst>
              <a:gd name="adj" fmla="val 3670"/>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0" name="Shape 7"/>
          <p:cNvSpPr/>
          <p:nvPr/>
        </p:nvSpPr>
        <p:spPr>
          <a:xfrm>
            <a:off x="3502152" y="2075688"/>
            <a:ext cx="621792" cy="621792"/>
          </a:xfrm>
          <a:prstGeom prst="ellipse">
            <a:avLst/>
          </a:prstGeom>
          <a:solidFill>
            <a:srgbClr val="6C3FC5"/>
          </a:solidFill>
          <a:ln/>
        </p:spPr>
        <p:txBody>
          <a:bodyPr/>
          <a:lstStyle/>
          <a:p>
            <a:endParaRPr lang="en-AE"/>
          </a:p>
        </p:txBody>
      </p:sp>
      <p:pic>
        <p:nvPicPr>
          <p:cNvPr id="11" name="Image 1" descr="/home/claude/edurisk/icons/wave_white.png"/>
          <p:cNvPicPr>
            <a:picLocks noChangeAspect="1"/>
          </p:cNvPicPr>
          <p:nvPr/>
        </p:nvPicPr>
        <p:blipFill>
          <a:blip r:embed="rId4"/>
          <a:stretch>
            <a:fillRect/>
          </a:stretch>
        </p:blipFill>
        <p:spPr>
          <a:xfrm>
            <a:off x="3651382" y="2224918"/>
            <a:ext cx="323332" cy="323332"/>
          </a:xfrm>
          <a:prstGeom prst="rect">
            <a:avLst/>
          </a:prstGeom>
        </p:spPr>
      </p:pic>
      <p:sp>
        <p:nvSpPr>
          <p:cNvPr id="12" name="Text 8"/>
          <p:cNvSpPr txBox="1"/>
          <p:nvPr/>
        </p:nvSpPr>
        <p:spPr>
          <a:xfrm>
            <a:off x="2907792" y="2880360"/>
            <a:ext cx="1810512" cy="685800"/>
          </a:xfrm>
          <a:prstGeom prst="rect">
            <a:avLst/>
          </a:prstGeom>
          <a:noFill/>
          <a:ln/>
        </p:spPr>
        <p:txBody>
          <a:bodyPr wrap="square" lIns="0" tIns="0" rIns="0" bIns="0" rtlCol="0" anchor="ctr"/>
          <a:lstStyle/>
          <a:p>
            <a:pPr marL="0" indent="0" algn="ctr">
              <a:buNone/>
            </a:pPr>
            <a:r>
              <a:rPr lang="en-US" sz="1400" b="1" dirty="0">
                <a:solidFill>
                  <a:srgbClr val="1B1F4B"/>
                </a:solidFill>
                <a:latin typeface="Cambria" pitchFamily="34" charset="0"/>
                <a:ea typeface="Cambria" pitchFamily="34" charset="-122"/>
                <a:cs typeface="Cambria" pitchFamily="34" charset="-120"/>
              </a:rPr>
              <a:t>Logistic</a:t>
            </a:r>
            <a:endParaRPr lang="en-US" sz="1400" dirty="0"/>
          </a:p>
          <a:p>
            <a:pPr marL="0" indent="0" algn="ctr">
              <a:buNone/>
            </a:pPr>
            <a:r>
              <a:rPr lang="en-US" sz="1400" b="1" dirty="0">
                <a:solidFill>
                  <a:srgbClr val="1B1F4B"/>
                </a:solidFill>
                <a:latin typeface="Cambria" pitchFamily="34" charset="0"/>
                <a:ea typeface="Cambria" pitchFamily="34" charset="-122"/>
                <a:cs typeface="Cambria" pitchFamily="34" charset="-120"/>
              </a:rPr>
              <a:t>Regression</a:t>
            </a:r>
            <a:endParaRPr lang="en-US" sz="1400" dirty="0"/>
          </a:p>
        </p:txBody>
      </p:sp>
      <p:sp>
        <p:nvSpPr>
          <p:cNvPr id="13" name="Text 9"/>
          <p:cNvSpPr txBox="1"/>
          <p:nvPr/>
        </p:nvSpPr>
        <p:spPr>
          <a:xfrm>
            <a:off x="2944368" y="3657600"/>
            <a:ext cx="1737360" cy="146304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A linear model estimating the probability of risk.</a:t>
            </a:r>
            <a:endParaRPr lang="en-US" sz="1100" dirty="0"/>
          </a:p>
        </p:txBody>
      </p:sp>
      <p:sp>
        <p:nvSpPr>
          <p:cNvPr id="14" name="Shape 10"/>
          <p:cNvSpPr/>
          <p:nvPr/>
        </p:nvSpPr>
        <p:spPr>
          <a:xfrm>
            <a:off x="5084064" y="1783080"/>
            <a:ext cx="1993392" cy="3566160"/>
          </a:xfrm>
          <a:prstGeom prst="roundRect">
            <a:avLst>
              <a:gd name="adj" fmla="val 3670"/>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5" name="Shape 11"/>
          <p:cNvSpPr/>
          <p:nvPr/>
        </p:nvSpPr>
        <p:spPr>
          <a:xfrm>
            <a:off x="5769864" y="2075688"/>
            <a:ext cx="621792" cy="621792"/>
          </a:xfrm>
          <a:prstGeom prst="ellipse">
            <a:avLst/>
          </a:prstGeom>
          <a:solidFill>
            <a:srgbClr val="6C3FC5"/>
          </a:solidFill>
          <a:ln/>
        </p:spPr>
        <p:txBody>
          <a:bodyPr/>
          <a:lstStyle/>
          <a:p>
            <a:endParaRPr lang="en-AE"/>
          </a:p>
        </p:txBody>
      </p:sp>
      <p:pic>
        <p:nvPicPr>
          <p:cNvPr id="16" name="Image 2" descr="/home/claude/edurisk/icons/percentage_white.png"/>
          <p:cNvPicPr>
            <a:picLocks noChangeAspect="1"/>
          </p:cNvPicPr>
          <p:nvPr/>
        </p:nvPicPr>
        <p:blipFill>
          <a:blip r:embed="rId5"/>
          <a:stretch>
            <a:fillRect/>
          </a:stretch>
        </p:blipFill>
        <p:spPr>
          <a:xfrm>
            <a:off x="5919094" y="2224918"/>
            <a:ext cx="323332" cy="323332"/>
          </a:xfrm>
          <a:prstGeom prst="rect">
            <a:avLst/>
          </a:prstGeom>
        </p:spPr>
      </p:pic>
      <p:sp>
        <p:nvSpPr>
          <p:cNvPr id="17" name="Text 12"/>
          <p:cNvSpPr txBox="1"/>
          <p:nvPr/>
        </p:nvSpPr>
        <p:spPr>
          <a:xfrm>
            <a:off x="5175504" y="2880360"/>
            <a:ext cx="1810512" cy="685800"/>
          </a:xfrm>
          <a:prstGeom prst="rect">
            <a:avLst/>
          </a:prstGeom>
          <a:noFill/>
          <a:ln/>
        </p:spPr>
        <p:txBody>
          <a:bodyPr wrap="square" lIns="0" tIns="0" rIns="0" bIns="0" rtlCol="0" anchor="ctr"/>
          <a:lstStyle/>
          <a:p>
            <a:pPr marL="0" indent="0" algn="ctr">
              <a:buNone/>
            </a:pPr>
            <a:r>
              <a:rPr lang="en-US" sz="1400" b="1" dirty="0">
                <a:solidFill>
                  <a:srgbClr val="1B1F4B"/>
                </a:solidFill>
                <a:latin typeface="Cambria" pitchFamily="34" charset="0"/>
                <a:ea typeface="Cambria" pitchFamily="34" charset="-122"/>
                <a:cs typeface="Cambria" pitchFamily="34" charset="-120"/>
              </a:rPr>
              <a:t>Gaussian</a:t>
            </a:r>
            <a:endParaRPr lang="en-US" sz="1400" dirty="0"/>
          </a:p>
          <a:p>
            <a:pPr marL="0" indent="0" algn="ctr">
              <a:buNone/>
            </a:pPr>
            <a:r>
              <a:rPr lang="en-US" sz="1400" b="1" dirty="0">
                <a:solidFill>
                  <a:srgbClr val="1B1F4B"/>
                </a:solidFill>
                <a:latin typeface="Cambria" pitchFamily="34" charset="0"/>
                <a:ea typeface="Cambria" pitchFamily="34" charset="-122"/>
                <a:cs typeface="Cambria" pitchFamily="34" charset="-120"/>
              </a:rPr>
              <a:t>Naive Bayes</a:t>
            </a:r>
            <a:endParaRPr lang="en-US" sz="1400" dirty="0"/>
          </a:p>
        </p:txBody>
      </p:sp>
      <p:sp>
        <p:nvSpPr>
          <p:cNvPr id="18" name="Text 13"/>
          <p:cNvSpPr txBox="1"/>
          <p:nvPr/>
        </p:nvSpPr>
        <p:spPr>
          <a:xfrm>
            <a:off x="5212080" y="3657600"/>
            <a:ext cx="1737360" cy="146304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A probabilistic model based on Bayes' theorem.</a:t>
            </a:r>
            <a:endParaRPr lang="en-US" sz="1100" dirty="0"/>
          </a:p>
        </p:txBody>
      </p:sp>
      <p:sp>
        <p:nvSpPr>
          <p:cNvPr id="19" name="Shape 14"/>
          <p:cNvSpPr/>
          <p:nvPr/>
        </p:nvSpPr>
        <p:spPr>
          <a:xfrm>
            <a:off x="7351776" y="1783080"/>
            <a:ext cx="1993392" cy="3566160"/>
          </a:xfrm>
          <a:prstGeom prst="roundRect">
            <a:avLst>
              <a:gd name="adj" fmla="val 3670"/>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0" name="Shape 15"/>
          <p:cNvSpPr/>
          <p:nvPr/>
        </p:nvSpPr>
        <p:spPr>
          <a:xfrm>
            <a:off x="8037576" y="2075688"/>
            <a:ext cx="621792" cy="621792"/>
          </a:xfrm>
          <a:prstGeom prst="ellipse">
            <a:avLst/>
          </a:prstGeom>
          <a:solidFill>
            <a:srgbClr val="6C3FC5"/>
          </a:solidFill>
          <a:ln/>
        </p:spPr>
        <p:txBody>
          <a:bodyPr/>
          <a:lstStyle/>
          <a:p>
            <a:endParaRPr lang="en-AE"/>
          </a:p>
        </p:txBody>
      </p:sp>
      <p:pic>
        <p:nvPicPr>
          <p:cNvPr id="21" name="Image 3" descr="/home/claude/edurisk/icons/projectdiagram_white.png"/>
          <p:cNvPicPr>
            <a:picLocks noChangeAspect="1"/>
          </p:cNvPicPr>
          <p:nvPr/>
        </p:nvPicPr>
        <p:blipFill>
          <a:blip r:embed="rId6"/>
          <a:stretch>
            <a:fillRect/>
          </a:stretch>
        </p:blipFill>
        <p:spPr>
          <a:xfrm>
            <a:off x="8186806" y="2224918"/>
            <a:ext cx="323332" cy="323332"/>
          </a:xfrm>
          <a:prstGeom prst="rect">
            <a:avLst/>
          </a:prstGeom>
        </p:spPr>
      </p:pic>
      <p:sp>
        <p:nvSpPr>
          <p:cNvPr id="22" name="Text 16"/>
          <p:cNvSpPr txBox="1"/>
          <p:nvPr/>
        </p:nvSpPr>
        <p:spPr>
          <a:xfrm>
            <a:off x="7443216" y="2880360"/>
            <a:ext cx="1810512" cy="685800"/>
          </a:xfrm>
          <a:prstGeom prst="rect">
            <a:avLst/>
          </a:prstGeom>
          <a:noFill/>
          <a:ln/>
        </p:spPr>
        <p:txBody>
          <a:bodyPr wrap="square" lIns="0" tIns="0" rIns="0" bIns="0" rtlCol="0" anchor="ctr"/>
          <a:lstStyle/>
          <a:p>
            <a:pPr marL="0" indent="0" algn="ctr">
              <a:buNone/>
            </a:pPr>
            <a:r>
              <a:rPr lang="en-US" sz="1400" b="1" dirty="0">
                <a:solidFill>
                  <a:srgbClr val="1B1F4B"/>
                </a:solidFill>
                <a:latin typeface="Cambria" pitchFamily="34" charset="0"/>
                <a:ea typeface="Cambria" pitchFamily="34" charset="-122"/>
                <a:cs typeface="Cambria" pitchFamily="34" charset="-120"/>
              </a:rPr>
              <a:t>K-Nearest</a:t>
            </a:r>
            <a:endParaRPr lang="en-US" sz="1400" dirty="0"/>
          </a:p>
          <a:p>
            <a:pPr marL="0" indent="0" algn="ctr">
              <a:buNone/>
            </a:pPr>
            <a:r>
              <a:rPr lang="en-US" sz="1400" b="1" dirty="0">
                <a:solidFill>
                  <a:srgbClr val="1B1F4B"/>
                </a:solidFill>
                <a:latin typeface="Cambria" pitchFamily="34" charset="0"/>
                <a:ea typeface="Cambria" pitchFamily="34" charset="-122"/>
                <a:cs typeface="Cambria" pitchFamily="34" charset="-120"/>
              </a:rPr>
              <a:t>Neighbors</a:t>
            </a:r>
            <a:endParaRPr lang="en-US" sz="1400" dirty="0"/>
          </a:p>
        </p:txBody>
      </p:sp>
      <p:sp>
        <p:nvSpPr>
          <p:cNvPr id="23" name="Text 17"/>
          <p:cNvSpPr txBox="1"/>
          <p:nvPr/>
        </p:nvSpPr>
        <p:spPr>
          <a:xfrm>
            <a:off x="7479792" y="3657600"/>
            <a:ext cx="1737360" cy="146304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Classifies a student by its closest neighbors in the data.</a:t>
            </a:r>
            <a:endParaRPr lang="en-US" sz="1100" dirty="0"/>
          </a:p>
        </p:txBody>
      </p:sp>
      <p:sp>
        <p:nvSpPr>
          <p:cNvPr id="24" name="Shape 18"/>
          <p:cNvSpPr/>
          <p:nvPr/>
        </p:nvSpPr>
        <p:spPr>
          <a:xfrm>
            <a:off x="9619488" y="1783080"/>
            <a:ext cx="1993392" cy="3566160"/>
          </a:xfrm>
          <a:prstGeom prst="roundRect">
            <a:avLst>
              <a:gd name="adj" fmla="val 3670"/>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5" name="Shape 19"/>
          <p:cNvSpPr/>
          <p:nvPr/>
        </p:nvSpPr>
        <p:spPr>
          <a:xfrm>
            <a:off x="10305288" y="2075688"/>
            <a:ext cx="621792" cy="621792"/>
          </a:xfrm>
          <a:prstGeom prst="ellipse">
            <a:avLst/>
          </a:prstGeom>
          <a:solidFill>
            <a:srgbClr val="6C3FC5"/>
          </a:solidFill>
          <a:ln/>
        </p:spPr>
        <p:txBody>
          <a:bodyPr/>
          <a:lstStyle/>
          <a:p>
            <a:endParaRPr lang="en-AE"/>
          </a:p>
        </p:txBody>
      </p:sp>
      <p:pic>
        <p:nvPicPr>
          <p:cNvPr id="26" name="Image 4" descr="/home/claude/edurisk/icons/codebranch_white.png"/>
          <p:cNvPicPr>
            <a:picLocks noChangeAspect="1"/>
          </p:cNvPicPr>
          <p:nvPr/>
        </p:nvPicPr>
        <p:blipFill>
          <a:blip r:embed="rId7"/>
          <a:stretch>
            <a:fillRect/>
          </a:stretch>
        </p:blipFill>
        <p:spPr>
          <a:xfrm>
            <a:off x="10454518" y="2224918"/>
            <a:ext cx="323332" cy="323332"/>
          </a:xfrm>
          <a:prstGeom prst="rect">
            <a:avLst/>
          </a:prstGeom>
        </p:spPr>
      </p:pic>
      <p:sp>
        <p:nvSpPr>
          <p:cNvPr id="27" name="Text 20"/>
          <p:cNvSpPr txBox="1"/>
          <p:nvPr/>
        </p:nvSpPr>
        <p:spPr>
          <a:xfrm>
            <a:off x="9710928" y="2880360"/>
            <a:ext cx="1810512" cy="685800"/>
          </a:xfrm>
          <a:prstGeom prst="rect">
            <a:avLst/>
          </a:prstGeom>
          <a:noFill/>
          <a:ln/>
        </p:spPr>
        <p:txBody>
          <a:bodyPr wrap="square" lIns="0" tIns="0" rIns="0" bIns="0" rtlCol="0" anchor="ctr"/>
          <a:lstStyle/>
          <a:p>
            <a:pPr marL="0" indent="0" algn="ctr">
              <a:buNone/>
            </a:pPr>
            <a:r>
              <a:rPr lang="en-US" sz="1400" b="1" dirty="0">
                <a:solidFill>
                  <a:srgbClr val="1B1F4B"/>
                </a:solidFill>
                <a:latin typeface="Cambria" pitchFamily="34" charset="0"/>
                <a:ea typeface="Cambria" pitchFamily="34" charset="-122"/>
                <a:cs typeface="Cambria" pitchFamily="34" charset="-120"/>
              </a:rPr>
              <a:t>Decision</a:t>
            </a:r>
            <a:endParaRPr lang="en-US" sz="1400" dirty="0"/>
          </a:p>
          <a:p>
            <a:pPr marL="0" indent="0" algn="ctr">
              <a:buNone/>
            </a:pPr>
            <a:r>
              <a:rPr lang="en-US" sz="1400" b="1" dirty="0">
                <a:solidFill>
                  <a:srgbClr val="1B1F4B"/>
                </a:solidFill>
                <a:latin typeface="Cambria" pitchFamily="34" charset="0"/>
                <a:ea typeface="Cambria" pitchFamily="34" charset="-122"/>
                <a:cs typeface="Cambria" pitchFamily="34" charset="-120"/>
              </a:rPr>
              <a:t>Tree</a:t>
            </a:r>
            <a:endParaRPr lang="en-US" sz="1400" dirty="0"/>
          </a:p>
        </p:txBody>
      </p:sp>
      <p:sp>
        <p:nvSpPr>
          <p:cNvPr id="28" name="Text 21"/>
          <p:cNvSpPr txBox="1"/>
          <p:nvPr/>
        </p:nvSpPr>
        <p:spPr>
          <a:xfrm>
            <a:off x="9747504" y="3657600"/>
            <a:ext cx="1737360" cy="1463040"/>
          </a:xfrm>
          <a:prstGeom prst="rect">
            <a:avLst/>
          </a:prstGeom>
          <a:noFill/>
          <a:ln/>
        </p:spPr>
        <p:txBody>
          <a:bodyPr wrap="square" lIns="0" tIns="0" rIns="0" bIns="0" rtlCol="0" anchor="ctr"/>
          <a:lstStyle/>
          <a:p>
            <a:pPr marL="0" indent="0" algn="ctr">
              <a:buNone/>
            </a:pPr>
            <a:r>
              <a:rPr lang="en-US" sz="1100" dirty="0">
                <a:solidFill>
                  <a:srgbClr val="6B7089"/>
                </a:solidFill>
                <a:latin typeface="Calibri" pitchFamily="34" charset="0"/>
                <a:ea typeface="Calibri" pitchFamily="34" charset="-122"/>
                <a:cs typeface="Calibri" pitchFamily="34" charset="-120"/>
              </a:rPr>
              <a:t>A single tree of if/else splits on student features.</a:t>
            </a:r>
            <a:endParaRPr lang="en-US" sz="1100" dirty="0"/>
          </a:p>
        </p:txBody>
      </p:sp>
      <p:sp>
        <p:nvSpPr>
          <p:cNvPr id="29" name="Text 22"/>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07</a:t>
            </a:r>
            <a:endParaRPr lang="en-US" sz="1000" dirty="0"/>
          </a:p>
        </p:txBody>
      </p:sp>
      <p:sp>
        <p:nvSpPr>
          <p:cNvPr id="30" name="Text 23"/>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HYPERPARAMETER TUNING</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KNN — Choosing the Best K</a:t>
            </a:r>
            <a:endParaRPr lang="en-US" sz="3000" dirty="0"/>
          </a:p>
        </p:txBody>
      </p:sp>
      <p:sp>
        <p:nvSpPr>
          <p:cNvPr id="4" name="Text 2"/>
          <p:cNvSpPr txBox="1"/>
          <p:nvPr/>
        </p:nvSpPr>
        <p:spPr>
          <a:xfrm>
            <a:off x="548640" y="1554480"/>
            <a:ext cx="5120640" cy="1097280"/>
          </a:xfrm>
          <a:prstGeom prst="rect">
            <a:avLst/>
          </a:prstGeom>
          <a:noFill/>
          <a:ln/>
        </p:spPr>
        <p:txBody>
          <a:bodyPr wrap="square" lIns="0" tIns="0" rIns="0" bIns="0" rtlCol="0" anchor="ctr"/>
          <a:lstStyle/>
          <a:p>
            <a:pPr marL="0" indent="0">
              <a:buNone/>
            </a:pPr>
            <a:r>
              <a:rPr lang="en-US" sz="1350" dirty="0">
                <a:solidFill>
                  <a:srgbClr val="23264A"/>
                </a:solidFill>
                <a:latin typeface="Calibri" pitchFamily="34" charset="0"/>
                <a:ea typeface="Calibri" pitchFamily="34" charset="-122"/>
                <a:cs typeface="Calibri" pitchFamily="34" charset="-120"/>
              </a:rPr>
              <a:t>The notebook tests every K from 1 to 20 and records the resulting accuracy on the test set for each value, then selects the K with the highest accuracy.</a:t>
            </a:r>
            <a:endParaRPr lang="en-US" sz="1350" dirty="0"/>
          </a:p>
        </p:txBody>
      </p:sp>
      <p:sp>
        <p:nvSpPr>
          <p:cNvPr id="5" name="Shape 3"/>
          <p:cNvSpPr/>
          <p:nvPr/>
        </p:nvSpPr>
        <p:spPr>
          <a:xfrm>
            <a:off x="548640" y="2743200"/>
            <a:ext cx="5120640" cy="1463041"/>
          </a:xfrm>
          <a:prstGeom prst="roundRect">
            <a:avLst>
              <a:gd name="adj" fmla="val 3721"/>
            </a:avLst>
          </a:prstGeom>
          <a:solidFill>
            <a:srgbClr val="EFE9FB"/>
          </a:solidFill>
          <a:ln w="12700">
            <a:solidFill>
              <a:srgbClr val="6C3FC5"/>
            </a:solidFill>
            <a:prstDash val="solid"/>
          </a:ln>
          <a:effectLst>
            <a:outerShdw blurRad="101600" dist="25400" dir="5400000" algn="bl" rotWithShape="0">
              <a:srgbClr val="1B1F4B">
                <a:alpha val="12000"/>
              </a:srgbClr>
            </a:outerShdw>
          </a:effectLst>
        </p:spPr>
        <p:txBody>
          <a:bodyPr/>
          <a:lstStyle/>
          <a:p>
            <a:endParaRPr lang="en-AE"/>
          </a:p>
        </p:txBody>
      </p:sp>
      <p:sp>
        <p:nvSpPr>
          <p:cNvPr id="6" name="Text 4"/>
          <p:cNvSpPr txBox="1"/>
          <p:nvPr/>
        </p:nvSpPr>
        <p:spPr>
          <a:xfrm>
            <a:off x="777240" y="2926080"/>
            <a:ext cx="4663440" cy="457200"/>
          </a:xfrm>
          <a:prstGeom prst="rect">
            <a:avLst/>
          </a:prstGeom>
          <a:noFill/>
          <a:ln/>
        </p:spPr>
        <p:txBody>
          <a:bodyPr wrap="square" lIns="0" tIns="0" rIns="0" bIns="0" rtlCol="0" anchor="ctr"/>
          <a:lstStyle/>
          <a:p>
            <a:pPr marL="0" indent="0">
              <a:buNone/>
            </a:pPr>
            <a:r>
              <a:rPr lang="en-US" sz="1700" b="1" dirty="0">
                <a:solidFill>
                  <a:srgbClr val="1B1F4B"/>
                </a:solidFill>
                <a:latin typeface="Cambria" pitchFamily="34" charset="0"/>
                <a:ea typeface="Cambria" pitchFamily="34" charset="-122"/>
                <a:cs typeface="Cambria" pitchFamily="34" charset="-120"/>
              </a:rPr>
              <a:t>Best K = </a:t>
            </a:r>
            <a:r>
              <a:rPr lang="ar-EG" sz="1700" b="1" dirty="0">
                <a:solidFill>
                  <a:srgbClr val="1B1F4B"/>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777240" y="3429000"/>
            <a:ext cx="4663440" cy="457200"/>
          </a:xfrm>
          <a:prstGeom prst="rect">
            <a:avLst/>
          </a:prstGeom>
          <a:noFill/>
          <a:ln/>
        </p:spPr>
        <p:txBody>
          <a:bodyPr wrap="square" lIns="0" tIns="0" rIns="0" bIns="0" rtlCol="0" anchor="ctr"/>
          <a:lstStyle/>
          <a:p>
            <a:pPr marL="0" indent="0">
              <a:buNone/>
            </a:pPr>
            <a:r>
              <a:rPr lang="en-US" sz="1400" dirty="0">
                <a:solidFill>
                  <a:srgbClr val="1B1F4B"/>
                </a:solidFill>
                <a:latin typeface="Calibri" pitchFamily="34" charset="0"/>
                <a:ea typeface="Calibri" pitchFamily="34" charset="-122"/>
                <a:cs typeface="Calibri" pitchFamily="34" charset="-120"/>
              </a:rPr>
              <a:t>Best Accuracy =</a:t>
            </a:r>
            <a:r>
              <a:rPr lang="ar-EG" sz="1400" dirty="0">
                <a:solidFill>
                  <a:srgbClr val="1B1F4B"/>
                </a:solidFill>
                <a:latin typeface="Calibri" pitchFamily="34" charset="0"/>
                <a:ea typeface="Calibri" pitchFamily="34" charset="-122"/>
                <a:cs typeface="Calibri" pitchFamily="34" charset="-120"/>
              </a:rPr>
              <a:t> </a:t>
            </a:r>
            <a:r>
              <a:rPr lang="en-AE" sz="1400" b="0" i="0" dirty="0">
                <a:solidFill>
                  <a:srgbClr val="1F1F1F"/>
                </a:solidFill>
                <a:effectLst/>
                <a:latin typeface="Courier New" panose="02070309020205020404" pitchFamily="49" charset="0"/>
              </a:rPr>
              <a:t>99.53%</a:t>
            </a:r>
            <a:endParaRPr lang="en-US" sz="1400" dirty="0"/>
          </a:p>
        </p:txBody>
      </p:sp>
      <p:sp>
        <p:nvSpPr>
          <p:cNvPr id="8" name="Text 6"/>
          <p:cNvSpPr txBox="1"/>
          <p:nvPr/>
        </p:nvSpPr>
        <p:spPr>
          <a:xfrm>
            <a:off x="777240" y="3977640"/>
            <a:ext cx="4663440" cy="457200"/>
          </a:xfrm>
          <a:prstGeom prst="rect">
            <a:avLst/>
          </a:prstGeom>
          <a:noFill/>
          <a:ln/>
        </p:spPr>
        <p:txBody>
          <a:bodyPr wrap="square" lIns="0" tIns="0" rIns="0" bIns="0" rtlCol="0" anchor="ctr"/>
          <a:lstStyle/>
          <a:p>
            <a:pPr marL="0" indent="0">
              <a:buNone/>
            </a:pPr>
            <a:endParaRPr lang="en-US" sz="1050" dirty="0"/>
          </a:p>
        </p:txBody>
      </p:sp>
      <p:sp>
        <p:nvSpPr>
          <p:cNvPr id="9" name="Shape 7"/>
          <p:cNvSpPr/>
          <p:nvPr/>
        </p:nvSpPr>
        <p:spPr>
          <a:xfrm>
            <a:off x="6035040" y="1554480"/>
            <a:ext cx="5577840" cy="4297680"/>
          </a:xfrm>
          <a:prstGeom prst="roundRect">
            <a:avLst>
              <a:gd name="adj" fmla="val 1702"/>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0" name="Text 8"/>
          <p:cNvSpPr txBox="1"/>
          <p:nvPr/>
        </p:nvSpPr>
        <p:spPr>
          <a:xfrm>
            <a:off x="6263640" y="1737360"/>
            <a:ext cx="5120640" cy="365760"/>
          </a:xfrm>
          <a:prstGeom prst="rect">
            <a:avLst/>
          </a:prstGeom>
          <a:noFill/>
          <a:ln/>
        </p:spPr>
        <p:txBody>
          <a:bodyPr wrap="square" lIns="0" tIns="0" rIns="0" bIns="0" rtlCol="0" anchor="ctr"/>
          <a:lstStyle/>
          <a:p>
            <a:pPr marL="0" indent="0">
              <a:buNone/>
            </a:pPr>
            <a:r>
              <a:rPr lang="en-US" sz="1400" b="1" dirty="0">
                <a:solidFill>
                  <a:srgbClr val="1B1F4B"/>
                </a:solidFill>
                <a:latin typeface="Cambria" pitchFamily="34" charset="0"/>
                <a:ea typeface="Cambria" pitchFamily="34" charset="-122"/>
                <a:cs typeface="Cambria" pitchFamily="34" charset="-120"/>
              </a:rPr>
              <a:t>K value  →  Accuracy</a:t>
            </a:r>
            <a:endParaRPr lang="en-US" sz="1400" dirty="0"/>
          </a:p>
        </p:txBody>
      </p:sp>
      <p:sp>
        <p:nvSpPr>
          <p:cNvPr id="11" name="Shape 9"/>
          <p:cNvSpPr/>
          <p:nvPr/>
        </p:nvSpPr>
        <p:spPr>
          <a:xfrm>
            <a:off x="6355080" y="2286000"/>
            <a:ext cx="5029200" cy="3291840"/>
          </a:xfrm>
          <a:prstGeom prst="roundRect">
            <a:avLst>
              <a:gd name="adj" fmla="val 1667"/>
            </a:avLst>
          </a:prstGeom>
          <a:solidFill>
            <a:srgbClr val="F4F3FA"/>
          </a:solidFill>
          <a:ln w="19050">
            <a:solidFill>
              <a:srgbClr val="E4E3EE"/>
            </a:solidFill>
            <a:prstDash val="dash"/>
          </a:ln>
        </p:spPr>
        <p:txBody>
          <a:bodyPr/>
          <a:lstStyle/>
          <a:p>
            <a:endParaRPr lang="en-AE"/>
          </a:p>
        </p:txBody>
      </p:sp>
      <p:pic>
        <p:nvPicPr>
          <p:cNvPr id="12" name="Image 0" descr="/home/claude/edurisk/icons/chartline_purple.png"/>
          <p:cNvPicPr>
            <a:picLocks noChangeAspect="1"/>
          </p:cNvPicPr>
          <p:nvPr/>
        </p:nvPicPr>
        <p:blipFill>
          <a:blip r:embed="rId3"/>
          <a:stretch>
            <a:fillRect/>
          </a:stretch>
        </p:blipFill>
        <p:spPr>
          <a:xfrm>
            <a:off x="8549640" y="3063240"/>
            <a:ext cx="640080" cy="640080"/>
          </a:xfrm>
          <a:prstGeom prst="rect">
            <a:avLst/>
          </a:prstGeom>
        </p:spPr>
      </p:pic>
      <p:sp>
        <p:nvSpPr>
          <p:cNvPr id="13" name="Text 10"/>
          <p:cNvSpPr txBox="1"/>
          <p:nvPr/>
        </p:nvSpPr>
        <p:spPr>
          <a:xfrm>
            <a:off x="6675120" y="3840480"/>
            <a:ext cx="4389120" cy="731520"/>
          </a:xfrm>
          <a:prstGeom prst="rect">
            <a:avLst/>
          </a:prstGeom>
          <a:noFill/>
          <a:ln/>
        </p:spPr>
        <p:txBody>
          <a:bodyPr wrap="square" lIns="0" tIns="0" rIns="0" bIns="0" rtlCol="0" anchor="ctr"/>
          <a:lstStyle/>
          <a:p>
            <a:pPr marL="0" indent="0" algn="ctr">
              <a:buNone/>
            </a:pPr>
            <a:r>
              <a:rPr lang="en-US" sz="1150" i="1" dirty="0">
                <a:solidFill>
                  <a:srgbClr val="6B7089"/>
                </a:solidFill>
                <a:latin typeface="Calibri" pitchFamily="34" charset="0"/>
                <a:ea typeface="Calibri" pitchFamily="34" charset="-122"/>
                <a:cs typeface="Calibri" pitchFamily="34" charset="-120"/>
              </a:rPr>
              <a:t>Actual K-vs-Accuracy plot from the notebook goes here</a:t>
            </a:r>
            <a:endParaRPr lang="en-US" sz="1150" dirty="0"/>
          </a:p>
          <a:p>
            <a:pPr marL="0" indent="0" algn="ctr">
              <a:buNone/>
            </a:pPr>
            <a:r>
              <a:rPr lang="en-US" sz="1150" i="1" dirty="0">
                <a:solidFill>
                  <a:srgbClr val="6B7089"/>
                </a:solidFill>
                <a:latin typeface="Calibri" pitchFamily="34" charset="0"/>
                <a:ea typeface="Calibri" pitchFamily="34" charset="-122"/>
                <a:cs typeface="Calibri" pitchFamily="34" charset="-120"/>
              </a:rPr>
              <a:t>(plt.plot(k_values, accuracy_values) — run to generate)</a:t>
            </a:r>
            <a:endParaRPr lang="en-US" sz="1150" dirty="0"/>
          </a:p>
        </p:txBody>
      </p:sp>
      <p:sp>
        <p:nvSpPr>
          <p:cNvPr id="14" name="Text 11"/>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08</a:t>
            </a:r>
            <a:endParaRPr lang="en-US" sz="1000" dirty="0"/>
          </a:p>
        </p:txBody>
      </p:sp>
      <p:sp>
        <p:nvSpPr>
          <p:cNvPr id="15" name="Text 12"/>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pic>
        <p:nvPicPr>
          <p:cNvPr id="19" name="Picture 18" descr="A graph with blue lines and numbers&#10;&#10;Description automatically generated">
            <a:extLst>
              <a:ext uri="{FF2B5EF4-FFF2-40B4-BE49-F238E27FC236}">
                <a16:creationId xmlns:a16="http://schemas.microsoft.com/office/drawing/2014/main" id="{080D6002-0BC9-E6F1-603D-EA7B67D22B68}"/>
              </a:ext>
            </a:extLst>
          </p:cNvPr>
          <p:cNvPicPr>
            <a:picLocks noChangeAspect="1"/>
          </p:cNvPicPr>
          <p:nvPr/>
        </p:nvPicPr>
        <p:blipFill>
          <a:blip r:embed="rId4"/>
          <a:stretch>
            <a:fillRect/>
          </a:stretch>
        </p:blipFill>
        <p:spPr>
          <a:xfrm>
            <a:off x="6263640" y="2286000"/>
            <a:ext cx="5128704" cy="3291840"/>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HOW WE JUDGE A MODEL</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Model Evaluation Metrics</a:t>
            </a:r>
            <a:endParaRPr lang="en-US" sz="3000" dirty="0"/>
          </a:p>
        </p:txBody>
      </p:sp>
      <p:sp>
        <p:nvSpPr>
          <p:cNvPr id="4" name="Shape 2"/>
          <p:cNvSpPr/>
          <p:nvPr/>
        </p:nvSpPr>
        <p:spPr>
          <a:xfrm>
            <a:off x="548640" y="1691640"/>
            <a:ext cx="2560320" cy="1737360"/>
          </a:xfrm>
          <a:prstGeom prst="roundRect">
            <a:avLst>
              <a:gd name="adj" fmla="val 421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749808" y="1911096"/>
            <a:ext cx="502920" cy="502920"/>
          </a:xfrm>
          <a:prstGeom prst="ellipse">
            <a:avLst/>
          </a:prstGeom>
          <a:solidFill>
            <a:srgbClr val="6C3FC5"/>
          </a:solidFill>
          <a:ln/>
        </p:spPr>
        <p:txBody>
          <a:bodyPr/>
          <a:lstStyle/>
          <a:p>
            <a:endParaRPr lang="en-AE"/>
          </a:p>
        </p:txBody>
      </p:sp>
      <p:pic>
        <p:nvPicPr>
          <p:cNvPr id="6" name="Image 0" descr="/home/claude/edurisk/icons/bullseye_white.png"/>
          <p:cNvPicPr>
            <a:picLocks noChangeAspect="1"/>
          </p:cNvPicPr>
          <p:nvPr/>
        </p:nvPicPr>
        <p:blipFill>
          <a:blip r:embed="rId3"/>
          <a:stretch>
            <a:fillRect/>
          </a:stretch>
        </p:blipFill>
        <p:spPr>
          <a:xfrm>
            <a:off x="875538" y="2036826"/>
            <a:ext cx="251460" cy="251460"/>
          </a:xfrm>
          <a:prstGeom prst="rect">
            <a:avLst/>
          </a:prstGeom>
        </p:spPr>
      </p:pic>
      <p:sp>
        <p:nvSpPr>
          <p:cNvPr id="7" name="Text 4"/>
          <p:cNvSpPr txBox="1"/>
          <p:nvPr/>
        </p:nvSpPr>
        <p:spPr>
          <a:xfrm>
            <a:off x="749808" y="2560320"/>
            <a:ext cx="2194560" cy="320040"/>
          </a:xfrm>
          <a:prstGeom prst="rect">
            <a:avLst/>
          </a:prstGeom>
          <a:noFill/>
          <a:ln/>
        </p:spPr>
        <p:txBody>
          <a:bodyPr wrap="square" lIns="0" tIns="0" rIns="0" bIns="0" rtlCol="0" anchor="ctr"/>
          <a:lstStyle/>
          <a:p>
            <a:pPr marL="0" indent="0">
              <a:buNone/>
            </a:pPr>
            <a:r>
              <a:rPr lang="en-US" sz="1400" b="1" dirty="0">
                <a:solidFill>
                  <a:srgbClr val="1B1F4B"/>
                </a:solidFill>
                <a:latin typeface="Cambria" pitchFamily="34" charset="0"/>
                <a:ea typeface="Cambria" pitchFamily="34" charset="-122"/>
                <a:cs typeface="Cambria" pitchFamily="34" charset="-120"/>
              </a:rPr>
              <a:t>Accuracy</a:t>
            </a:r>
            <a:endParaRPr lang="en-US" sz="1400" dirty="0"/>
          </a:p>
        </p:txBody>
      </p:sp>
      <p:sp>
        <p:nvSpPr>
          <p:cNvPr id="8" name="Text 5"/>
          <p:cNvSpPr txBox="1"/>
          <p:nvPr/>
        </p:nvSpPr>
        <p:spPr>
          <a:xfrm>
            <a:off x="749808" y="2898648"/>
            <a:ext cx="2194560" cy="502920"/>
          </a:xfrm>
          <a:prstGeom prst="rect">
            <a:avLst/>
          </a:prstGeom>
          <a:noFill/>
          <a:ln/>
        </p:spPr>
        <p:txBody>
          <a:bodyPr wrap="square" lIns="0" tIns="0" rIns="0" bIns="0" rtlCol="0" anchor="ctr"/>
          <a:lstStyle/>
          <a:p>
            <a:pPr marL="0" indent="0">
              <a:buNone/>
            </a:pPr>
            <a:r>
              <a:rPr lang="en-US" sz="1050" dirty="0">
                <a:solidFill>
                  <a:srgbClr val="6B7089"/>
                </a:solidFill>
                <a:latin typeface="Calibri" pitchFamily="34" charset="0"/>
                <a:ea typeface="Calibri" pitchFamily="34" charset="-122"/>
                <a:cs typeface="Calibri" pitchFamily="34" charset="-120"/>
              </a:rPr>
              <a:t>Share of all predictions the model got right.</a:t>
            </a:r>
            <a:endParaRPr lang="en-US" sz="1050" dirty="0"/>
          </a:p>
        </p:txBody>
      </p:sp>
      <p:sp>
        <p:nvSpPr>
          <p:cNvPr id="9" name="Shape 6"/>
          <p:cNvSpPr/>
          <p:nvPr/>
        </p:nvSpPr>
        <p:spPr>
          <a:xfrm>
            <a:off x="3383280" y="1691640"/>
            <a:ext cx="2560320" cy="1737360"/>
          </a:xfrm>
          <a:prstGeom prst="roundRect">
            <a:avLst>
              <a:gd name="adj" fmla="val 421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0" name="Shape 7"/>
          <p:cNvSpPr/>
          <p:nvPr/>
        </p:nvSpPr>
        <p:spPr>
          <a:xfrm>
            <a:off x="3584448" y="1911096"/>
            <a:ext cx="502920" cy="502920"/>
          </a:xfrm>
          <a:prstGeom prst="ellipse">
            <a:avLst/>
          </a:prstGeom>
          <a:solidFill>
            <a:srgbClr val="6C3FC5"/>
          </a:solidFill>
          <a:ln/>
        </p:spPr>
        <p:txBody>
          <a:bodyPr/>
          <a:lstStyle/>
          <a:p>
            <a:endParaRPr lang="en-AE"/>
          </a:p>
        </p:txBody>
      </p:sp>
      <p:pic>
        <p:nvPicPr>
          <p:cNvPr id="11" name="Image 1" descr="/home/claude/edurisk/icons/crosshairs_white.png"/>
          <p:cNvPicPr>
            <a:picLocks noChangeAspect="1"/>
          </p:cNvPicPr>
          <p:nvPr/>
        </p:nvPicPr>
        <p:blipFill>
          <a:blip r:embed="rId4"/>
          <a:stretch>
            <a:fillRect/>
          </a:stretch>
        </p:blipFill>
        <p:spPr>
          <a:xfrm>
            <a:off x="3710178" y="2036826"/>
            <a:ext cx="251460" cy="251460"/>
          </a:xfrm>
          <a:prstGeom prst="rect">
            <a:avLst/>
          </a:prstGeom>
        </p:spPr>
      </p:pic>
      <p:sp>
        <p:nvSpPr>
          <p:cNvPr id="12" name="Text 8"/>
          <p:cNvSpPr txBox="1"/>
          <p:nvPr/>
        </p:nvSpPr>
        <p:spPr>
          <a:xfrm>
            <a:off x="3584448" y="2560320"/>
            <a:ext cx="2194560" cy="320040"/>
          </a:xfrm>
          <a:prstGeom prst="rect">
            <a:avLst/>
          </a:prstGeom>
          <a:noFill/>
          <a:ln/>
        </p:spPr>
        <p:txBody>
          <a:bodyPr wrap="square" lIns="0" tIns="0" rIns="0" bIns="0" rtlCol="0" anchor="ctr"/>
          <a:lstStyle/>
          <a:p>
            <a:pPr marL="0" indent="0">
              <a:buNone/>
            </a:pPr>
            <a:r>
              <a:rPr lang="en-US" sz="1400" b="1" dirty="0">
                <a:solidFill>
                  <a:srgbClr val="1B1F4B"/>
                </a:solidFill>
                <a:latin typeface="Cambria" pitchFamily="34" charset="0"/>
                <a:ea typeface="Cambria" pitchFamily="34" charset="-122"/>
                <a:cs typeface="Cambria" pitchFamily="34" charset="-120"/>
              </a:rPr>
              <a:t>Precision</a:t>
            </a:r>
            <a:endParaRPr lang="en-US" sz="1400" dirty="0"/>
          </a:p>
        </p:txBody>
      </p:sp>
      <p:sp>
        <p:nvSpPr>
          <p:cNvPr id="13" name="Text 9"/>
          <p:cNvSpPr txBox="1"/>
          <p:nvPr/>
        </p:nvSpPr>
        <p:spPr>
          <a:xfrm>
            <a:off x="3584448" y="2898648"/>
            <a:ext cx="2194560" cy="502920"/>
          </a:xfrm>
          <a:prstGeom prst="rect">
            <a:avLst/>
          </a:prstGeom>
          <a:noFill/>
          <a:ln/>
        </p:spPr>
        <p:txBody>
          <a:bodyPr wrap="square" lIns="0" tIns="0" rIns="0" bIns="0" rtlCol="0" anchor="ctr"/>
          <a:lstStyle/>
          <a:p>
            <a:pPr marL="0" indent="0">
              <a:buNone/>
            </a:pPr>
            <a:r>
              <a:rPr lang="en-US" sz="1050" dirty="0">
                <a:solidFill>
                  <a:srgbClr val="6B7089"/>
                </a:solidFill>
                <a:latin typeface="Calibri" pitchFamily="34" charset="0"/>
                <a:ea typeface="Calibri" pitchFamily="34" charset="-122"/>
                <a:cs typeface="Calibri" pitchFamily="34" charset="-120"/>
              </a:rPr>
              <a:t>Of students predicted at-risk, how many truly are.</a:t>
            </a:r>
            <a:endParaRPr lang="en-US" sz="1050" dirty="0"/>
          </a:p>
        </p:txBody>
      </p:sp>
      <p:sp>
        <p:nvSpPr>
          <p:cNvPr id="14" name="Shape 10"/>
          <p:cNvSpPr/>
          <p:nvPr/>
        </p:nvSpPr>
        <p:spPr>
          <a:xfrm>
            <a:off x="6217920" y="1691640"/>
            <a:ext cx="2560320" cy="1737360"/>
          </a:xfrm>
          <a:prstGeom prst="roundRect">
            <a:avLst>
              <a:gd name="adj" fmla="val 421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5" name="Shape 11"/>
          <p:cNvSpPr/>
          <p:nvPr/>
        </p:nvSpPr>
        <p:spPr>
          <a:xfrm>
            <a:off x="6419088" y="1911096"/>
            <a:ext cx="502920" cy="502920"/>
          </a:xfrm>
          <a:prstGeom prst="ellipse">
            <a:avLst/>
          </a:prstGeom>
          <a:solidFill>
            <a:srgbClr val="6C3FC5"/>
          </a:solidFill>
          <a:ln/>
        </p:spPr>
        <p:txBody>
          <a:bodyPr/>
          <a:lstStyle/>
          <a:p>
            <a:endParaRPr lang="en-AE"/>
          </a:p>
        </p:txBody>
      </p:sp>
      <p:pic>
        <p:nvPicPr>
          <p:cNvPr id="16" name="Image 2" descr="/home/claude/edurisk/icons/checkcircle_white.png"/>
          <p:cNvPicPr>
            <a:picLocks noChangeAspect="1"/>
          </p:cNvPicPr>
          <p:nvPr/>
        </p:nvPicPr>
        <p:blipFill>
          <a:blip r:embed="rId5"/>
          <a:stretch>
            <a:fillRect/>
          </a:stretch>
        </p:blipFill>
        <p:spPr>
          <a:xfrm>
            <a:off x="6544818" y="2036826"/>
            <a:ext cx="251460" cy="251460"/>
          </a:xfrm>
          <a:prstGeom prst="rect">
            <a:avLst/>
          </a:prstGeom>
        </p:spPr>
      </p:pic>
      <p:sp>
        <p:nvSpPr>
          <p:cNvPr id="17" name="Text 12"/>
          <p:cNvSpPr txBox="1"/>
          <p:nvPr/>
        </p:nvSpPr>
        <p:spPr>
          <a:xfrm>
            <a:off x="6419088" y="2560320"/>
            <a:ext cx="2194560" cy="320040"/>
          </a:xfrm>
          <a:prstGeom prst="rect">
            <a:avLst/>
          </a:prstGeom>
          <a:noFill/>
          <a:ln/>
        </p:spPr>
        <p:txBody>
          <a:bodyPr wrap="square" lIns="0" tIns="0" rIns="0" bIns="0" rtlCol="0" anchor="ctr"/>
          <a:lstStyle/>
          <a:p>
            <a:pPr marL="0" indent="0">
              <a:buNone/>
            </a:pPr>
            <a:r>
              <a:rPr lang="en-US" sz="1400" b="1" dirty="0">
                <a:solidFill>
                  <a:srgbClr val="1B1F4B"/>
                </a:solidFill>
                <a:latin typeface="Cambria" pitchFamily="34" charset="0"/>
                <a:ea typeface="Cambria" pitchFamily="34" charset="-122"/>
                <a:cs typeface="Cambria" pitchFamily="34" charset="-120"/>
              </a:rPr>
              <a:t>Recall</a:t>
            </a:r>
            <a:endParaRPr lang="en-US" sz="1400" dirty="0"/>
          </a:p>
        </p:txBody>
      </p:sp>
      <p:sp>
        <p:nvSpPr>
          <p:cNvPr id="18" name="Text 13"/>
          <p:cNvSpPr txBox="1"/>
          <p:nvPr/>
        </p:nvSpPr>
        <p:spPr>
          <a:xfrm>
            <a:off x="6419088" y="2898648"/>
            <a:ext cx="2194560" cy="502920"/>
          </a:xfrm>
          <a:prstGeom prst="rect">
            <a:avLst/>
          </a:prstGeom>
          <a:noFill/>
          <a:ln/>
        </p:spPr>
        <p:txBody>
          <a:bodyPr wrap="square" lIns="0" tIns="0" rIns="0" bIns="0" rtlCol="0" anchor="ctr"/>
          <a:lstStyle/>
          <a:p>
            <a:pPr marL="0" indent="0">
              <a:buNone/>
            </a:pPr>
            <a:r>
              <a:rPr lang="en-US" sz="1050" dirty="0">
                <a:solidFill>
                  <a:srgbClr val="6B7089"/>
                </a:solidFill>
                <a:latin typeface="Calibri" pitchFamily="34" charset="0"/>
                <a:ea typeface="Calibri" pitchFamily="34" charset="-122"/>
                <a:cs typeface="Calibri" pitchFamily="34" charset="-120"/>
              </a:rPr>
              <a:t>Of students truly at-risk, how many the model caught.</a:t>
            </a:r>
            <a:endParaRPr lang="en-US" sz="1050" dirty="0"/>
          </a:p>
        </p:txBody>
      </p:sp>
      <p:sp>
        <p:nvSpPr>
          <p:cNvPr id="19" name="Shape 14"/>
          <p:cNvSpPr/>
          <p:nvPr/>
        </p:nvSpPr>
        <p:spPr>
          <a:xfrm>
            <a:off x="9052560" y="1691640"/>
            <a:ext cx="2560320" cy="1737360"/>
          </a:xfrm>
          <a:prstGeom prst="roundRect">
            <a:avLst>
              <a:gd name="adj" fmla="val 421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0" name="Shape 15"/>
          <p:cNvSpPr/>
          <p:nvPr/>
        </p:nvSpPr>
        <p:spPr>
          <a:xfrm>
            <a:off x="9253728" y="1911096"/>
            <a:ext cx="502920" cy="502920"/>
          </a:xfrm>
          <a:prstGeom prst="ellipse">
            <a:avLst/>
          </a:prstGeom>
          <a:solidFill>
            <a:srgbClr val="6C3FC5"/>
          </a:solidFill>
          <a:ln/>
        </p:spPr>
        <p:txBody>
          <a:bodyPr/>
          <a:lstStyle/>
          <a:p>
            <a:endParaRPr lang="en-AE"/>
          </a:p>
        </p:txBody>
      </p:sp>
      <p:pic>
        <p:nvPicPr>
          <p:cNvPr id="21" name="Image 3" descr="/home/claude/edurisk/icons/balancescale_white.png"/>
          <p:cNvPicPr>
            <a:picLocks noChangeAspect="1"/>
          </p:cNvPicPr>
          <p:nvPr/>
        </p:nvPicPr>
        <p:blipFill>
          <a:blip r:embed="rId6"/>
          <a:stretch>
            <a:fillRect/>
          </a:stretch>
        </p:blipFill>
        <p:spPr>
          <a:xfrm>
            <a:off x="9379458" y="2036826"/>
            <a:ext cx="251460" cy="251460"/>
          </a:xfrm>
          <a:prstGeom prst="rect">
            <a:avLst/>
          </a:prstGeom>
        </p:spPr>
      </p:pic>
      <p:sp>
        <p:nvSpPr>
          <p:cNvPr id="22" name="Text 16"/>
          <p:cNvSpPr txBox="1"/>
          <p:nvPr/>
        </p:nvSpPr>
        <p:spPr>
          <a:xfrm>
            <a:off x="9253728" y="2560320"/>
            <a:ext cx="2194560" cy="320040"/>
          </a:xfrm>
          <a:prstGeom prst="rect">
            <a:avLst/>
          </a:prstGeom>
          <a:noFill/>
          <a:ln/>
        </p:spPr>
        <p:txBody>
          <a:bodyPr wrap="square" lIns="0" tIns="0" rIns="0" bIns="0" rtlCol="0" anchor="ctr"/>
          <a:lstStyle/>
          <a:p>
            <a:pPr marL="0" indent="0">
              <a:buNone/>
            </a:pPr>
            <a:r>
              <a:rPr lang="en-US" sz="1400" b="1" dirty="0">
                <a:solidFill>
                  <a:srgbClr val="1B1F4B"/>
                </a:solidFill>
                <a:latin typeface="Cambria" pitchFamily="34" charset="0"/>
                <a:ea typeface="Cambria" pitchFamily="34" charset="-122"/>
                <a:cs typeface="Cambria" pitchFamily="34" charset="-120"/>
              </a:rPr>
              <a:t>F1-score</a:t>
            </a:r>
            <a:endParaRPr lang="en-US" sz="1400" dirty="0"/>
          </a:p>
        </p:txBody>
      </p:sp>
      <p:sp>
        <p:nvSpPr>
          <p:cNvPr id="23" name="Text 17"/>
          <p:cNvSpPr txBox="1"/>
          <p:nvPr/>
        </p:nvSpPr>
        <p:spPr>
          <a:xfrm>
            <a:off x="9253728" y="2898648"/>
            <a:ext cx="2194560" cy="502920"/>
          </a:xfrm>
          <a:prstGeom prst="rect">
            <a:avLst/>
          </a:prstGeom>
          <a:noFill/>
          <a:ln/>
        </p:spPr>
        <p:txBody>
          <a:bodyPr wrap="square" lIns="0" tIns="0" rIns="0" bIns="0" rtlCol="0" anchor="ctr"/>
          <a:lstStyle/>
          <a:p>
            <a:pPr marL="0" indent="0">
              <a:buNone/>
            </a:pPr>
            <a:r>
              <a:rPr lang="en-US" sz="1050" dirty="0">
                <a:solidFill>
                  <a:srgbClr val="6B7089"/>
                </a:solidFill>
                <a:latin typeface="Calibri" pitchFamily="34" charset="0"/>
                <a:ea typeface="Calibri" pitchFamily="34" charset="-122"/>
                <a:cs typeface="Calibri" pitchFamily="34" charset="-120"/>
              </a:rPr>
              <a:t>Harmonic mean of Precision &amp; Recall — balances both.</a:t>
            </a:r>
            <a:endParaRPr lang="en-US" sz="1050" dirty="0"/>
          </a:p>
        </p:txBody>
      </p:sp>
      <p:sp>
        <p:nvSpPr>
          <p:cNvPr id="24" name="Shape 18"/>
          <p:cNvSpPr/>
          <p:nvPr/>
        </p:nvSpPr>
        <p:spPr>
          <a:xfrm>
            <a:off x="548640" y="3657600"/>
            <a:ext cx="11064240" cy="566928"/>
          </a:xfrm>
          <a:prstGeom prst="roundRect">
            <a:avLst>
              <a:gd name="adj" fmla="val 12903"/>
            </a:avLst>
          </a:prstGeom>
          <a:solidFill>
            <a:srgbClr val="EFE9FB"/>
          </a:solidFill>
          <a:ln/>
        </p:spPr>
        <p:txBody>
          <a:bodyPr/>
          <a:lstStyle/>
          <a:p>
            <a:endParaRPr lang="en-AE"/>
          </a:p>
        </p:txBody>
      </p:sp>
      <p:sp>
        <p:nvSpPr>
          <p:cNvPr id="25" name="Text 19"/>
          <p:cNvSpPr txBox="1"/>
          <p:nvPr/>
        </p:nvSpPr>
        <p:spPr>
          <a:xfrm>
            <a:off x="777240" y="3657600"/>
            <a:ext cx="10607040" cy="566928"/>
          </a:xfrm>
          <a:prstGeom prst="rect">
            <a:avLst/>
          </a:prstGeom>
          <a:noFill/>
          <a:ln/>
        </p:spPr>
        <p:txBody>
          <a:bodyPr wrap="square" lIns="0" tIns="0" rIns="0" bIns="0" rtlCol="0" anchor="ctr"/>
          <a:lstStyle/>
          <a:p>
            <a:pPr marL="0" indent="0">
              <a:buNone/>
            </a:pPr>
            <a:r>
              <a:rPr lang="en-US" sz="1200" b="1" dirty="0">
                <a:solidFill>
                  <a:srgbClr val="1B1F4B"/>
                </a:solidFill>
                <a:latin typeface="Calibri" pitchFamily="34" charset="0"/>
                <a:ea typeface="Calibri" pitchFamily="34" charset="-122"/>
                <a:cs typeface="Calibri" pitchFamily="34" charset="-120"/>
              </a:rPr>
              <a:t>Why F1-score matters:  </a:t>
            </a:r>
            <a:r>
              <a:rPr lang="en-US" sz="1200" dirty="0">
                <a:solidFill>
                  <a:srgbClr val="23264A"/>
                </a:solidFill>
                <a:latin typeface="Calibri" pitchFamily="34" charset="0"/>
                <a:ea typeface="Calibri" pitchFamily="34" charset="-122"/>
                <a:cs typeface="Calibri" pitchFamily="34" charset="-120"/>
              </a:rPr>
              <a:t>when missing an at-risk student (low Recall) and wrongly flagging a safe student (low Precision) both carry a cost, F1 balances the two into a single comparison metric.</a:t>
            </a:r>
            <a:endParaRPr lang="en-US" sz="1200" dirty="0"/>
          </a:p>
        </p:txBody>
      </p:sp>
      <p:sp>
        <p:nvSpPr>
          <p:cNvPr id="26" name="Text 20"/>
          <p:cNvSpPr txBox="1"/>
          <p:nvPr/>
        </p:nvSpPr>
        <p:spPr>
          <a:xfrm>
            <a:off x="548640" y="4434840"/>
            <a:ext cx="4572000" cy="365760"/>
          </a:xfrm>
          <a:prstGeom prst="rect">
            <a:avLst/>
          </a:prstGeom>
          <a:noFill/>
          <a:ln/>
        </p:spPr>
        <p:txBody>
          <a:bodyPr wrap="square" lIns="0" tIns="0" rIns="0" bIns="0" rtlCol="0" anchor="ctr"/>
          <a:lstStyle/>
          <a:p>
            <a:pPr marL="0" indent="0">
              <a:buNone/>
            </a:pPr>
            <a:r>
              <a:rPr lang="en-US" sz="1500" b="1" dirty="0">
                <a:solidFill>
                  <a:srgbClr val="1B1F4B"/>
                </a:solidFill>
                <a:latin typeface="Cambria" pitchFamily="34" charset="0"/>
                <a:ea typeface="Cambria" pitchFamily="34" charset="-122"/>
                <a:cs typeface="Cambria" pitchFamily="34" charset="-120"/>
              </a:rPr>
              <a:t>The Confusion Matrix</a:t>
            </a:r>
            <a:endParaRPr lang="en-US" sz="1500" dirty="0"/>
          </a:p>
        </p:txBody>
      </p:sp>
      <p:sp>
        <p:nvSpPr>
          <p:cNvPr id="27" name="Shape 21"/>
          <p:cNvSpPr/>
          <p:nvPr/>
        </p:nvSpPr>
        <p:spPr>
          <a:xfrm>
            <a:off x="548640" y="4846320"/>
            <a:ext cx="2560320" cy="1234440"/>
          </a:xfrm>
          <a:prstGeom prst="roundRect">
            <a:avLst>
              <a:gd name="adj" fmla="val 5185"/>
            </a:avLst>
          </a:prstGeom>
          <a:solidFill>
            <a:srgbClr val="E3F6F1"/>
          </a:solidFill>
          <a:ln/>
        </p:spPr>
        <p:txBody>
          <a:bodyPr/>
          <a:lstStyle/>
          <a:p>
            <a:endParaRPr lang="en-AE"/>
          </a:p>
        </p:txBody>
      </p:sp>
      <p:sp>
        <p:nvSpPr>
          <p:cNvPr id="28" name="Text 22"/>
          <p:cNvSpPr txBox="1"/>
          <p:nvPr/>
        </p:nvSpPr>
        <p:spPr>
          <a:xfrm>
            <a:off x="685800" y="4956048"/>
            <a:ext cx="2286000" cy="320040"/>
          </a:xfrm>
          <a:prstGeom prst="rect">
            <a:avLst/>
          </a:prstGeom>
          <a:noFill/>
          <a:ln/>
        </p:spPr>
        <p:txBody>
          <a:bodyPr wrap="square" lIns="0" tIns="0" rIns="0" bIns="0" rtlCol="0" anchor="ctr"/>
          <a:lstStyle/>
          <a:p>
            <a:pPr marL="0" indent="0">
              <a:buNone/>
            </a:pPr>
            <a:r>
              <a:rPr lang="en-US" sz="1200" b="1" dirty="0">
                <a:solidFill>
                  <a:srgbClr val="1E9E82"/>
                </a:solidFill>
                <a:latin typeface="Calibri" pitchFamily="34" charset="0"/>
                <a:ea typeface="Calibri" pitchFamily="34" charset="-122"/>
                <a:cs typeface="Calibri" pitchFamily="34" charset="-120"/>
              </a:rPr>
              <a:t>True Positive</a:t>
            </a:r>
            <a:endParaRPr lang="en-US" sz="1200" dirty="0"/>
          </a:p>
        </p:txBody>
      </p:sp>
      <p:sp>
        <p:nvSpPr>
          <p:cNvPr id="29" name="Text 23"/>
          <p:cNvSpPr txBox="1"/>
          <p:nvPr/>
        </p:nvSpPr>
        <p:spPr>
          <a:xfrm>
            <a:off x="685800" y="5285232"/>
            <a:ext cx="2286000" cy="685800"/>
          </a:xfrm>
          <a:prstGeom prst="rect">
            <a:avLst/>
          </a:prstGeom>
          <a:noFill/>
          <a:ln/>
        </p:spPr>
        <p:txBody>
          <a:bodyPr wrap="square" lIns="0" tIns="0" rIns="0" bIns="0" rtlCol="0" anchor="ctr"/>
          <a:lstStyle/>
          <a:p>
            <a:pPr marL="0" indent="0">
              <a:buNone/>
            </a:pPr>
            <a:r>
              <a:rPr lang="en-US" sz="1050" dirty="0">
                <a:solidFill>
                  <a:srgbClr val="23264A"/>
                </a:solidFill>
                <a:latin typeface="Calibri" pitchFamily="34" charset="0"/>
                <a:ea typeface="Calibri" pitchFamily="34" charset="-122"/>
                <a:cs typeface="Calibri" pitchFamily="34" charset="-120"/>
              </a:rPr>
              <a:t>Correctly predicted: at risk</a:t>
            </a:r>
            <a:endParaRPr lang="en-US" sz="1050" dirty="0"/>
          </a:p>
        </p:txBody>
      </p:sp>
      <p:sp>
        <p:nvSpPr>
          <p:cNvPr id="30" name="Shape 24"/>
          <p:cNvSpPr/>
          <p:nvPr/>
        </p:nvSpPr>
        <p:spPr>
          <a:xfrm>
            <a:off x="3383280" y="4846320"/>
            <a:ext cx="2560320" cy="1234440"/>
          </a:xfrm>
          <a:prstGeom prst="roundRect">
            <a:avLst>
              <a:gd name="adj" fmla="val 5185"/>
            </a:avLst>
          </a:prstGeom>
          <a:solidFill>
            <a:srgbClr val="E3F6F1"/>
          </a:solidFill>
          <a:ln/>
        </p:spPr>
        <p:txBody>
          <a:bodyPr/>
          <a:lstStyle/>
          <a:p>
            <a:endParaRPr lang="en-AE"/>
          </a:p>
        </p:txBody>
      </p:sp>
      <p:sp>
        <p:nvSpPr>
          <p:cNvPr id="31" name="Text 25"/>
          <p:cNvSpPr txBox="1"/>
          <p:nvPr/>
        </p:nvSpPr>
        <p:spPr>
          <a:xfrm>
            <a:off x="3520440" y="4956048"/>
            <a:ext cx="2286000" cy="320040"/>
          </a:xfrm>
          <a:prstGeom prst="rect">
            <a:avLst/>
          </a:prstGeom>
          <a:noFill/>
          <a:ln/>
        </p:spPr>
        <p:txBody>
          <a:bodyPr wrap="square" lIns="0" tIns="0" rIns="0" bIns="0" rtlCol="0" anchor="ctr"/>
          <a:lstStyle/>
          <a:p>
            <a:pPr marL="0" indent="0">
              <a:buNone/>
            </a:pPr>
            <a:r>
              <a:rPr lang="en-US" sz="1200" b="1" dirty="0">
                <a:solidFill>
                  <a:srgbClr val="1E9E82"/>
                </a:solidFill>
                <a:latin typeface="Calibri" pitchFamily="34" charset="0"/>
                <a:ea typeface="Calibri" pitchFamily="34" charset="-122"/>
                <a:cs typeface="Calibri" pitchFamily="34" charset="-120"/>
              </a:rPr>
              <a:t>True Negative</a:t>
            </a:r>
            <a:endParaRPr lang="en-US" sz="1200" dirty="0"/>
          </a:p>
        </p:txBody>
      </p:sp>
      <p:sp>
        <p:nvSpPr>
          <p:cNvPr id="32" name="Text 26"/>
          <p:cNvSpPr txBox="1"/>
          <p:nvPr/>
        </p:nvSpPr>
        <p:spPr>
          <a:xfrm>
            <a:off x="3520440" y="5285232"/>
            <a:ext cx="2286000" cy="685800"/>
          </a:xfrm>
          <a:prstGeom prst="rect">
            <a:avLst/>
          </a:prstGeom>
          <a:noFill/>
          <a:ln/>
        </p:spPr>
        <p:txBody>
          <a:bodyPr wrap="square" lIns="0" tIns="0" rIns="0" bIns="0" rtlCol="0" anchor="ctr"/>
          <a:lstStyle/>
          <a:p>
            <a:pPr marL="0" indent="0">
              <a:buNone/>
            </a:pPr>
            <a:r>
              <a:rPr lang="en-US" sz="1050" dirty="0">
                <a:solidFill>
                  <a:srgbClr val="23264A"/>
                </a:solidFill>
                <a:latin typeface="Calibri" pitchFamily="34" charset="0"/>
                <a:ea typeface="Calibri" pitchFamily="34" charset="-122"/>
                <a:cs typeface="Calibri" pitchFamily="34" charset="-120"/>
              </a:rPr>
              <a:t>Correctly predicted: not at risk</a:t>
            </a:r>
            <a:endParaRPr lang="en-US" sz="1050" dirty="0"/>
          </a:p>
        </p:txBody>
      </p:sp>
      <p:sp>
        <p:nvSpPr>
          <p:cNvPr id="33" name="Shape 27"/>
          <p:cNvSpPr/>
          <p:nvPr/>
        </p:nvSpPr>
        <p:spPr>
          <a:xfrm>
            <a:off x="6217920" y="4846320"/>
            <a:ext cx="2560320" cy="1234440"/>
          </a:xfrm>
          <a:prstGeom prst="roundRect">
            <a:avLst>
              <a:gd name="adj" fmla="val 5185"/>
            </a:avLst>
          </a:prstGeom>
          <a:solidFill>
            <a:srgbClr val="FCE9EB"/>
          </a:solidFill>
          <a:ln/>
        </p:spPr>
        <p:txBody>
          <a:bodyPr/>
          <a:lstStyle/>
          <a:p>
            <a:endParaRPr lang="en-AE"/>
          </a:p>
        </p:txBody>
      </p:sp>
      <p:sp>
        <p:nvSpPr>
          <p:cNvPr id="34" name="Text 28"/>
          <p:cNvSpPr txBox="1"/>
          <p:nvPr/>
        </p:nvSpPr>
        <p:spPr>
          <a:xfrm>
            <a:off x="6355080" y="4956048"/>
            <a:ext cx="2286000" cy="320040"/>
          </a:xfrm>
          <a:prstGeom prst="rect">
            <a:avLst/>
          </a:prstGeom>
          <a:noFill/>
          <a:ln/>
        </p:spPr>
        <p:txBody>
          <a:bodyPr wrap="square" lIns="0" tIns="0" rIns="0" bIns="0" rtlCol="0" anchor="ctr"/>
          <a:lstStyle/>
          <a:p>
            <a:pPr marL="0" indent="0">
              <a:buNone/>
            </a:pPr>
            <a:r>
              <a:rPr lang="en-US" sz="1200" b="1" dirty="0">
                <a:solidFill>
                  <a:srgbClr val="E14B5A"/>
                </a:solidFill>
                <a:latin typeface="Calibri" pitchFamily="34" charset="0"/>
                <a:ea typeface="Calibri" pitchFamily="34" charset="-122"/>
                <a:cs typeface="Calibri" pitchFamily="34" charset="-120"/>
              </a:rPr>
              <a:t>False Positive</a:t>
            </a:r>
            <a:endParaRPr lang="en-US" sz="1200" dirty="0"/>
          </a:p>
        </p:txBody>
      </p:sp>
      <p:sp>
        <p:nvSpPr>
          <p:cNvPr id="35" name="Text 29"/>
          <p:cNvSpPr txBox="1"/>
          <p:nvPr/>
        </p:nvSpPr>
        <p:spPr>
          <a:xfrm>
            <a:off x="6355080" y="5285232"/>
            <a:ext cx="2286000" cy="685800"/>
          </a:xfrm>
          <a:prstGeom prst="rect">
            <a:avLst/>
          </a:prstGeom>
          <a:noFill/>
          <a:ln/>
        </p:spPr>
        <p:txBody>
          <a:bodyPr wrap="square" lIns="0" tIns="0" rIns="0" bIns="0" rtlCol="0" anchor="ctr"/>
          <a:lstStyle/>
          <a:p>
            <a:pPr marL="0" indent="0">
              <a:buNone/>
            </a:pPr>
            <a:r>
              <a:rPr lang="en-US" sz="1050" dirty="0">
                <a:solidFill>
                  <a:srgbClr val="23264A"/>
                </a:solidFill>
                <a:latin typeface="Calibri" pitchFamily="34" charset="0"/>
                <a:ea typeface="Calibri" pitchFamily="34" charset="-122"/>
                <a:cs typeface="Calibri" pitchFamily="34" charset="-120"/>
              </a:rPr>
              <a:t>Wrongly flagged as at risk</a:t>
            </a:r>
            <a:endParaRPr lang="en-US" sz="1050" dirty="0"/>
          </a:p>
        </p:txBody>
      </p:sp>
      <p:sp>
        <p:nvSpPr>
          <p:cNvPr id="36" name="Shape 30"/>
          <p:cNvSpPr/>
          <p:nvPr/>
        </p:nvSpPr>
        <p:spPr>
          <a:xfrm>
            <a:off x="9052560" y="4846320"/>
            <a:ext cx="2560320" cy="1234440"/>
          </a:xfrm>
          <a:prstGeom prst="roundRect">
            <a:avLst>
              <a:gd name="adj" fmla="val 5185"/>
            </a:avLst>
          </a:prstGeom>
          <a:solidFill>
            <a:srgbClr val="FCE9EB"/>
          </a:solidFill>
          <a:ln/>
        </p:spPr>
        <p:txBody>
          <a:bodyPr/>
          <a:lstStyle/>
          <a:p>
            <a:endParaRPr lang="en-AE"/>
          </a:p>
        </p:txBody>
      </p:sp>
      <p:sp>
        <p:nvSpPr>
          <p:cNvPr id="37" name="Text 31"/>
          <p:cNvSpPr txBox="1"/>
          <p:nvPr/>
        </p:nvSpPr>
        <p:spPr>
          <a:xfrm>
            <a:off x="9189720" y="4956048"/>
            <a:ext cx="2286000" cy="320040"/>
          </a:xfrm>
          <a:prstGeom prst="rect">
            <a:avLst/>
          </a:prstGeom>
          <a:noFill/>
          <a:ln/>
        </p:spPr>
        <p:txBody>
          <a:bodyPr wrap="square" lIns="0" tIns="0" rIns="0" bIns="0" rtlCol="0" anchor="ctr"/>
          <a:lstStyle/>
          <a:p>
            <a:pPr marL="0" indent="0">
              <a:buNone/>
            </a:pPr>
            <a:r>
              <a:rPr lang="en-US" sz="1200" b="1" dirty="0">
                <a:solidFill>
                  <a:srgbClr val="E14B5A"/>
                </a:solidFill>
                <a:latin typeface="Calibri" pitchFamily="34" charset="0"/>
                <a:ea typeface="Calibri" pitchFamily="34" charset="-122"/>
                <a:cs typeface="Calibri" pitchFamily="34" charset="-120"/>
              </a:rPr>
              <a:t>False Negative</a:t>
            </a:r>
            <a:endParaRPr lang="en-US" sz="1200" dirty="0"/>
          </a:p>
        </p:txBody>
      </p:sp>
      <p:sp>
        <p:nvSpPr>
          <p:cNvPr id="38" name="Text 32"/>
          <p:cNvSpPr txBox="1"/>
          <p:nvPr/>
        </p:nvSpPr>
        <p:spPr>
          <a:xfrm>
            <a:off x="9189720" y="5285232"/>
            <a:ext cx="2286000" cy="685800"/>
          </a:xfrm>
          <a:prstGeom prst="rect">
            <a:avLst/>
          </a:prstGeom>
          <a:noFill/>
          <a:ln/>
        </p:spPr>
        <p:txBody>
          <a:bodyPr wrap="square" lIns="0" tIns="0" rIns="0" bIns="0" rtlCol="0" anchor="ctr"/>
          <a:lstStyle/>
          <a:p>
            <a:pPr marL="0" indent="0">
              <a:buNone/>
            </a:pPr>
            <a:r>
              <a:rPr lang="en-US" sz="1050" dirty="0">
                <a:solidFill>
                  <a:srgbClr val="23264A"/>
                </a:solidFill>
                <a:latin typeface="Calibri" pitchFamily="34" charset="0"/>
                <a:ea typeface="Calibri" pitchFamily="34" charset="-122"/>
                <a:cs typeface="Calibri" pitchFamily="34" charset="-120"/>
              </a:rPr>
              <a:t>Missed — actually at risk</a:t>
            </a:r>
            <a:endParaRPr lang="en-US" sz="1050" dirty="0"/>
          </a:p>
        </p:txBody>
      </p:sp>
      <p:sp>
        <p:nvSpPr>
          <p:cNvPr id="39" name="Text 33"/>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09</a:t>
            </a:r>
            <a:endParaRPr lang="en-US" sz="1000" dirty="0"/>
          </a:p>
        </p:txBody>
      </p:sp>
      <p:sp>
        <p:nvSpPr>
          <p:cNvPr id="40" name="Text 34"/>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COMPARING ALL FIVE</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Model Comparison</a:t>
            </a:r>
            <a:endParaRPr lang="en-US" sz="3000" dirty="0"/>
          </a:p>
        </p:txBody>
      </p:sp>
      <p:sp>
        <p:nvSpPr>
          <p:cNvPr id="4" name="Shape 2"/>
          <p:cNvSpPr/>
          <p:nvPr/>
        </p:nvSpPr>
        <p:spPr>
          <a:xfrm>
            <a:off x="548640" y="1783080"/>
            <a:ext cx="3017520" cy="502920"/>
          </a:xfrm>
          <a:prstGeom prst="rect">
            <a:avLst/>
          </a:prstGeom>
          <a:solidFill>
            <a:srgbClr val="1B1F4B"/>
          </a:solidFill>
          <a:ln/>
        </p:spPr>
        <p:txBody>
          <a:bodyPr/>
          <a:lstStyle/>
          <a:p>
            <a:endParaRPr lang="en-AE"/>
          </a:p>
        </p:txBody>
      </p:sp>
      <p:sp>
        <p:nvSpPr>
          <p:cNvPr id="5" name="Text 3"/>
          <p:cNvSpPr txBox="1"/>
          <p:nvPr/>
        </p:nvSpPr>
        <p:spPr>
          <a:xfrm>
            <a:off x="548640" y="1783080"/>
            <a:ext cx="3017520" cy="502920"/>
          </a:xfrm>
          <a:prstGeom prst="rect">
            <a:avLst/>
          </a:prstGeom>
          <a:noFill/>
          <a:ln/>
        </p:spPr>
        <p:txBody>
          <a:bodyPr wrap="square" lIns="0" tIns="15240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Shape 4"/>
          <p:cNvSpPr/>
          <p:nvPr/>
        </p:nvSpPr>
        <p:spPr>
          <a:xfrm>
            <a:off x="3566160" y="1783080"/>
            <a:ext cx="2011680" cy="502920"/>
          </a:xfrm>
          <a:prstGeom prst="rect">
            <a:avLst/>
          </a:prstGeom>
          <a:solidFill>
            <a:srgbClr val="1B1F4B"/>
          </a:solidFill>
          <a:ln/>
        </p:spPr>
        <p:txBody>
          <a:bodyPr/>
          <a:lstStyle/>
          <a:p>
            <a:endParaRPr lang="en-AE"/>
          </a:p>
        </p:txBody>
      </p:sp>
      <p:sp>
        <p:nvSpPr>
          <p:cNvPr id="7" name="Text 5"/>
          <p:cNvSpPr txBox="1"/>
          <p:nvPr/>
        </p:nvSpPr>
        <p:spPr>
          <a:xfrm>
            <a:off x="3566160" y="178308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8" name="Shape 6"/>
          <p:cNvSpPr/>
          <p:nvPr/>
        </p:nvSpPr>
        <p:spPr>
          <a:xfrm>
            <a:off x="5577840" y="1783080"/>
            <a:ext cx="2011680" cy="502920"/>
          </a:xfrm>
          <a:prstGeom prst="rect">
            <a:avLst/>
          </a:prstGeom>
          <a:solidFill>
            <a:srgbClr val="1B1F4B"/>
          </a:solidFill>
          <a:ln/>
        </p:spPr>
        <p:txBody>
          <a:bodyPr/>
          <a:lstStyle/>
          <a:p>
            <a:endParaRPr lang="en-AE"/>
          </a:p>
        </p:txBody>
      </p:sp>
      <p:sp>
        <p:nvSpPr>
          <p:cNvPr id="9" name="Text 7"/>
          <p:cNvSpPr txBox="1"/>
          <p:nvPr/>
        </p:nvSpPr>
        <p:spPr>
          <a:xfrm>
            <a:off x="5577840" y="178308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0" name="Shape 8"/>
          <p:cNvSpPr/>
          <p:nvPr/>
        </p:nvSpPr>
        <p:spPr>
          <a:xfrm>
            <a:off x="7589520" y="1783080"/>
            <a:ext cx="2011680" cy="502920"/>
          </a:xfrm>
          <a:prstGeom prst="rect">
            <a:avLst/>
          </a:prstGeom>
          <a:solidFill>
            <a:srgbClr val="1B1F4B"/>
          </a:solidFill>
          <a:ln/>
        </p:spPr>
        <p:txBody>
          <a:bodyPr/>
          <a:lstStyle/>
          <a:p>
            <a:endParaRPr lang="en-AE"/>
          </a:p>
        </p:txBody>
      </p:sp>
      <p:sp>
        <p:nvSpPr>
          <p:cNvPr id="11" name="Text 9"/>
          <p:cNvSpPr txBox="1"/>
          <p:nvPr/>
        </p:nvSpPr>
        <p:spPr>
          <a:xfrm>
            <a:off x="7589520" y="178308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2" name="Shape 10"/>
          <p:cNvSpPr/>
          <p:nvPr/>
        </p:nvSpPr>
        <p:spPr>
          <a:xfrm>
            <a:off x="9601200" y="1783080"/>
            <a:ext cx="2011680" cy="502920"/>
          </a:xfrm>
          <a:prstGeom prst="rect">
            <a:avLst/>
          </a:prstGeom>
          <a:solidFill>
            <a:srgbClr val="1B1F4B"/>
          </a:solidFill>
          <a:ln/>
        </p:spPr>
        <p:txBody>
          <a:bodyPr/>
          <a:lstStyle/>
          <a:p>
            <a:endParaRPr lang="en-AE"/>
          </a:p>
        </p:txBody>
      </p:sp>
      <p:sp>
        <p:nvSpPr>
          <p:cNvPr id="13" name="Text 11"/>
          <p:cNvSpPr txBox="1"/>
          <p:nvPr/>
        </p:nvSpPr>
        <p:spPr>
          <a:xfrm>
            <a:off x="9601200" y="178308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F1-score</a:t>
            </a:r>
            <a:endParaRPr lang="en-US" sz="1300" dirty="0"/>
          </a:p>
        </p:txBody>
      </p:sp>
      <p:sp>
        <p:nvSpPr>
          <p:cNvPr id="14" name="Shape 12"/>
          <p:cNvSpPr/>
          <p:nvPr/>
        </p:nvSpPr>
        <p:spPr>
          <a:xfrm>
            <a:off x="548640" y="2286000"/>
            <a:ext cx="3017520" cy="566928"/>
          </a:xfrm>
          <a:prstGeom prst="rect">
            <a:avLst/>
          </a:prstGeom>
          <a:solidFill>
            <a:srgbClr val="FFFFFF"/>
          </a:solidFill>
          <a:ln w="9525">
            <a:solidFill>
              <a:srgbClr val="E4E3EE"/>
            </a:solidFill>
            <a:prstDash val="solid"/>
          </a:ln>
        </p:spPr>
        <p:txBody>
          <a:bodyPr/>
          <a:lstStyle/>
          <a:p>
            <a:endParaRPr lang="en-AE"/>
          </a:p>
        </p:txBody>
      </p:sp>
      <p:sp>
        <p:nvSpPr>
          <p:cNvPr id="15" name="Text 13"/>
          <p:cNvSpPr txBox="1"/>
          <p:nvPr/>
        </p:nvSpPr>
        <p:spPr>
          <a:xfrm>
            <a:off x="548640" y="2286000"/>
            <a:ext cx="3017520" cy="566928"/>
          </a:xfrm>
          <a:prstGeom prst="rect">
            <a:avLst/>
          </a:prstGeom>
          <a:noFill/>
          <a:ln/>
        </p:spPr>
        <p:txBody>
          <a:bodyPr wrap="square" lIns="0" tIns="152400" rIns="0" bIns="0" rtlCol="0" anchor="ctr"/>
          <a:lstStyle/>
          <a:p>
            <a:pPr marL="0" indent="0" algn="l">
              <a:buNone/>
            </a:pPr>
            <a:r>
              <a:rPr lang="en-US" sz="1300" b="1" dirty="0">
                <a:solidFill>
                  <a:srgbClr val="1B1F4B"/>
                </a:solidFill>
                <a:latin typeface="Calibri" pitchFamily="34" charset="0"/>
                <a:ea typeface="Calibri" pitchFamily="34" charset="-122"/>
                <a:cs typeface="Calibri" pitchFamily="34" charset="-120"/>
              </a:rPr>
              <a:t>Random Forest</a:t>
            </a:r>
            <a:endParaRPr lang="en-US" sz="1300" dirty="0"/>
          </a:p>
        </p:txBody>
      </p:sp>
      <p:sp>
        <p:nvSpPr>
          <p:cNvPr id="16" name="Shape 14"/>
          <p:cNvSpPr/>
          <p:nvPr/>
        </p:nvSpPr>
        <p:spPr>
          <a:xfrm>
            <a:off x="3566160" y="2286000"/>
            <a:ext cx="2011680" cy="566928"/>
          </a:xfrm>
          <a:prstGeom prst="rect">
            <a:avLst/>
          </a:prstGeom>
          <a:solidFill>
            <a:srgbClr val="FFFFFF"/>
          </a:solidFill>
          <a:ln w="9525">
            <a:solidFill>
              <a:srgbClr val="E4E3EE"/>
            </a:solidFill>
            <a:prstDash val="solid"/>
          </a:ln>
        </p:spPr>
        <p:txBody>
          <a:bodyPr/>
          <a:lstStyle/>
          <a:p>
            <a:endParaRPr lang="en-AE"/>
          </a:p>
        </p:txBody>
      </p:sp>
      <p:sp>
        <p:nvSpPr>
          <p:cNvPr id="17" name="Text 15"/>
          <p:cNvSpPr txBox="1"/>
          <p:nvPr/>
        </p:nvSpPr>
        <p:spPr>
          <a:xfrm>
            <a:off x="3566160" y="2258568"/>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0.996667</a:t>
            </a:r>
            <a:endParaRPr lang="en-US" sz="1100" dirty="0"/>
          </a:p>
        </p:txBody>
      </p:sp>
      <p:sp>
        <p:nvSpPr>
          <p:cNvPr id="18" name="Shape 16"/>
          <p:cNvSpPr/>
          <p:nvPr/>
        </p:nvSpPr>
        <p:spPr>
          <a:xfrm>
            <a:off x="5577840" y="2286000"/>
            <a:ext cx="2011680" cy="566928"/>
          </a:xfrm>
          <a:prstGeom prst="rect">
            <a:avLst/>
          </a:prstGeom>
          <a:solidFill>
            <a:srgbClr val="FFFFFF"/>
          </a:solidFill>
          <a:ln w="9525">
            <a:solidFill>
              <a:srgbClr val="E4E3EE"/>
            </a:solidFill>
            <a:prstDash val="solid"/>
          </a:ln>
        </p:spPr>
        <p:txBody>
          <a:bodyPr/>
          <a:lstStyle/>
          <a:p>
            <a:endParaRPr lang="en-AE"/>
          </a:p>
        </p:txBody>
      </p:sp>
      <p:sp>
        <p:nvSpPr>
          <p:cNvPr id="19" name="Text 17"/>
          <p:cNvSpPr txBox="1"/>
          <p:nvPr/>
        </p:nvSpPr>
        <p:spPr>
          <a:xfrm>
            <a:off x="5577840" y="2286000"/>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0.996842</a:t>
            </a:r>
            <a:endParaRPr lang="en-US" sz="1100" dirty="0"/>
          </a:p>
        </p:txBody>
      </p:sp>
      <p:sp>
        <p:nvSpPr>
          <p:cNvPr id="20" name="Shape 18"/>
          <p:cNvSpPr/>
          <p:nvPr/>
        </p:nvSpPr>
        <p:spPr>
          <a:xfrm>
            <a:off x="7589520" y="2286000"/>
            <a:ext cx="2011680" cy="566928"/>
          </a:xfrm>
          <a:prstGeom prst="rect">
            <a:avLst/>
          </a:prstGeom>
          <a:solidFill>
            <a:srgbClr val="FFFFFF"/>
          </a:solidFill>
          <a:ln w="9525">
            <a:solidFill>
              <a:srgbClr val="E4E3EE"/>
            </a:solidFill>
            <a:prstDash val="solid"/>
          </a:ln>
        </p:spPr>
        <p:txBody>
          <a:bodyPr/>
          <a:lstStyle/>
          <a:p>
            <a:endParaRPr lang="en-AE"/>
          </a:p>
        </p:txBody>
      </p:sp>
      <p:sp>
        <p:nvSpPr>
          <p:cNvPr id="21" name="Text 19"/>
          <p:cNvSpPr txBox="1"/>
          <p:nvPr/>
        </p:nvSpPr>
        <p:spPr>
          <a:xfrm>
            <a:off x="7589520" y="2250948"/>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0.996667</a:t>
            </a:r>
            <a:endParaRPr lang="en-US" sz="1100" dirty="0"/>
          </a:p>
        </p:txBody>
      </p:sp>
      <p:sp>
        <p:nvSpPr>
          <p:cNvPr id="22" name="Shape 20"/>
          <p:cNvSpPr/>
          <p:nvPr/>
        </p:nvSpPr>
        <p:spPr>
          <a:xfrm>
            <a:off x="9601200" y="2286000"/>
            <a:ext cx="2011680" cy="566928"/>
          </a:xfrm>
          <a:prstGeom prst="rect">
            <a:avLst/>
          </a:prstGeom>
          <a:solidFill>
            <a:srgbClr val="FFFFFF"/>
          </a:solidFill>
          <a:ln w="9525">
            <a:solidFill>
              <a:srgbClr val="E4E3EE"/>
            </a:solidFill>
            <a:prstDash val="solid"/>
          </a:ln>
        </p:spPr>
        <p:txBody>
          <a:bodyPr/>
          <a:lstStyle/>
          <a:p>
            <a:endParaRPr lang="en-AE"/>
          </a:p>
        </p:txBody>
      </p:sp>
      <p:sp>
        <p:nvSpPr>
          <p:cNvPr id="23" name="Text 21"/>
          <p:cNvSpPr txBox="1"/>
          <p:nvPr/>
        </p:nvSpPr>
        <p:spPr>
          <a:xfrm>
            <a:off x="9601200" y="2286000"/>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0.996709</a:t>
            </a:r>
            <a:endParaRPr lang="en-US" sz="1100" dirty="0"/>
          </a:p>
        </p:txBody>
      </p:sp>
      <p:sp>
        <p:nvSpPr>
          <p:cNvPr id="24" name="Shape 22"/>
          <p:cNvSpPr/>
          <p:nvPr/>
        </p:nvSpPr>
        <p:spPr>
          <a:xfrm>
            <a:off x="548640" y="2852928"/>
            <a:ext cx="3017520" cy="566928"/>
          </a:xfrm>
          <a:prstGeom prst="rect">
            <a:avLst/>
          </a:prstGeom>
          <a:solidFill>
            <a:srgbClr val="F4F3FA"/>
          </a:solidFill>
          <a:ln w="9525">
            <a:solidFill>
              <a:srgbClr val="E4E3EE"/>
            </a:solidFill>
            <a:prstDash val="solid"/>
          </a:ln>
        </p:spPr>
        <p:txBody>
          <a:bodyPr/>
          <a:lstStyle/>
          <a:p>
            <a:endParaRPr lang="en-AE"/>
          </a:p>
        </p:txBody>
      </p:sp>
      <p:sp>
        <p:nvSpPr>
          <p:cNvPr id="25" name="Text 23"/>
          <p:cNvSpPr txBox="1"/>
          <p:nvPr/>
        </p:nvSpPr>
        <p:spPr>
          <a:xfrm>
            <a:off x="548640" y="2852928"/>
            <a:ext cx="3017520" cy="566928"/>
          </a:xfrm>
          <a:prstGeom prst="rect">
            <a:avLst/>
          </a:prstGeom>
          <a:noFill/>
          <a:ln/>
        </p:spPr>
        <p:txBody>
          <a:bodyPr wrap="square" lIns="0" tIns="152400" rIns="0" bIns="0" rtlCol="0" anchor="ctr"/>
          <a:lstStyle/>
          <a:p>
            <a:pPr marL="0" indent="0" algn="l">
              <a:buNone/>
            </a:pPr>
            <a:r>
              <a:rPr lang="en-US" sz="1300" b="1" dirty="0">
                <a:solidFill>
                  <a:srgbClr val="1B1F4B"/>
                </a:solidFill>
                <a:latin typeface="Calibri" pitchFamily="34" charset="0"/>
                <a:ea typeface="Calibri" pitchFamily="34" charset="-122"/>
                <a:cs typeface="Calibri" pitchFamily="34" charset="-120"/>
              </a:rPr>
              <a:t>Logistic Regression</a:t>
            </a:r>
            <a:endParaRPr lang="en-US" sz="1300" dirty="0"/>
          </a:p>
        </p:txBody>
      </p:sp>
      <p:sp>
        <p:nvSpPr>
          <p:cNvPr id="26" name="Shape 24"/>
          <p:cNvSpPr/>
          <p:nvPr/>
        </p:nvSpPr>
        <p:spPr>
          <a:xfrm>
            <a:off x="3566160" y="2852928"/>
            <a:ext cx="2011680" cy="566928"/>
          </a:xfrm>
          <a:prstGeom prst="rect">
            <a:avLst/>
          </a:prstGeom>
          <a:solidFill>
            <a:srgbClr val="F4F3FA"/>
          </a:solidFill>
          <a:ln w="9525">
            <a:solidFill>
              <a:srgbClr val="E4E3EE"/>
            </a:solidFill>
            <a:prstDash val="solid"/>
          </a:ln>
        </p:spPr>
        <p:txBody>
          <a:bodyPr/>
          <a:lstStyle/>
          <a:p>
            <a:endParaRPr lang="en-AE"/>
          </a:p>
        </p:txBody>
      </p:sp>
      <p:sp>
        <p:nvSpPr>
          <p:cNvPr id="27" name="Text 25"/>
          <p:cNvSpPr txBox="1"/>
          <p:nvPr/>
        </p:nvSpPr>
        <p:spPr>
          <a:xfrm>
            <a:off x="3566160" y="2852928"/>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0.879333</a:t>
            </a:r>
            <a:endParaRPr lang="en-US" sz="1100" dirty="0"/>
          </a:p>
        </p:txBody>
      </p:sp>
      <p:sp>
        <p:nvSpPr>
          <p:cNvPr id="28" name="Shape 26"/>
          <p:cNvSpPr/>
          <p:nvPr/>
        </p:nvSpPr>
        <p:spPr>
          <a:xfrm>
            <a:off x="5577840" y="2852928"/>
            <a:ext cx="2011680" cy="566928"/>
          </a:xfrm>
          <a:prstGeom prst="rect">
            <a:avLst/>
          </a:prstGeom>
          <a:solidFill>
            <a:srgbClr val="F4F3FA"/>
          </a:solidFill>
          <a:ln w="9525">
            <a:solidFill>
              <a:srgbClr val="E4E3EE"/>
            </a:solidFill>
            <a:prstDash val="solid"/>
          </a:ln>
        </p:spPr>
        <p:txBody>
          <a:bodyPr/>
          <a:lstStyle/>
          <a:p>
            <a:endParaRPr lang="en-AE"/>
          </a:p>
        </p:txBody>
      </p:sp>
      <p:sp>
        <p:nvSpPr>
          <p:cNvPr id="29" name="Text 27"/>
          <p:cNvSpPr txBox="1"/>
          <p:nvPr/>
        </p:nvSpPr>
        <p:spPr>
          <a:xfrm>
            <a:off x="5577840" y="2852928"/>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0.954084</a:t>
            </a:r>
            <a:endParaRPr lang="en-US" sz="1100" dirty="0"/>
          </a:p>
        </p:txBody>
      </p:sp>
      <p:sp>
        <p:nvSpPr>
          <p:cNvPr id="30" name="Shape 28"/>
          <p:cNvSpPr/>
          <p:nvPr/>
        </p:nvSpPr>
        <p:spPr>
          <a:xfrm>
            <a:off x="7589520" y="2852928"/>
            <a:ext cx="2011680" cy="566928"/>
          </a:xfrm>
          <a:prstGeom prst="rect">
            <a:avLst/>
          </a:prstGeom>
          <a:solidFill>
            <a:srgbClr val="F4F3FA"/>
          </a:solidFill>
          <a:ln w="9525">
            <a:solidFill>
              <a:srgbClr val="E4E3EE"/>
            </a:solidFill>
            <a:prstDash val="solid"/>
          </a:ln>
        </p:spPr>
        <p:txBody>
          <a:bodyPr/>
          <a:lstStyle/>
          <a:p>
            <a:endParaRPr lang="en-AE"/>
          </a:p>
        </p:txBody>
      </p:sp>
      <p:sp>
        <p:nvSpPr>
          <p:cNvPr id="31" name="Text 29"/>
          <p:cNvSpPr txBox="1"/>
          <p:nvPr/>
        </p:nvSpPr>
        <p:spPr>
          <a:xfrm>
            <a:off x="7589520" y="2852928"/>
            <a:ext cx="2011680" cy="566928"/>
          </a:xfrm>
          <a:prstGeom prst="rect">
            <a:avLst/>
          </a:prstGeom>
          <a:noFill/>
          <a:ln/>
        </p:spPr>
        <p:txBody>
          <a:bodyPr wrap="square" lIns="0" tIns="0" rIns="0" bIns="0" rtlCol="0" anchor="ctr"/>
          <a:lstStyle/>
          <a:p>
            <a:pPr algn="ctr"/>
            <a:r>
              <a:rPr lang="ar-EG" sz="1100" i="1" dirty="0">
                <a:solidFill>
                  <a:srgbClr val="6B7089"/>
                </a:solidFill>
                <a:latin typeface="Calibri" pitchFamily="34" charset="0"/>
                <a:ea typeface="Calibri" pitchFamily="34" charset="-122"/>
                <a:cs typeface="Calibri" pitchFamily="34" charset="-120"/>
              </a:rPr>
              <a:t>0.879333</a:t>
            </a:r>
            <a:endParaRPr lang="en-US" sz="1100" dirty="0"/>
          </a:p>
          <a:p>
            <a:pPr marL="0" indent="0" algn="ctr">
              <a:buNone/>
            </a:pPr>
            <a:endParaRPr lang="en-US" sz="1100" dirty="0"/>
          </a:p>
        </p:txBody>
      </p:sp>
      <p:sp>
        <p:nvSpPr>
          <p:cNvPr id="32" name="Shape 30"/>
          <p:cNvSpPr/>
          <p:nvPr/>
        </p:nvSpPr>
        <p:spPr>
          <a:xfrm>
            <a:off x="9601200" y="2852928"/>
            <a:ext cx="2011680" cy="566928"/>
          </a:xfrm>
          <a:prstGeom prst="rect">
            <a:avLst/>
          </a:prstGeom>
          <a:solidFill>
            <a:srgbClr val="F4F3FA"/>
          </a:solidFill>
          <a:ln w="9525">
            <a:solidFill>
              <a:srgbClr val="E4E3EE"/>
            </a:solidFill>
            <a:prstDash val="solid"/>
          </a:ln>
        </p:spPr>
        <p:txBody>
          <a:bodyPr/>
          <a:lstStyle/>
          <a:p>
            <a:endParaRPr lang="en-AE"/>
          </a:p>
        </p:txBody>
      </p:sp>
      <p:sp>
        <p:nvSpPr>
          <p:cNvPr id="33" name="Text 31"/>
          <p:cNvSpPr txBox="1"/>
          <p:nvPr/>
        </p:nvSpPr>
        <p:spPr>
          <a:xfrm>
            <a:off x="9601200" y="2852928"/>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0.904572</a:t>
            </a:r>
            <a:endParaRPr lang="en-US" sz="1100" dirty="0"/>
          </a:p>
        </p:txBody>
      </p:sp>
      <p:sp>
        <p:nvSpPr>
          <p:cNvPr id="34" name="Shape 32"/>
          <p:cNvSpPr/>
          <p:nvPr/>
        </p:nvSpPr>
        <p:spPr>
          <a:xfrm>
            <a:off x="548640" y="3419856"/>
            <a:ext cx="3017520" cy="566928"/>
          </a:xfrm>
          <a:prstGeom prst="rect">
            <a:avLst/>
          </a:prstGeom>
          <a:solidFill>
            <a:srgbClr val="FFFFFF"/>
          </a:solidFill>
          <a:ln w="9525">
            <a:solidFill>
              <a:srgbClr val="E4E3EE"/>
            </a:solidFill>
            <a:prstDash val="solid"/>
          </a:ln>
        </p:spPr>
        <p:txBody>
          <a:bodyPr/>
          <a:lstStyle/>
          <a:p>
            <a:endParaRPr lang="en-AE"/>
          </a:p>
        </p:txBody>
      </p:sp>
      <p:sp>
        <p:nvSpPr>
          <p:cNvPr id="35" name="Text 33"/>
          <p:cNvSpPr txBox="1"/>
          <p:nvPr/>
        </p:nvSpPr>
        <p:spPr>
          <a:xfrm>
            <a:off x="548640" y="3419856"/>
            <a:ext cx="3017520" cy="566928"/>
          </a:xfrm>
          <a:prstGeom prst="rect">
            <a:avLst/>
          </a:prstGeom>
          <a:noFill/>
          <a:ln/>
        </p:spPr>
        <p:txBody>
          <a:bodyPr wrap="square" lIns="0" tIns="152400" rIns="0" bIns="0" rtlCol="0" anchor="ctr"/>
          <a:lstStyle/>
          <a:p>
            <a:pPr marL="0" indent="0" algn="l">
              <a:buNone/>
            </a:pPr>
            <a:r>
              <a:rPr lang="en-US" sz="1300" b="1" dirty="0">
                <a:solidFill>
                  <a:srgbClr val="1B1F4B"/>
                </a:solidFill>
                <a:latin typeface="Calibri" pitchFamily="34" charset="0"/>
                <a:ea typeface="Calibri" pitchFamily="34" charset="-122"/>
                <a:cs typeface="Calibri" pitchFamily="34" charset="-120"/>
              </a:rPr>
              <a:t>Naive Bayes</a:t>
            </a:r>
            <a:endParaRPr lang="en-US" sz="1300" dirty="0"/>
          </a:p>
        </p:txBody>
      </p:sp>
      <p:sp>
        <p:nvSpPr>
          <p:cNvPr id="36" name="Shape 34"/>
          <p:cNvSpPr/>
          <p:nvPr/>
        </p:nvSpPr>
        <p:spPr>
          <a:xfrm>
            <a:off x="3566160" y="3419856"/>
            <a:ext cx="2011680" cy="566928"/>
          </a:xfrm>
          <a:prstGeom prst="rect">
            <a:avLst/>
          </a:prstGeom>
          <a:solidFill>
            <a:srgbClr val="FFFFFF"/>
          </a:solidFill>
          <a:ln w="9525">
            <a:solidFill>
              <a:srgbClr val="E4E3EE"/>
            </a:solidFill>
            <a:prstDash val="solid"/>
          </a:ln>
        </p:spPr>
        <p:txBody>
          <a:bodyPr/>
          <a:lstStyle/>
          <a:p>
            <a:endParaRPr lang="en-AE"/>
          </a:p>
        </p:txBody>
      </p:sp>
      <p:sp>
        <p:nvSpPr>
          <p:cNvPr id="37" name="Text 35"/>
          <p:cNvSpPr txBox="1"/>
          <p:nvPr/>
        </p:nvSpPr>
        <p:spPr>
          <a:xfrm>
            <a:off x="3566160" y="3419856"/>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0.857667</a:t>
            </a:r>
            <a:endParaRPr lang="en-US" sz="1100" dirty="0"/>
          </a:p>
        </p:txBody>
      </p:sp>
      <p:sp>
        <p:nvSpPr>
          <p:cNvPr id="38" name="Shape 36"/>
          <p:cNvSpPr/>
          <p:nvPr/>
        </p:nvSpPr>
        <p:spPr>
          <a:xfrm>
            <a:off x="5577840" y="3419856"/>
            <a:ext cx="2011680" cy="566928"/>
          </a:xfrm>
          <a:prstGeom prst="rect">
            <a:avLst/>
          </a:prstGeom>
          <a:solidFill>
            <a:srgbClr val="FFFFFF"/>
          </a:solidFill>
          <a:ln w="9525">
            <a:solidFill>
              <a:srgbClr val="E4E3EE"/>
            </a:solidFill>
            <a:prstDash val="solid"/>
          </a:ln>
        </p:spPr>
        <p:txBody>
          <a:bodyPr/>
          <a:lstStyle/>
          <a:p>
            <a:endParaRPr lang="en-AE"/>
          </a:p>
        </p:txBody>
      </p:sp>
      <p:sp>
        <p:nvSpPr>
          <p:cNvPr id="39" name="Text 37"/>
          <p:cNvSpPr txBox="1"/>
          <p:nvPr/>
        </p:nvSpPr>
        <p:spPr>
          <a:xfrm>
            <a:off x="5577840" y="3419856"/>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0.956495</a:t>
            </a:r>
            <a:endParaRPr lang="en-US" sz="1100" dirty="0"/>
          </a:p>
        </p:txBody>
      </p:sp>
      <p:sp>
        <p:nvSpPr>
          <p:cNvPr id="40" name="Shape 38"/>
          <p:cNvSpPr/>
          <p:nvPr/>
        </p:nvSpPr>
        <p:spPr>
          <a:xfrm>
            <a:off x="7589520" y="3419856"/>
            <a:ext cx="2011680" cy="566928"/>
          </a:xfrm>
          <a:prstGeom prst="rect">
            <a:avLst/>
          </a:prstGeom>
          <a:solidFill>
            <a:srgbClr val="FFFFFF"/>
          </a:solidFill>
          <a:ln w="9525">
            <a:solidFill>
              <a:srgbClr val="E4E3EE"/>
            </a:solidFill>
            <a:prstDash val="solid"/>
          </a:ln>
        </p:spPr>
        <p:txBody>
          <a:bodyPr/>
          <a:lstStyle/>
          <a:p>
            <a:endParaRPr lang="en-AE"/>
          </a:p>
        </p:txBody>
      </p:sp>
      <p:sp>
        <p:nvSpPr>
          <p:cNvPr id="41" name="Text 39"/>
          <p:cNvSpPr txBox="1"/>
          <p:nvPr/>
        </p:nvSpPr>
        <p:spPr>
          <a:xfrm>
            <a:off x="7589520" y="3493008"/>
            <a:ext cx="2011680" cy="566928"/>
          </a:xfrm>
          <a:prstGeom prst="rect">
            <a:avLst/>
          </a:prstGeom>
          <a:noFill/>
          <a:ln/>
        </p:spPr>
        <p:txBody>
          <a:bodyPr wrap="square" lIns="0" tIns="0" rIns="0" bIns="0" rtlCol="0" anchor="ctr"/>
          <a:lstStyle/>
          <a:p>
            <a:pPr algn="ctr"/>
            <a:r>
              <a:rPr lang="ar-EG" sz="1100" i="1" dirty="0">
                <a:solidFill>
                  <a:srgbClr val="6B7089"/>
                </a:solidFill>
                <a:latin typeface="Calibri" pitchFamily="34" charset="0"/>
                <a:ea typeface="Calibri" pitchFamily="34" charset="-122"/>
                <a:cs typeface="Calibri" pitchFamily="34" charset="-120"/>
              </a:rPr>
              <a:t>0.857667</a:t>
            </a:r>
            <a:endParaRPr lang="en-US" sz="1100" dirty="0"/>
          </a:p>
          <a:p>
            <a:pPr marL="0" indent="0" algn="ctr">
              <a:buNone/>
            </a:pPr>
            <a:endParaRPr lang="en-US" sz="1100" dirty="0"/>
          </a:p>
        </p:txBody>
      </p:sp>
      <p:sp>
        <p:nvSpPr>
          <p:cNvPr id="42" name="Shape 40"/>
          <p:cNvSpPr/>
          <p:nvPr/>
        </p:nvSpPr>
        <p:spPr>
          <a:xfrm>
            <a:off x="9601200" y="3419856"/>
            <a:ext cx="2011680" cy="566928"/>
          </a:xfrm>
          <a:prstGeom prst="rect">
            <a:avLst/>
          </a:prstGeom>
          <a:solidFill>
            <a:srgbClr val="FFFFFF"/>
          </a:solidFill>
          <a:ln w="9525">
            <a:solidFill>
              <a:srgbClr val="E4E3EE"/>
            </a:solidFill>
            <a:prstDash val="solid"/>
          </a:ln>
        </p:spPr>
        <p:txBody>
          <a:bodyPr/>
          <a:lstStyle/>
          <a:p>
            <a:endParaRPr lang="en-AE"/>
          </a:p>
        </p:txBody>
      </p:sp>
      <p:sp>
        <p:nvSpPr>
          <p:cNvPr id="43" name="Text 41"/>
          <p:cNvSpPr txBox="1"/>
          <p:nvPr/>
        </p:nvSpPr>
        <p:spPr>
          <a:xfrm>
            <a:off x="9601200" y="3419856"/>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0.890288</a:t>
            </a:r>
            <a:endParaRPr lang="en-US" sz="1100" dirty="0"/>
          </a:p>
        </p:txBody>
      </p:sp>
      <p:sp>
        <p:nvSpPr>
          <p:cNvPr id="44" name="Shape 42"/>
          <p:cNvSpPr/>
          <p:nvPr/>
        </p:nvSpPr>
        <p:spPr>
          <a:xfrm>
            <a:off x="548640" y="3986784"/>
            <a:ext cx="3017520" cy="566928"/>
          </a:xfrm>
          <a:prstGeom prst="rect">
            <a:avLst/>
          </a:prstGeom>
          <a:solidFill>
            <a:srgbClr val="F4F3FA"/>
          </a:solidFill>
          <a:ln w="9525">
            <a:solidFill>
              <a:srgbClr val="E4E3EE"/>
            </a:solidFill>
            <a:prstDash val="solid"/>
          </a:ln>
        </p:spPr>
        <p:txBody>
          <a:bodyPr/>
          <a:lstStyle/>
          <a:p>
            <a:endParaRPr lang="en-AE"/>
          </a:p>
        </p:txBody>
      </p:sp>
      <p:sp>
        <p:nvSpPr>
          <p:cNvPr id="45" name="Text 43"/>
          <p:cNvSpPr txBox="1"/>
          <p:nvPr/>
        </p:nvSpPr>
        <p:spPr>
          <a:xfrm>
            <a:off x="548640" y="3986784"/>
            <a:ext cx="3017520" cy="566928"/>
          </a:xfrm>
          <a:prstGeom prst="rect">
            <a:avLst/>
          </a:prstGeom>
          <a:noFill/>
          <a:ln/>
        </p:spPr>
        <p:txBody>
          <a:bodyPr wrap="square" lIns="0" tIns="152400" rIns="0" bIns="0" rtlCol="0" anchor="ctr"/>
          <a:lstStyle/>
          <a:p>
            <a:pPr marL="0" indent="0" algn="l">
              <a:buNone/>
            </a:pPr>
            <a:r>
              <a:rPr lang="en-US" sz="1300" b="1" dirty="0">
                <a:solidFill>
                  <a:srgbClr val="1B1F4B"/>
                </a:solidFill>
                <a:latin typeface="Calibri" pitchFamily="34" charset="0"/>
                <a:ea typeface="Calibri" pitchFamily="34" charset="-122"/>
                <a:cs typeface="Calibri" pitchFamily="34" charset="-120"/>
              </a:rPr>
              <a:t>KNN</a:t>
            </a:r>
            <a:endParaRPr lang="en-US" sz="1300" dirty="0"/>
          </a:p>
        </p:txBody>
      </p:sp>
      <p:sp>
        <p:nvSpPr>
          <p:cNvPr id="46" name="Shape 44"/>
          <p:cNvSpPr/>
          <p:nvPr/>
        </p:nvSpPr>
        <p:spPr>
          <a:xfrm>
            <a:off x="3566160" y="3986784"/>
            <a:ext cx="2011680" cy="566928"/>
          </a:xfrm>
          <a:prstGeom prst="rect">
            <a:avLst/>
          </a:prstGeom>
          <a:solidFill>
            <a:srgbClr val="F4F3FA"/>
          </a:solidFill>
          <a:ln w="9525">
            <a:solidFill>
              <a:srgbClr val="E4E3EE"/>
            </a:solidFill>
            <a:prstDash val="solid"/>
          </a:ln>
        </p:spPr>
        <p:txBody>
          <a:bodyPr/>
          <a:lstStyle/>
          <a:p>
            <a:endParaRPr lang="en-AE"/>
          </a:p>
        </p:txBody>
      </p:sp>
      <p:sp>
        <p:nvSpPr>
          <p:cNvPr id="47" name="Text 45"/>
          <p:cNvSpPr txBox="1"/>
          <p:nvPr/>
        </p:nvSpPr>
        <p:spPr>
          <a:xfrm>
            <a:off x="3566160" y="3986784"/>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0.995333</a:t>
            </a:r>
            <a:endParaRPr lang="en-US" sz="1100" dirty="0"/>
          </a:p>
        </p:txBody>
      </p:sp>
      <p:sp>
        <p:nvSpPr>
          <p:cNvPr id="48" name="Shape 46"/>
          <p:cNvSpPr/>
          <p:nvPr/>
        </p:nvSpPr>
        <p:spPr>
          <a:xfrm>
            <a:off x="5577840" y="3986784"/>
            <a:ext cx="2011680" cy="566928"/>
          </a:xfrm>
          <a:prstGeom prst="rect">
            <a:avLst/>
          </a:prstGeom>
          <a:solidFill>
            <a:srgbClr val="F4F3FA"/>
          </a:solidFill>
          <a:ln w="9525">
            <a:solidFill>
              <a:srgbClr val="E4E3EE"/>
            </a:solidFill>
            <a:prstDash val="solid"/>
          </a:ln>
        </p:spPr>
        <p:txBody>
          <a:bodyPr/>
          <a:lstStyle/>
          <a:p>
            <a:endParaRPr lang="en-AE"/>
          </a:p>
        </p:txBody>
      </p:sp>
      <p:sp>
        <p:nvSpPr>
          <p:cNvPr id="49" name="Text 47"/>
          <p:cNvSpPr txBox="1"/>
          <p:nvPr/>
        </p:nvSpPr>
        <p:spPr>
          <a:xfrm>
            <a:off x="5577840" y="3986784"/>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0.995487</a:t>
            </a:r>
            <a:endParaRPr lang="en-US" sz="1100" dirty="0"/>
          </a:p>
        </p:txBody>
      </p:sp>
      <p:sp>
        <p:nvSpPr>
          <p:cNvPr id="50" name="Shape 48"/>
          <p:cNvSpPr/>
          <p:nvPr/>
        </p:nvSpPr>
        <p:spPr>
          <a:xfrm>
            <a:off x="7589520" y="3986784"/>
            <a:ext cx="2011680" cy="566928"/>
          </a:xfrm>
          <a:prstGeom prst="rect">
            <a:avLst/>
          </a:prstGeom>
          <a:solidFill>
            <a:srgbClr val="F4F3FA"/>
          </a:solidFill>
          <a:ln w="9525">
            <a:solidFill>
              <a:srgbClr val="E4E3EE"/>
            </a:solidFill>
            <a:prstDash val="solid"/>
          </a:ln>
        </p:spPr>
        <p:txBody>
          <a:bodyPr/>
          <a:lstStyle/>
          <a:p>
            <a:endParaRPr lang="en-AE"/>
          </a:p>
        </p:txBody>
      </p:sp>
      <p:sp>
        <p:nvSpPr>
          <p:cNvPr id="51" name="Text 49"/>
          <p:cNvSpPr txBox="1"/>
          <p:nvPr/>
        </p:nvSpPr>
        <p:spPr>
          <a:xfrm>
            <a:off x="7589520" y="3986784"/>
            <a:ext cx="2011680" cy="566928"/>
          </a:xfrm>
          <a:prstGeom prst="rect">
            <a:avLst/>
          </a:prstGeom>
          <a:noFill/>
          <a:ln/>
        </p:spPr>
        <p:txBody>
          <a:bodyPr wrap="square" lIns="0" tIns="0" rIns="0" bIns="0" rtlCol="0" anchor="ctr"/>
          <a:lstStyle/>
          <a:p>
            <a:pPr algn="ctr"/>
            <a:r>
              <a:rPr lang="ar-EG" sz="1100" i="1" dirty="0">
                <a:solidFill>
                  <a:srgbClr val="6B7089"/>
                </a:solidFill>
                <a:latin typeface="Calibri" pitchFamily="34" charset="0"/>
                <a:ea typeface="Calibri" pitchFamily="34" charset="-122"/>
                <a:cs typeface="Calibri" pitchFamily="34" charset="-120"/>
              </a:rPr>
              <a:t>0.995333</a:t>
            </a:r>
            <a:endParaRPr lang="en-US" sz="1100" dirty="0"/>
          </a:p>
          <a:p>
            <a:pPr marL="0" indent="0" algn="ctr">
              <a:buNone/>
            </a:pPr>
            <a:endParaRPr lang="en-US" sz="1100" dirty="0"/>
          </a:p>
        </p:txBody>
      </p:sp>
      <p:sp>
        <p:nvSpPr>
          <p:cNvPr id="52" name="Shape 50"/>
          <p:cNvSpPr/>
          <p:nvPr/>
        </p:nvSpPr>
        <p:spPr>
          <a:xfrm>
            <a:off x="9601200" y="3986784"/>
            <a:ext cx="2011680" cy="566928"/>
          </a:xfrm>
          <a:prstGeom prst="rect">
            <a:avLst/>
          </a:prstGeom>
          <a:solidFill>
            <a:srgbClr val="F4F3FA"/>
          </a:solidFill>
          <a:ln w="9525">
            <a:solidFill>
              <a:srgbClr val="E4E3EE"/>
            </a:solidFill>
            <a:prstDash val="solid"/>
          </a:ln>
        </p:spPr>
        <p:txBody>
          <a:bodyPr/>
          <a:lstStyle/>
          <a:p>
            <a:endParaRPr lang="en-AE"/>
          </a:p>
        </p:txBody>
      </p:sp>
      <p:sp>
        <p:nvSpPr>
          <p:cNvPr id="53" name="Text 51"/>
          <p:cNvSpPr txBox="1"/>
          <p:nvPr/>
        </p:nvSpPr>
        <p:spPr>
          <a:xfrm>
            <a:off x="9601200" y="3986784"/>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0.995381</a:t>
            </a:r>
            <a:endParaRPr lang="en-US" sz="1100" dirty="0"/>
          </a:p>
        </p:txBody>
      </p:sp>
      <p:sp>
        <p:nvSpPr>
          <p:cNvPr id="54" name="Shape 52"/>
          <p:cNvSpPr/>
          <p:nvPr/>
        </p:nvSpPr>
        <p:spPr>
          <a:xfrm>
            <a:off x="548640" y="4553712"/>
            <a:ext cx="3017520" cy="566928"/>
          </a:xfrm>
          <a:prstGeom prst="rect">
            <a:avLst/>
          </a:prstGeom>
          <a:solidFill>
            <a:srgbClr val="FFFFFF"/>
          </a:solidFill>
          <a:ln w="9525">
            <a:solidFill>
              <a:srgbClr val="E4E3EE"/>
            </a:solidFill>
            <a:prstDash val="solid"/>
          </a:ln>
        </p:spPr>
        <p:txBody>
          <a:bodyPr/>
          <a:lstStyle/>
          <a:p>
            <a:endParaRPr lang="en-AE"/>
          </a:p>
        </p:txBody>
      </p:sp>
      <p:sp>
        <p:nvSpPr>
          <p:cNvPr id="55" name="Text 53"/>
          <p:cNvSpPr txBox="1"/>
          <p:nvPr/>
        </p:nvSpPr>
        <p:spPr>
          <a:xfrm>
            <a:off x="548640" y="4553712"/>
            <a:ext cx="3017520" cy="566928"/>
          </a:xfrm>
          <a:prstGeom prst="rect">
            <a:avLst/>
          </a:prstGeom>
          <a:noFill/>
          <a:ln/>
        </p:spPr>
        <p:txBody>
          <a:bodyPr wrap="square" lIns="0" tIns="152400" rIns="0" bIns="0" rtlCol="0" anchor="ctr"/>
          <a:lstStyle/>
          <a:p>
            <a:pPr marL="0" indent="0" algn="l">
              <a:buNone/>
            </a:pPr>
            <a:r>
              <a:rPr lang="en-US" sz="1300" b="1" dirty="0">
                <a:solidFill>
                  <a:srgbClr val="1B1F4B"/>
                </a:solidFill>
                <a:latin typeface="Calibri" pitchFamily="34" charset="0"/>
                <a:ea typeface="Calibri" pitchFamily="34" charset="-122"/>
                <a:cs typeface="Calibri" pitchFamily="34" charset="-120"/>
              </a:rPr>
              <a:t>Decision Tree</a:t>
            </a:r>
            <a:endParaRPr lang="en-US" sz="1300" dirty="0"/>
          </a:p>
        </p:txBody>
      </p:sp>
      <p:sp>
        <p:nvSpPr>
          <p:cNvPr id="56" name="Shape 54"/>
          <p:cNvSpPr/>
          <p:nvPr/>
        </p:nvSpPr>
        <p:spPr>
          <a:xfrm>
            <a:off x="3566160" y="4553712"/>
            <a:ext cx="2011680" cy="566928"/>
          </a:xfrm>
          <a:prstGeom prst="rect">
            <a:avLst/>
          </a:prstGeom>
          <a:solidFill>
            <a:srgbClr val="FFFFFF"/>
          </a:solidFill>
          <a:ln w="9525">
            <a:solidFill>
              <a:srgbClr val="E4E3EE"/>
            </a:solidFill>
            <a:prstDash val="solid"/>
          </a:ln>
        </p:spPr>
        <p:txBody>
          <a:bodyPr/>
          <a:lstStyle/>
          <a:p>
            <a:endParaRPr lang="en-AE"/>
          </a:p>
        </p:txBody>
      </p:sp>
      <p:sp>
        <p:nvSpPr>
          <p:cNvPr id="57" name="Text 55"/>
          <p:cNvSpPr txBox="1"/>
          <p:nvPr/>
        </p:nvSpPr>
        <p:spPr>
          <a:xfrm>
            <a:off x="3566160" y="4553712"/>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0.928333</a:t>
            </a:r>
            <a:endParaRPr lang="en-US" sz="1100" dirty="0"/>
          </a:p>
        </p:txBody>
      </p:sp>
      <p:sp>
        <p:nvSpPr>
          <p:cNvPr id="58" name="Shape 56"/>
          <p:cNvSpPr/>
          <p:nvPr/>
        </p:nvSpPr>
        <p:spPr>
          <a:xfrm>
            <a:off x="5577840" y="4553712"/>
            <a:ext cx="2011680" cy="566928"/>
          </a:xfrm>
          <a:prstGeom prst="rect">
            <a:avLst/>
          </a:prstGeom>
          <a:solidFill>
            <a:srgbClr val="FFFFFF"/>
          </a:solidFill>
          <a:ln w="9525">
            <a:solidFill>
              <a:srgbClr val="E4E3EE"/>
            </a:solidFill>
            <a:prstDash val="solid"/>
          </a:ln>
        </p:spPr>
        <p:txBody>
          <a:bodyPr/>
          <a:lstStyle/>
          <a:p>
            <a:endParaRPr lang="en-AE"/>
          </a:p>
        </p:txBody>
      </p:sp>
      <p:sp>
        <p:nvSpPr>
          <p:cNvPr id="59" name="Text 57"/>
          <p:cNvSpPr txBox="1"/>
          <p:nvPr/>
        </p:nvSpPr>
        <p:spPr>
          <a:xfrm>
            <a:off x="5577840" y="4553712"/>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0.961772</a:t>
            </a:r>
            <a:endParaRPr lang="en-US" sz="1100" dirty="0"/>
          </a:p>
        </p:txBody>
      </p:sp>
      <p:sp>
        <p:nvSpPr>
          <p:cNvPr id="60" name="Shape 58"/>
          <p:cNvSpPr/>
          <p:nvPr/>
        </p:nvSpPr>
        <p:spPr>
          <a:xfrm>
            <a:off x="7589520" y="4553712"/>
            <a:ext cx="2011680" cy="566928"/>
          </a:xfrm>
          <a:prstGeom prst="rect">
            <a:avLst/>
          </a:prstGeom>
          <a:solidFill>
            <a:srgbClr val="FFFFFF"/>
          </a:solidFill>
          <a:ln w="9525">
            <a:solidFill>
              <a:srgbClr val="E4E3EE"/>
            </a:solidFill>
            <a:prstDash val="solid"/>
          </a:ln>
        </p:spPr>
        <p:txBody>
          <a:bodyPr/>
          <a:lstStyle/>
          <a:p>
            <a:endParaRPr lang="en-AE"/>
          </a:p>
        </p:txBody>
      </p:sp>
      <p:sp>
        <p:nvSpPr>
          <p:cNvPr id="61" name="Text 59"/>
          <p:cNvSpPr txBox="1"/>
          <p:nvPr/>
        </p:nvSpPr>
        <p:spPr>
          <a:xfrm>
            <a:off x="7589520" y="4553712"/>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0.928333</a:t>
            </a:r>
            <a:endParaRPr lang="en-US" sz="1100" dirty="0"/>
          </a:p>
        </p:txBody>
      </p:sp>
      <p:sp>
        <p:nvSpPr>
          <p:cNvPr id="62" name="Shape 60"/>
          <p:cNvSpPr/>
          <p:nvPr/>
        </p:nvSpPr>
        <p:spPr>
          <a:xfrm>
            <a:off x="9601200" y="4553712"/>
            <a:ext cx="2011680" cy="566928"/>
          </a:xfrm>
          <a:prstGeom prst="rect">
            <a:avLst/>
          </a:prstGeom>
          <a:solidFill>
            <a:srgbClr val="FFFFFF"/>
          </a:solidFill>
          <a:ln w="9525">
            <a:solidFill>
              <a:srgbClr val="E4E3EE"/>
            </a:solidFill>
            <a:prstDash val="solid"/>
          </a:ln>
        </p:spPr>
        <p:txBody>
          <a:bodyPr/>
          <a:lstStyle/>
          <a:p>
            <a:endParaRPr lang="en-AE"/>
          </a:p>
        </p:txBody>
      </p:sp>
      <p:sp>
        <p:nvSpPr>
          <p:cNvPr id="63" name="Text 61"/>
          <p:cNvSpPr txBox="1"/>
          <p:nvPr/>
        </p:nvSpPr>
        <p:spPr>
          <a:xfrm>
            <a:off x="9601200" y="4553712"/>
            <a:ext cx="2011680" cy="566928"/>
          </a:xfrm>
          <a:prstGeom prst="rect">
            <a:avLst/>
          </a:prstGeom>
          <a:noFill/>
          <a:ln/>
        </p:spPr>
        <p:txBody>
          <a:bodyPr wrap="square" lIns="0" tIns="0" rIns="0" bIns="0" rtlCol="0" anchor="ctr"/>
          <a:lstStyle/>
          <a:p>
            <a:pPr marL="0" indent="0" algn="ctr">
              <a:buNone/>
            </a:pPr>
            <a:r>
              <a:rPr lang="ar-EG" sz="1100" i="1" dirty="0">
                <a:solidFill>
                  <a:srgbClr val="6B7089"/>
                </a:solidFill>
                <a:latin typeface="Calibri" pitchFamily="34" charset="0"/>
                <a:ea typeface="Calibri" pitchFamily="34" charset="-122"/>
                <a:cs typeface="Calibri" pitchFamily="34" charset="-120"/>
              </a:rPr>
              <a:t>0.939282</a:t>
            </a:r>
            <a:endParaRPr lang="en-US" sz="1100" dirty="0"/>
          </a:p>
        </p:txBody>
      </p:sp>
      <p:sp>
        <p:nvSpPr>
          <p:cNvPr id="64" name="Text 62"/>
          <p:cNvSpPr txBox="1"/>
          <p:nvPr/>
        </p:nvSpPr>
        <p:spPr>
          <a:xfrm>
            <a:off x="548640" y="5303520"/>
            <a:ext cx="11064240" cy="548640"/>
          </a:xfrm>
          <a:prstGeom prst="rect">
            <a:avLst/>
          </a:prstGeom>
          <a:noFill/>
          <a:ln/>
        </p:spPr>
        <p:txBody>
          <a:bodyPr wrap="square" lIns="0" tIns="0" rIns="0" bIns="0" rtlCol="0" anchor="ctr"/>
          <a:lstStyle/>
          <a:p>
            <a:pPr marL="0" indent="0">
              <a:buNone/>
            </a:pPr>
            <a:endParaRPr lang="en-US" sz="1100" dirty="0"/>
          </a:p>
        </p:txBody>
      </p:sp>
      <p:sp>
        <p:nvSpPr>
          <p:cNvPr id="65" name="Text 63"/>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10</a:t>
            </a:r>
            <a:endParaRPr lang="en-US" sz="1000" dirty="0"/>
          </a:p>
        </p:txBody>
      </p:sp>
      <p:sp>
        <p:nvSpPr>
          <p:cNvPr id="66" name="Text 64"/>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BEST MODEL — RANDOM FOREST</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Confusion Matrix</a:t>
            </a:r>
            <a:endParaRPr lang="en-US" sz="3000" dirty="0"/>
          </a:p>
        </p:txBody>
      </p:sp>
      <p:sp>
        <p:nvSpPr>
          <p:cNvPr id="23" name="Shape 21"/>
          <p:cNvSpPr/>
          <p:nvPr/>
        </p:nvSpPr>
        <p:spPr>
          <a:xfrm>
            <a:off x="548640" y="5038344"/>
            <a:ext cx="11064240" cy="1188720"/>
          </a:xfrm>
          <a:prstGeom prst="roundRect">
            <a:avLst>
              <a:gd name="adj" fmla="val 6154"/>
            </a:avLst>
          </a:prstGeom>
          <a:solidFill>
            <a:srgbClr val="FCE9EB"/>
          </a:solidFill>
          <a:ln w="12700">
            <a:solidFill>
              <a:srgbClr val="E14B5A"/>
            </a:solidFill>
            <a:prstDash val="solid"/>
          </a:ln>
          <a:effectLst>
            <a:outerShdw blurRad="101600" dist="25400" dir="5400000" algn="bl" rotWithShape="0">
              <a:srgbClr val="1B1F4B">
                <a:alpha val="12000"/>
              </a:srgbClr>
            </a:outerShdw>
          </a:effectLst>
        </p:spPr>
        <p:txBody>
          <a:bodyPr/>
          <a:lstStyle/>
          <a:p>
            <a:endParaRPr lang="en-AE"/>
          </a:p>
        </p:txBody>
      </p:sp>
      <p:pic>
        <p:nvPicPr>
          <p:cNvPr id="24" name="Image 0" descr="/home/claude/edurisk/icons/exclamationcircle_coral.png"/>
          <p:cNvPicPr>
            <a:picLocks noChangeAspect="1"/>
          </p:cNvPicPr>
          <p:nvPr/>
        </p:nvPicPr>
        <p:blipFill>
          <a:blip r:embed="rId3"/>
          <a:stretch>
            <a:fillRect/>
          </a:stretch>
        </p:blipFill>
        <p:spPr>
          <a:xfrm>
            <a:off x="822960" y="5266944"/>
            <a:ext cx="411480" cy="411480"/>
          </a:xfrm>
          <a:prstGeom prst="rect">
            <a:avLst/>
          </a:prstGeom>
        </p:spPr>
      </p:pic>
      <p:sp>
        <p:nvSpPr>
          <p:cNvPr id="25" name="Text 22"/>
          <p:cNvSpPr txBox="1"/>
          <p:nvPr/>
        </p:nvSpPr>
        <p:spPr>
          <a:xfrm>
            <a:off x="1417320" y="5175504"/>
            <a:ext cx="9966960" cy="914400"/>
          </a:xfrm>
          <a:prstGeom prst="rect">
            <a:avLst/>
          </a:prstGeom>
          <a:noFill/>
          <a:ln/>
        </p:spPr>
        <p:txBody>
          <a:bodyPr wrap="square" lIns="0" tIns="0" rIns="0" bIns="0" rtlCol="0" anchor="ctr"/>
          <a:lstStyle/>
          <a:p>
            <a:pPr marL="0" indent="0">
              <a:buNone/>
            </a:pPr>
            <a:r>
              <a:rPr lang="en-US" sz="1300" b="1" dirty="0">
                <a:solidFill>
                  <a:srgbClr val="E14B5A"/>
                </a:solidFill>
                <a:latin typeface="Calibri" pitchFamily="34" charset="0"/>
                <a:ea typeface="Calibri" pitchFamily="34" charset="-122"/>
                <a:cs typeface="Calibri" pitchFamily="34" charset="-120"/>
              </a:rPr>
              <a:t>Why False Negatives matter most:  </a:t>
            </a:r>
            <a:r>
              <a:rPr lang="en-US" sz="1300" dirty="0">
                <a:solidFill>
                  <a:srgbClr val="23264A"/>
                </a:solidFill>
                <a:latin typeface="Calibri" pitchFamily="34" charset="0"/>
                <a:ea typeface="Calibri" pitchFamily="34" charset="-122"/>
                <a:cs typeface="Calibri" pitchFamily="34" charset="-120"/>
              </a:rPr>
              <a:t>a student is actually at risk, but the model predicts they are not — so no intervention happens for a student who needed one.</a:t>
            </a:r>
            <a:endParaRPr lang="en-US" sz="1300" dirty="0"/>
          </a:p>
        </p:txBody>
      </p:sp>
      <p:sp>
        <p:nvSpPr>
          <p:cNvPr id="26" name="Text 23"/>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11</a:t>
            </a:r>
            <a:endParaRPr lang="en-US" sz="1000" dirty="0"/>
          </a:p>
        </p:txBody>
      </p:sp>
      <p:sp>
        <p:nvSpPr>
          <p:cNvPr id="27" name="Text 24"/>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pic>
        <p:nvPicPr>
          <p:cNvPr id="29" name="Picture 28" descr="A graph with a purple square&#10;&#10;Description automatically generated">
            <a:extLst>
              <a:ext uri="{FF2B5EF4-FFF2-40B4-BE49-F238E27FC236}">
                <a16:creationId xmlns:a16="http://schemas.microsoft.com/office/drawing/2014/main" id="{8A4A58AC-B4DF-5AD7-E4C4-9A46C868D4AD}"/>
              </a:ext>
            </a:extLst>
          </p:cNvPr>
          <p:cNvPicPr>
            <a:picLocks noChangeAspect="1"/>
          </p:cNvPicPr>
          <p:nvPr/>
        </p:nvPicPr>
        <p:blipFill>
          <a:blip r:embed="rId4"/>
          <a:stretch>
            <a:fillRect/>
          </a:stretch>
        </p:blipFill>
        <p:spPr>
          <a:xfrm>
            <a:off x="3291840" y="1323176"/>
            <a:ext cx="5220152" cy="3223539"/>
          </a:xfrm>
          <a:prstGeom prst="rect">
            <a:avLst/>
          </a:prstGeom>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4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FE0FA"/>
                </a:solidFill>
                <a:latin typeface="Calibri" pitchFamily="34" charset="0"/>
                <a:ea typeface="Calibri" pitchFamily="34" charset="-122"/>
                <a:cs typeface="Calibri" pitchFamily="34" charset="-120"/>
              </a:rPr>
              <a:t>FINAL SELECTION</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Best Model</a:t>
            </a:r>
            <a:endParaRPr lang="en-US" sz="3000" dirty="0"/>
          </a:p>
        </p:txBody>
      </p:sp>
      <p:sp>
        <p:nvSpPr>
          <p:cNvPr id="4" name="Shape 2"/>
          <p:cNvSpPr/>
          <p:nvPr/>
        </p:nvSpPr>
        <p:spPr>
          <a:xfrm>
            <a:off x="548640" y="1691640"/>
            <a:ext cx="4206240" cy="4160520"/>
          </a:xfrm>
          <a:prstGeom prst="roundRect">
            <a:avLst>
              <a:gd name="adj" fmla="val 1758"/>
            </a:avLst>
          </a:prstGeom>
          <a:solidFill>
            <a:srgbClr val="262C63"/>
          </a:solidFill>
          <a:ln w="12700">
            <a:solidFill>
              <a:srgbClr val="262C63"/>
            </a:solidFill>
            <a:prstDash val="solid"/>
          </a:ln>
          <a:effectLst>
            <a:outerShdw blurRad="101600" dist="25400" dir="5400000" algn="bl" rotWithShape="0">
              <a:srgbClr val="1B1F4B">
                <a:alpha val="12000"/>
              </a:srgbClr>
            </a:outerShdw>
          </a:effectLst>
        </p:spPr>
        <p:txBody>
          <a:bodyPr/>
          <a:lstStyle/>
          <a:p>
            <a:endParaRPr lang="en-AE"/>
          </a:p>
        </p:txBody>
      </p:sp>
      <p:sp>
        <p:nvSpPr>
          <p:cNvPr id="5" name="Shape 3"/>
          <p:cNvSpPr/>
          <p:nvPr/>
        </p:nvSpPr>
        <p:spPr>
          <a:xfrm>
            <a:off x="868680" y="2011680"/>
            <a:ext cx="777240" cy="777240"/>
          </a:xfrm>
          <a:prstGeom prst="ellipse">
            <a:avLst/>
          </a:prstGeom>
          <a:solidFill>
            <a:srgbClr val="1E9E82"/>
          </a:solidFill>
          <a:ln/>
        </p:spPr>
        <p:txBody>
          <a:bodyPr/>
          <a:lstStyle/>
          <a:p>
            <a:endParaRPr lang="en-AE"/>
          </a:p>
        </p:txBody>
      </p:sp>
      <p:pic>
        <p:nvPicPr>
          <p:cNvPr id="6" name="Image 0" descr="/home/claude/edurisk/icons/trophy_white.png"/>
          <p:cNvPicPr>
            <a:picLocks noChangeAspect="1"/>
          </p:cNvPicPr>
          <p:nvPr/>
        </p:nvPicPr>
        <p:blipFill>
          <a:blip r:embed="rId3"/>
          <a:stretch>
            <a:fillRect/>
          </a:stretch>
        </p:blipFill>
        <p:spPr>
          <a:xfrm>
            <a:off x="1062990" y="2205990"/>
            <a:ext cx="388620" cy="388620"/>
          </a:xfrm>
          <a:prstGeom prst="rect">
            <a:avLst/>
          </a:prstGeom>
        </p:spPr>
      </p:pic>
      <p:sp>
        <p:nvSpPr>
          <p:cNvPr id="7" name="Text 4"/>
          <p:cNvSpPr txBox="1"/>
          <p:nvPr/>
        </p:nvSpPr>
        <p:spPr>
          <a:xfrm>
            <a:off x="1828800" y="2121408"/>
            <a:ext cx="274320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Random Forest</a:t>
            </a:r>
            <a:endParaRPr lang="en-US" sz="2000" dirty="0"/>
          </a:p>
        </p:txBody>
      </p:sp>
      <p:sp>
        <p:nvSpPr>
          <p:cNvPr id="8" name="Text 5"/>
          <p:cNvSpPr txBox="1"/>
          <p:nvPr/>
        </p:nvSpPr>
        <p:spPr>
          <a:xfrm>
            <a:off x="1828800" y="2542032"/>
            <a:ext cx="2788920" cy="457200"/>
          </a:xfrm>
          <a:prstGeom prst="rect">
            <a:avLst/>
          </a:prstGeom>
          <a:noFill/>
          <a:ln/>
        </p:spPr>
        <p:txBody>
          <a:bodyPr wrap="square" lIns="0" tIns="0" rIns="0" bIns="0" rtlCol="0" anchor="ctr"/>
          <a:lstStyle/>
          <a:p>
            <a:pPr marL="0" indent="0">
              <a:buNone/>
            </a:pPr>
            <a:endParaRPr lang="en-US" sz="900" dirty="0"/>
          </a:p>
        </p:txBody>
      </p:sp>
      <p:sp>
        <p:nvSpPr>
          <p:cNvPr id="9" name="Text 6"/>
          <p:cNvSpPr txBox="1"/>
          <p:nvPr/>
        </p:nvSpPr>
        <p:spPr>
          <a:xfrm>
            <a:off x="822960" y="3063240"/>
            <a:ext cx="1645920" cy="411480"/>
          </a:xfrm>
          <a:prstGeom prst="rect">
            <a:avLst/>
          </a:prstGeom>
          <a:noFill/>
          <a:ln/>
        </p:spPr>
        <p:txBody>
          <a:bodyPr wrap="square" lIns="0" tIns="0" rIns="0" bIns="0" rtlCol="0" anchor="ctr"/>
          <a:lstStyle/>
          <a:p>
            <a:pPr marL="0" indent="0">
              <a:buNone/>
            </a:pPr>
            <a:r>
              <a:rPr lang="en-US" sz="1300" dirty="0">
                <a:solidFill>
                  <a:srgbClr val="CFE0FA"/>
                </a:solidFill>
                <a:latin typeface="Calibri" pitchFamily="34" charset="0"/>
                <a:ea typeface="Calibri" pitchFamily="34" charset="-122"/>
                <a:cs typeface="Calibri" pitchFamily="34" charset="-120"/>
              </a:rPr>
              <a:t>Accuracy</a:t>
            </a:r>
            <a:endParaRPr lang="en-US" sz="1300" dirty="0"/>
          </a:p>
        </p:txBody>
      </p:sp>
      <p:sp>
        <p:nvSpPr>
          <p:cNvPr id="10" name="Text 7"/>
          <p:cNvSpPr txBox="1"/>
          <p:nvPr/>
        </p:nvSpPr>
        <p:spPr>
          <a:xfrm>
            <a:off x="2468880" y="3063240"/>
            <a:ext cx="2103120" cy="411480"/>
          </a:xfrm>
          <a:prstGeom prst="rect">
            <a:avLst/>
          </a:prstGeom>
          <a:noFill/>
          <a:ln/>
        </p:spPr>
        <p:txBody>
          <a:bodyPr wrap="square" lIns="0" tIns="0" rIns="0" bIns="0" rtlCol="0" anchor="ctr"/>
          <a:lstStyle/>
          <a:p>
            <a:pPr marL="0" indent="0" algn="r">
              <a:buNone/>
            </a:pPr>
            <a:r>
              <a:rPr lang="en-US" sz="1300" dirty="0">
                <a:solidFill>
                  <a:schemeClr val="bg1"/>
                </a:solidFill>
              </a:rPr>
              <a:t>0.996667</a:t>
            </a:r>
            <a:r>
              <a:rPr lang="en-US" sz="1300" dirty="0"/>
              <a:t>	</a:t>
            </a:r>
          </a:p>
        </p:txBody>
      </p:sp>
      <p:sp>
        <p:nvSpPr>
          <p:cNvPr id="11" name="Text 8"/>
          <p:cNvSpPr txBox="1"/>
          <p:nvPr/>
        </p:nvSpPr>
        <p:spPr>
          <a:xfrm>
            <a:off x="822960" y="3520440"/>
            <a:ext cx="1645920" cy="411480"/>
          </a:xfrm>
          <a:prstGeom prst="rect">
            <a:avLst/>
          </a:prstGeom>
          <a:noFill/>
          <a:ln/>
        </p:spPr>
        <p:txBody>
          <a:bodyPr wrap="square" lIns="0" tIns="0" rIns="0" bIns="0" rtlCol="0" anchor="ctr"/>
          <a:lstStyle/>
          <a:p>
            <a:pPr marL="0" indent="0">
              <a:buNone/>
            </a:pPr>
            <a:r>
              <a:rPr lang="en-US" sz="1300" dirty="0">
                <a:solidFill>
                  <a:srgbClr val="CFE0FA"/>
                </a:solidFill>
                <a:latin typeface="Calibri" pitchFamily="34" charset="0"/>
                <a:ea typeface="Calibri" pitchFamily="34" charset="-122"/>
                <a:cs typeface="Calibri" pitchFamily="34" charset="-120"/>
              </a:rPr>
              <a:t>Precision</a:t>
            </a:r>
            <a:endParaRPr lang="en-US" sz="1300" dirty="0"/>
          </a:p>
        </p:txBody>
      </p:sp>
      <p:sp>
        <p:nvSpPr>
          <p:cNvPr id="12" name="Text 9"/>
          <p:cNvSpPr txBox="1"/>
          <p:nvPr/>
        </p:nvSpPr>
        <p:spPr>
          <a:xfrm>
            <a:off x="2217420" y="3474720"/>
            <a:ext cx="2103120" cy="411480"/>
          </a:xfrm>
          <a:prstGeom prst="rect">
            <a:avLst/>
          </a:prstGeom>
          <a:noFill/>
          <a:ln/>
        </p:spPr>
        <p:txBody>
          <a:bodyPr wrap="square" lIns="0" tIns="0" rIns="0" bIns="0" rtlCol="0" anchor="ctr"/>
          <a:lstStyle/>
          <a:p>
            <a:pPr marL="0" indent="0" algn="r">
              <a:buNone/>
            </a:pPr>
            <a:r>
              <a:rPr lang="en-AE" sz="1400" b="0" i="0" dirty="0">
                <a:solidFill>
                  <a:schemeClr val="bg1"/>
                </a:solidFill>
                <a:effectLst/>
                <a:latin typeface="Google Sans Text"/>
              </a:rPr>
              <a:t>0.996842</a:t>
            </a:r>
            <a:endParaRPr lang="en-US" sz="1300" dirty="0">
              <a:solidFill>
                <a:schemeClr val="bg1"/>
              </a:solidFill>
            </a:endParaRPr>
          </a:p>
        </p:txBody>
      </p:sp>
      <p:sp>
        <p:nvSpPr>
          <p:cNvPr id="13" name="Text 10"/>
          <p:cNvSpPr txBox="1"/>
          <p:nvPr/>
        </p:nvSpPr>
        <p:spPr>
          <a:xfrm>
            <a:off x="822960" y="3977640"/>
            <a:ext cx="1645920" cy="411480"/>
          </a:xfrm>
          <a:prstGeom prst="rect">
            <a:avLst/>
          </a:prstGeom>
          <a:noFill/>
          <a:ln/>
        </p:spPr>
        <p:txBody>
          <a:bodyPr wrap="square" lIns="0" tIns="0" rIns="0" bIns="0" rtlCol="0" anchor="ctr"/>
          <a:lstStyle/>
          <a:p>
            <a:pPr marL="0" indent="0">
              <a:buNone/>
            </a:pPr>
            <a:r>
              <a:rPr lang="en-US" sz="1300" dirty="0">
                <a:solidFill>
                  <a:srgbClr val="CFE0FA"/>
                </a:solidFill>
                <a:latin typeface="Calibri" pitchFamily="34" charset="0"/>
                <a:ea typeface="Calibri" pitchFamily="34" charset="-122"/>
                <a:cs typeface="Calibri" pitchFamily="34" charset="-120"/>
              </a:rPr>
              <a:t>Recall</a:t>
            </a:r>
            <a:endParaRPr lang="en-US" sz="1300" dirty="0"/>
          </a:p>
        </p:txBody>
      </p:sp>
      <p:sp>
        <p:nvSpPr>
          <p:cNvPr id="14" name="Text 11"/>
          <p:cNvSpPr txBox="1"/>
          <p:nvPr/>
        </p:nvSpPr>
        <p:spPr>
          <a:xfrm>
            <a:off x="2217420" y="3954780"/>
            <a:ext cx="2103120" cy="411480"/>
          </a:xfrm>
          <a:prstGeom prst="rect">
            <a:avLst/>
          </a:prstGeom>
          <a:noFill/>
          <a:ln/>
        </p:spPr>
        <p:txBody>
          <a:bodyPr wrap="square" lIns="0" tIns="0" rIns="0" bIns="0" rtlCol="0" anchor="ctr"/>
          <a:lstStyle/>
          <a:p>
            <a:pPr marL="0" indent="0" algn="r">
              <a:buNone/>
            </a:pPr>
            <a:r>
              <a:rPr lang="en-AE" sz="1400" b="0" i="0" dirty="0">
                <a:solidFill>
                  <a:schemeClr val="bg1"/>
                </a:solidFill>
                <a:effectLst/>
                <a:latin typeface="Google Sans Text"/>
              </a:rPr>
              <a:t>0.996667</a:t>
            </a:r>
            <a:endParaRPr lang="en-US" sz="1300" dirty="0">
              <a:solidFill>
                <a:schemeClr val="bg1"/>
              </a:solidFill>
            </a:endParaRPr>
          </a:p>
        </p:txBody>
      </p:sp>
      <p:sp>
        <p:nvSpPr>
          <p:cNvPr id="15" name="Text 12"/>
          <p:cNvSpPr txBox="1"/>
          <p:nvPr/>
        </p:nvSpPr>
        <p:spPr>
          <a:xfrm>
            <a:off x="822960" y="4434840"/>
            <a:ext cx="1645920" cy="411480"/>
          </a:xfrm>
          <a:prstGeom prst="rect">
            <a:avLst/>
          </a:prstGeom>
          <a:noFill/>
          <a:ln/>
        </p:spPr>
        <p:txBody>
          <a:bodyPr wrap="square" lIns="0" tIns="0" rIns="0" bIns="0" rtlCol="0" anchor="ctr"/>
          <a:lstStyle/>
          <a:p>
            <a:pPr marL="0" indent="0">
              <a:buNone/>
            </a:pPr>
            <a:r>
              <a:rPr lang="en-US" sz="1300" dirty="0">
                <a:solidFill>
                  <a:srgbClr val="CFE0FA"/>
                </a:solidFill>
                <a:latin typeface="Calibri" pitchFamily="34" charset="0"/>
                <a:ea typeface="Calibri" pitchFamily="34" charset="-122"/>
                <a:cs typeface="Calibri" pitchFamily="34" charset="-120"/>
              </a:rPr>
              <a:t>F1-score</a:t>
            </a:r>
            <a:endParaRPr lang="en-US" sz="1300" dirty="0"/>
          </a:p>
        </p:txBody>
      </p:sp>
      <p:sp>
        <p:nvSpPr>
          <p:cNvPr id="16" name="Text 13"/>
          <p:cNvSpPr txBox="1"/>
          <p:nvPr/>
        </p:nvSpPr>
        <p:spPr>
          <a:xfrm>
            <a:off x="2240280" y="4411280"/>
            <a:ext cx="2103120" cy="411480"/>
          </a:xfrm>
          <a:prstGeom prst="rect">
            <a:avLst/>
          </a:prstGeom>
          <a:noFill/>
          <a:ln/>
        </p:spPr>
        <p:txBody>
          <a:bodyPr wrap="square" lIns="0" tIns="0" rIns="0" bIns="0" rtlCol="0" anchor="ctr"/>
          <a:lstStyle/>
          <a:p>
            <a:pPr marL="0" indent="0" algn="r">
              <a:buNone/>
            </a:pPr>
            <a:r>
              <a:rPr lang="en-AE" sz="1400" b="0" i="0" dirty="0">
                <a:solidFill>
                  <a:schemeClr val="bg1"/>
                </a:solidFill>
                <a:effectLst/>
                <a:latin typeface="Google Sans Text"/>
              </a:rPr>
              <a:t>0.996709</a:t>
            </a:r>
            <a:endParaRPr lang="en-US" sz="1300" dirty="0">
              <a:solidFill>
                <a:schemeClr val="bg1"/>
              </a:solidFill>
            </a:endParaRPr>
          </a:p>
        </p:txBody>
      </p:sp>
      <p:sp>
        <p:nvSpPr>
          <p:cNvPr id="17" name="Text 14"/>
          <p:cNvSpPr txBox="1"/>
          <p:nvPr/>
        </p:nvSpPr>
        <p:spPr>
          <a:xfrm>
            <a:off x="5074920" y="1691640"/>
            <a:ext cx="6537960" cy="41148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Why Random Forest</a:t>
            </a:r>
            <a:endParaRPr lang="en-US" sz="1700" dirty="0"/>
          </a:p>
        </p:txBody>
      </p:sp>
      <p:sp>
        <p:nvSpPr>
          <p:cNvPr id="18" name="Text 15"/>
          <p:cNvSpPr txBox="1"/>
          <p:nvPr/>
        </p:nvSpPr>
        <p:spPr>
          <a:xfrm>
            <a:off x="5074920" y="2103120"/>
            <a:ext cx="6537960" cy="822960"/>
          </a:xfrm>
          <a:prstGeom prst="rect">
            <a:avLst/>
          </a:prstGeom>
          <a:noFill/>
          <a:ln/>
        </p:spPr>
        <p:txBody>
          <a:bodyPr wrap="square" lIns="0" tIns="0" rIns="0" bIns="0" rtlCol="0" anchor="ctr"/>
          <a:lstStyle/>
          <a:p>
            <a:pPr marL="0" indent="0">
              <a:buNone/>
            </a:pPr>
            <a:r>
              <a:rPr lang="en-US" sz="1300" dirty="0">
                <a:solidFill>
                  <a:srgbClr val="CFE0FA"/>
                </a:solidFill>
                <a:latin typeface="Calibri" pitchFamily="34" charset="0"/>
                <a:ea typeface="Calibri" pitchFamily="34" charset="-122"/>
                <a:cs typeface="Calibri" pitchFamily="34" charset="-120"/>
              </a:rPr>
              <a:t>Random Forest is an ensemble of many decision trees, which tends to generalize well and resist overfitting compared with a single tree — a natural strength for a multi-factor risk problem like this one.</a:t>
            </a:r>
            <a:endParaRPr lang="en-US" sz="1300" dirty="0"/>
          </a:p>
        </p:txBody>
      </p:sp>
      <p:sp>
        <p:nvSpPr>
          <p:cNvPr id="19" name="Shape 16"/>
          <p:cNvSpPr/>
          <p:nvPr/>
        </p:nvSpPr>
        <p:spPr>
          <a:xfrm>
            <a:off x="5074920" y="3063240"/>
            <a:ext cx="6537960" cy="2743200"/>
          </a:xfrm>
          <a:prstGeom prst="roundRect">
            <a:avLst>
              <a:gd name="adj" fmla="val 2667"/>
            </a:avLst>
          </a:prstGeom>
          <a:solidFill>
            <a:srgbClr val="FBF0DE"/>
          </a:solidFill>
          <a:ln w="12700">
            <a:solidFill>
              <a:srgbClr val="C97A1A"/>
            </a:solidFill>
            <a:prstDash val="solid"/>
          </a:ln>
          <a:effectLst>
            <a:outerShdw blurRad="101600" dist="25400" dir="5400000" algn="bl" rotWithShape="0">
              <a:srgbClr val="1B1F4B">
                <a:alpha val="12000"/>
              </a:srgbClr>
            </a:outerShdw>
          </a:effectLst>
        </p:spPr>
        <p:txBody>
          <a:bodyPr/>
          <a:lstStyle/>
          <a:p>
            <a:endParaRPr lang="en-AE"/>
          </a:p>
        </p:txBody>
      </p:sp>
      <p:pic>
        <p:nvPicPr>
          <p:cNvPr id="20" name="Image 1" descr="/home/claude/edurisk/icons/alert_navy.png"/>
          <p:cNvPicPr>
            <a:picLocks noChangeAspect="1"/>
          </p:cNvPicPr>
          <p:nvPr/>
        </p:nvPicPr>
        <p:blipFill>
          <a:blip r:embed="rId4"/>
          <a:stretch>
            <a:fillRect/>
          </a:stretch>
        </p:blipFill>
        <p:spPr>
          <a:xfrm>
            <a:off x="5349240" y="3291840"/>
            <a:ext cx="457200" cy="457200"/>
          </a:xfrm>
          <a:prstGeom prst="rect">
            <a:avLst/>
          </a:prstGeom>
        </p:spPr>
      </p:pic>
      <p:sp>
        <p:nvSpPr>
          <p:cNvPr id="21" name="Text 17"/>
          <p:cNvSpPr txBox="1"/>
          <p:nvPr/>
        </p:nvSpPr>
        <p:spPr>
          <a:xfrm>
            <a:off x="5943600" y="3291840"/>
            <a:ext cx="5486400" cy="365760"/>
          </a:xfrm>
          <a:prstGeom prst="rect">
            <a:avLst/>
          </a:prstGeom>
          <a:noFill/>
          <a:ln/>
        </p:spPr>
        <p:txBody>
          <a:bodyPr wrap="square" lIns="0" tIns="0" rIns="0" bIns="0" rtlCol="0" anchor="ctr"/>
          <a:lstStyle/>
          <a:p>
            <a:pPr marL="0" indent="0">
              <a:buNone/>
            </a:pPr>
            <a:r>
              <a:rPr lang="en-US" sz="1350" b="1" dirty="0">
                <a:solidFill>
                  <a:srgbClr val="C97A1A"/>
                </a:solidFill>
                <a:latin typeface="Calibri" pitchFamily="34" charset="0"/>
                <a:ea typeface="Calibri" pitchFamily="34" charset="-122"/>
                <a:cs typeface="Calibri" pitchFamily="34" charset="-120"/>
              </a:rPr>
              <a:t>Selection detail worth flagging</a:t>
            </a:r>
            <a:endParaRPr lang="en-US" sz="1350" dirty="0"/>
          </a:p>
        </p:txBody>
      </p:sp>
      <p:sp>
        <p:nvSpPr>
          <p:cNvPr id="22" name="Text 18"/>
          <p:cNvSpPr txBox="1"/>
          <p:nvPr/>
        </p:nvSpPr>
        <p:spPr>
          <a:xfrm>
            <a:off x="5349240" y="3749040"/>
            <a:ext cx="6035040" cy="1920240"/>
          </a:xfrm>
          <a:prstGeom prst="rect">
            <a:avLst/>
          </a:prstGeom>
          <a:noFill/>
          <a:ln/>
        </p:spPr>
        <p:txBody>
          <a:bodyPr wrap="square" lIns="0" tIns="0" rIns="0" bIns="0" rtlCol="0" anchor="t"/>
          <a:lstStyle/>
          <a:p>
            <a:pPr marL="0" indent="0">
              <a:lnSpc>
                <a:spcPct val="115000"/>
              </a:lnSpc>
              <a:buNone/>
            </a:pPr>
            <a:r>
              <a:rPr lang="en-US" sz="1150" b="1" dirty="0">
                <a:solidFill>
                  <a:srgbClr val="1B1F4B"/>
                </a:solidFill>
                <a:latin typeface="Calibri" pitchFamily="34" charset="0"/>
                <a:ea typeface="Calibri" pitchFamily="34" charset="-122"/>
                <a:cs typeface="Calibri" pitchFamily="34" charset="-120"/>
              </a:rPr>
              <a:t>1. F1-score comparison:  </a:t>
            </a:r>
            <a:r>
              <a:rPr lang="en-US" sz="1150" dirty="0">
                <a:solidFill>
                  <a:srgbClr val="23264A"/>
                </a:solidFill>
                <a:latin typeface="Calibri" pitchFamily="34" charset="0"/>
                <a:ea typeface="Calibri" pitchFamily="34" charset="-122"/>
                <a:cs typeface="Calibri" pitchFamily="34" charset="-120"/>
              </a:rPr>
              <a:t>best_model = results_data['F1-score'].idxmax() — the code programmatically selects whichever model has the highest F1-score.
</a:t>
            </a:r>
            <a:r>
              <a:rPr lang="en-US" sz="1150" b="1" dirty="0">
                <a:solidFill>
                  <a:srgbClr val="1B1F4B"/>
                </a:solidFill>
                <a:latin typeface="Calibri" pitchFamily="34" charset="0"/>
                <a:ea typeface="Calibri" pitchFamily="34" charset="-122"/>
                <a:cs typeface="Calibri" pitchFamily="34" charset="-120"/>
              </a:rPr>
              <a:t>2. Final assignment in code:  </a:t>
            </a:r>
            <a:r>
              <a:rPr lang="en-US" sz="1150" dirty="0">
                <a:solidFill>
                  <a:srgbClr val="23264A"/>
                </a:solidFill>
                <a:latin typeface="Calibri" pitchFamily="34" charset="0"/>
                <a:ea typeface="Calibri" pitchFamily="34" charset="-122"/>
                <a:cs typeface="Calibri" pitchFamily="34" charset="-120"/>
              </a:rPr>
              <a:t>the very next line unconditionally overwrites this with best_model = RFmodel — so Random Forest is used regardless of what the F1-score comparison found.</a:t>
            </a:r>
            <a:endParaRPr lang="en-US" sz="1150" dirty="0"/>
          </a:p>
        </p:txBody>
      </p:sp>
      <p:sp>
        <p:nvSpPr>
          <p:cNvPr id="23" name="Text 19"/>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12</a:t>
            </a:r>
            <a:endParaRPr lang="en-US" sz="1000" dirty="0"/>
          </a:p>
        </p:txBody>
      </p:sp>
      <p:sp>
        <p:nvSpPr>
          <p:cNvPr id="24" name="Text 20"/>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D"/>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6C3FC5"/>
                </a:solidFill>
                <a:latin typeface="Calibri" pitchFamily="34" charset="0"/>
                <a:ea typeface="Calibri" pitchFamily="34" charset="-122"/>
                <a:cs typeface="Calibri" pitchFamily="34" charset="-120"/>
              </a:rPr>
              <a:t>FROM NOTEBOOK TO APPLICATION</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1B1F4B"/>
                </a:solidFill>
                <a:latin typeface="Cambria" pitchFamily="34" charset="0"/>
                <a:ea typeface="Cambria" pitchFamily="34" charset="-122"/>
                <a:cs typeface="Cambria" pitchFamily="34" charset="-120"/>
              </a:rPr>
              <a:t>Model Deployment</a:t>
            </a:r>
            <a:endParaRPr lang="en-US" sz="3000" dirty="0"/>
          </a:p>
        </p:txBody>
      </p:sp>
      <p:sp>
        <p:nvSpPr>
          <p:cNvPr id="4" name="Text 2"/>
          <p:cNvSpPr txBox="1"/>
          <p:nvPr/>
        </p:nvSpPr>
        <p:spPr>
          <a:xfrm>
            <a:off x="548640" y="1508760"/>
            <a:ext cx="5486400" cy="365760"/>
          </a:xfrm>
          <a:prstGeom prst="rect">
            <a:avLst/>
          </a:prstGeom>
          <a:noFill/>
          <a:ln/>
        </p:spPr>
        <p:txBody>
          <a:bodyPr wrap="square" lIns="0" tIns="0" rIns="0" bIns="0" rtlCol="0" anchor="ctr"/>
          <a:lstStyle/>
          <a:p>
            <a:pPr marL="0" indent="0">
              <a:buNone/>
            </a:pPr>
            <a:r>
              <a:rPr lang="en-US" sz="1500" b="1" dirty="0">
                <a:solidFill>
                  <a:srgbClr val="1B1F4B"/>
                </a:solidFill>
                <a:latin typeface="Cambria" pitchFamily="34" charset="0"/>
                <a:ea typeface="Cambria" pitchFamily="34" charset="-122"/>
                <a:cs typeface="Cambria" pitchFamily="34" charset="-120"/>
              </a:rPr>
              <a:t>Saving the trained artifacts</a:t>
            </a:r>
            <a:endParaRPr lang="en-US" sz="1500" dirty="0"/>
          </a:p>
        </p:txBody>
      </p:sp>
      <p:sp>
        <p:nvSpPr>
          <p:cNvPr id="5" name="Shape 3"/>
          <p:cNvSpPr/>
          <p:nvPr/>
        </p:nvSpPr>
        <p:spPr>
          <a:xfrm>
            <a:off x="548640" y="1920240"/>
            <a:ext cx="1828800" cy="1051560"/>
          </a:xfrm>
          <a:prstGeom prst="roundRect">
            <a:avLst>
              <a:gd name="adj" fmla="val 6957"/>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6" name="Shape 4"/>
          <p:cNvSpPr/>
          <p:nvPr/>
        </p:nvSpPr>
        <p:spPr>
          <a:xfrm>
            <a:off x="685800" y="2167128"/>
            <a:ext cx="548640" cy="548640"/>
          </a:xfrm>
          <a:prstGeom prst="ellipse">
            <a:avLst/>
          </a:prstGeom>
          <a:solidFill>
            <a:srgbClr val="6C3FC5"/>
          </a:solidFill>
          <a:ln/>
        </p:spPr>
        <p:txBody>
          <a:bodyPr/>
          <a:lstStyle/>
          <a:p>
            <a:endParaRPr lang="en-AE"/>
          </a:p>
        </p:txBody>
      </p:sp>
      <p:pic>
        <p:nvPicPr>
          <p:cNvPr id="7" name="Image 0" descr="/home/claude/edurisk/icons/trophy_white.png"/>
          <p:cNvPicPr>
            <a:picLocks noChangeAspect="1"/>
          </p:cNvPicPr>
          <p:nvPr/>
        </p:nvPicPr>
        <p:blipFill>
          <a:blip r:embed="rId3"/>
          <a:stretch>
            <a:fillRect/>
          </a:stretch>
        </p:blipFill>
        <p:spPr>
          <a:xfrm>
            <a:off x="817474" y="2298802"/>
            <a:ext cx="285293" cy="285293"/>
          </a:xfrm>
          <a:prstGeom prst="rect">
            <a:avLst/>
          </a:prstGeom>
        </p:spPr>
      </p:pic>
      <p:sp>
        <p:nvSpPr>
          <p:cNvPr id="8" name="Text 5"/>
          <p:cNvSpPr txBox="1"/>
          <p:nvPr/>
        </p:nvSpPr>
        <p:spPr>
          <a:xfrm>
            <a:off x="1325880" y="2286000"/>
            <a:ext cx="1005840" cy="365760"/>
          </a:xfrm>
          <a:prstGeom prst="rect">
            <a:avLst/>
          </a:prstGeom>
          <a:noFill/>
          <a:ln/>
        </p:spPr>
        <p:txBody>
          <a:bodyPr wrap="square" lIns="0" tIns="0" rIns="0" bIns="0" rtlCol="0" anchor="ctr"/>
          <a:lstStyle/>
          <a:p>
            <a:pPr marL="0" indent="0">
              <a:buNone/>
            </a:pPr>
            <a:r>
              <a:rPr lang="en-US" sz="1050" b="1" dirty="0">
                <a:solidFill>
                  <a:srgbClr val="1B1F4B"/>
                </a:solidFill>
                <a:latin typeface="Calibri" pitchFamily="34" charset="0"/>
                <a:ea typeface="Calibri" pitchFamily="34" charset="-122"/>
                <a:cs typeface="Calibri" pitchFamily="34" charset="-120"/>
              </a:rPr>
              <a:t>Trained Model</a:t>
            </a:r>
            <a:endParaRPr lang="en-US" sz="1050" dirty="0"/>
          </a:p>
        </p:txBody>
      </p:sp>
      <p:sp>
        <p:nvSpPr>
          <p:cNvPr id="9" name="Shape 6"/>
          <p:cNvSpPr/>
          <p:nvPr/>
        </p:nvSpPr>
        <p:spPr>
          <a:xfrm>
            <a:off x="2423160" y="2395728"/>
            <a:ext cx="320040" cy="109728"/>
          </a:xfrm>
          <a:prstGeom prst="rightArrow">
            <a:avLst/>
          </a:prstGeom>
          <a:solidFill>
            <a:srgbClr val="E4E3EE"/>
          </a:solidFill>
          <a:ln/>
        </p:spPr>
        <p:txBody>
          <a:bodyPr/>
          <a:lstStyle/>
          <a:p>
            <a:endParaRPr lang="en-AE"/>
          </a:p>
        </p:txBody>
      </p:sp>
      <p:sp>
        <p:nvSpPr>
          <p:cNvPr id="10" name="Shape 7"/>
          <p:cNvSpPr/>
          <p:nvPr/>
        </p:nvSpPr>
        <p:spPr>
          <a:xfrm>
            <a:off x="2834640" y="1920240"/>
            <a:ext cx="3200400" cy="1051560"/>
          </a:xfrm>
          <a:prstGeom prst="roundRect">
            <a:avLst>
              <a:gd name="adj" fmla="val 6957"/>
            </a:avLst>
          </a:prstGeom>
          <a:solidFill>
            <a:srgbClr val="E3F6F1"/>
          </a:solidFill>
          <a:ln w="12700">
            <a:solidFill>
              <a:srgbClr val="1E9E82"/>
            </a:solidFill>
            <a:prstDash val="solid"/>
          </a:ln>
          <a:effectLst>
            <a:outerShdw blurRad="101600" dist="25400" dir="5400000" algn="bl" rotWithShape="0">
              <a:srgbClr val="1B1F4B">
                <a:alpha val="12000"/>
              </a:srgbClr>
            </a:outerShdw>
          </a:effectLst>
        </p:spPr>
        <p:txBody>
          <a:bodyPr/>
          <a:lstStyle/>
          <a:p>
            <a:endParaRPr lang="en-AE"/>
          </a:p>
        </p:txBody>
      </p:sp>
      <p:pic>
        <p:nvPicPr>
          <p:cNvPr id="11" name="Image 1" descr="/home/claude/edurisk/icons/save_teal.png"/>
          <p:cNvPicPr>
            <a:picLocks noChangeAspect="1"/>
          </p:cNvPicPr>
          <p:nvPr/>
        </p:nvPicPr>
        <p:blipFill>
          <a:blip r:embed="rId4"/>
          <a:stretch>
            <a:fillRect/>
          </a:stretch>
        </p:blipFill>
        <p:spPr>
          <a:xfrm>
            <a:off x="3017520" y="2167128"/>
            <a:ext cx="548640" cy="548640"/>
          </a:xfrm>
          <a:prstGeom prst="rect">
            <a:avLst/>
          </a:prstGeom>
        </p:spPr>
      </p:pic>
      <p:sp>
        <p:nvSpPr>
          <p:cNvPr id="12" name="Text 8"/>
          <p:cNvSpPr txBox="1"/>
          <p:nvPr/>
        </p:nvSpPr>
        <p:spPr>
          <a:xfrm>
            <a:off x="3657600" y="2240280"/>
            <a:ext cx="2286000" cy="457200"/>
          </a:xfrm>
          <a:prstGeom prst="rect">
            <a:avLst/>
          </a:prstGeom>
          <a:noFill/>
          <a:ln/>
        </p:spPr>
        <p:txBody>
          <a:bodyPr wrap="square" lIns="0" tIns="0" rIns="0" bIns="0" rtlCol="0" anchor="ctr"/>
          <a:lstStyle/>
          <a:p>
            <a:pPr marL="0" indent="0">
              <a:buNone/>
            </a:pPr>
            <a:r>
              <a:rPr lang="en-US" sz="1000" b="1" dirty="0">
                <a:solidFill>
                  <a:srgbClr val="1E9E82"/>
                </a:solidFill>
                <a:latin typeface="Courier New" pitchFamily="34" charset="0"/>
                <a:ea typeface="Courier New" pitchFamily="34" charset="-122"/>
                <a:cs typeface="Courier New" pitchFamily="34" charset="-120"/>
              </a:rPr>
              <a:t>best_model.pkl   •   encoder.pkl   •   scaler.pkl</a:t>
            </a:r>
            <a:endParaRPr lang="en-US" sz="1000" dirty="0"/>
          </a:p>
        </p:txBody>
      </p:sp>
      <p:sp>
        <p:nvSpPr>
          <p:cNvPr id="13" name="Text 9"/>
          <p:cNvSpPr txBox="1"/>
          <p:nvPr/>
        </p:nvSpPr>
        <p:spPr>
          <a:xfrm>
            <a:off x="548640" y="3291840"/>
            <a:ext cx="5486400" cy="365760"/>
          </a:xfrm>
          <a:prstGeom prst="rect">
            <a:avLst/>
          </a:prstGeom>
          <a:noFill/>
          <a:ln/>
        </p:spPr>
        <p:txBody>
          <a:bodyPr wrap="square" lIns="0" tIns="0" rIns="0" bIns="0" rtlCol="0" anchor="ctr"/>
          <a:lstStyle/>
          <a:p>
            <a:pPr marL="0" indent="0">
              <a:buNone/>
            </a:pPr>
            <a:r>
              <a:rPr lang="en-US" sz="1500" b="1" dirty="0">
                <a:solidFill>
                  <a:srgbClr val="1B1F4B"/>
                </a:solidFill>
                <a:latin typeface="Cambria" pitchFamily="34" charset="0"/>
                <a:ea typeface="Cambria" pitchFamily="34" charset="-122"/>
                <a:cs typeface="Cambria" pitchFamily="34" charset="-120"/>
              </a:rPr>
              <a:t>Inference pipeline</a:t>
            </a:r>
            <a:endParaRPr lang="en-US" sz="1500" dirty="0"/>
          </a:p>
        </p:txBody>
      </p:sp>
      <p:sp>
        <p:nvSpPr>
          <p:cNvPr id="14" name="Shape 10"/>
          <p:cNvSpPr/>
          <p:nvPr/>
        </p:nvSpPr>
        <p:spPr>
          <a:xfrm>
            <a:off x="548640" y="3703320"/>
            <a:ext cx="1920240" cy="1417320"/>
          </a:xfrm>
          <a:prstGeom prst="roundRect">
            <a:avLst>
              <a:gd name="adj" fmla="val 516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15" name="Shape 11"/>
          <p:cNvSpPr/>
          <p:nvPr/>
        </p:nvSpPr>
        <p:spPr>
          <a:xfrm>
            <a:off x="1234440" y="3886200"/>
            <a:ext cx="548640" cy="548640"/>
          </a:xfrm>
          <a:prstGeom prst="ellipse">
            <a:avLst/>
          </a:prstGeom>
          <a:solidFill>
            <a:srgbClr val="6C3FC5"/>
          </a:solidFill>
          <a:ln/>
        </p:spPr>
        <p:txBody>
          <a:bodyPr/>
          <a:lstStyle/>
          <a:p>
            <a:endParaRPr lang="en-AE"/>
          </a:p>
        </p:txBody>
      </p:sp>
      <p:pic>
        <p:nvPicPr>
          <p:cNvPr id="16" name="Image 2" descr="/home/claude/edurisk/icons/usergraduate_white.png"/>
          <p:cNvPicPr>
            <a:picLocks noChangeAspect="1"/>
          </p:cNvPicPr>
          <p:nvPr/>
        </p:nvPicPr>
        <p:blipFill>
          <a:blip r:embed="rId5"/>
          <a:stretch>
            <a:fillRect/>
          </a:stretch>
        </p:blipFill>
        <p:spPr>
          <a:xfrm>
            <a:off x="1366114" y="4017874"/>
            <a:ext cx="285293" cy="285293"/>
          </a:xfrm>
          <a:prstGeom prst="rect">
            <a:avLst/>
          </a:prstGeom>
        </p:spPr>
      </p:pic>
      <p:sp>
        <p:nvSpPr>
          <p:cNvPr id="17" name="Text 12"/>
          <p:cNvSpPr txBox="1"/>
          <p:nvPr/>
        </p:nvSpPr>
        <p:spPr>
          <a:xfrm>
            <a:off x="603504" y="4544568"/>
            <a:ext cx="1810512" cy="502920"/>
          </a:xfrm>
          <a:prstGeom prst="rect">
            <a:avLst/>
          </a:prstGeom>
          <a:noFill/>
          <a:ln/>
        </p:spPr>
        <p:txBody>
          <a:bodyPr wrap="square" lIns="0" tIns="0" rIns="0" bIns="0" rtlCol="0" anchor="ctr"/>
          <a:lstStyle/>
          <a:p>
            <a:pPr marL="0" indent="0" algn="ctr">
              <a:buNone/>
            </a:pPr>
            <a:r>
              <a:rPr lang="en-US" sz="1100" b="1" dirty="0">
                <a:solidFill>
                  <a:srgbClr val="1B1F4B"/>
                </a:solidFill>
                <a:latin typeface="Calibri" pitchFamily="34" charset="0"/>
                <a:ea typeface="Calibri" pitchFamily="34" charset="-122"/>
                <a:cs typeface="Calibri" pitchFamily="34" charset="-120"/>
              </a:rPr>
              <a:t>Student</a:t>
            </a:r>
            <a:endParaRPr lang="en-US" sz="1100" dirty="0"/>
          </a:p>
          <a:p>
            <a:pPr marL="0" indent="0" algn="ctr">
              <a:buNone/>
            </a:pPr>
            <a:r>
              <a:rPr lang="en-US" sz="1100" b="1" dirty="0">
                <a:solidFill>
                  <a:srgbClr val="1B1F4B"/>
                </a:solidFill>
                <a:latin typeface="Calibri" pitchFamily="34" charset="0"/>
                <a:ea typeface="Calibri" pitchFamily="34" charset="-122"/>
                <a:cs typeface="Calibri" pitchFamily="34" charset="-120"/>
              </a:rPr>
              <a:t>Input</a:t>
            </a:r>
            <a:endParaRPr lang="en-US" sz="1100" dirty="0"/>
          </a:p>
        </p:txBody>
      </p:sp>
      <p:sp>
        <p:nvSpPr>
          <p:cNvPr id="18" name="Shape 13"/>
          <p:cNvSpPr/>
          <p:nvPr/>
        </p:nvSpPr>
        <p:spPr>
          <a:xfrm>
            <a:off x="2496312" y="4357116"/>
            <a:ext cx="310896" cy="109728"/>
          </a:xfrm>
          <a:prstGeom prst="rightArrow">
            <a:avLst/>
          </a:prstGeom>
          <a:solidFill>
            <a:srgbClr val="E4E3EE"/>
          </a:solidFill>
          <a:ln/>
        </p:spPr>
        <p:txBody>
          <a:bodyPr/>
          <a:lstStyle/>
          <a:p>
            <a:endParaRPr lang="en-AE"/>
          </a:p>
        </p:txBody>
      </p:sp>
      <p:sp>
        <p:nvSpPr>
          <p:cNvPr id="19" name="Shape 14"/>
          <p:cNvSpPr/>
          <p:nvPr/>
        </p:nvSpPr>
        <p:spPr>
          <a:xfrm>
            <a:off x="2834640" y="3703320"/>
            <a:ext cx="1920240" cy="1417320"/>
          </a:xfrm>
          <a:prstGeom prst="roundRect">
            <a:avLst>
              <a:gd name="adj" fmla="val 516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0" name="Shape 15"/>
          <p:cNvSpPr/>
          <p:nvPr/>
        </p:nvSpPr>
        <p:spPr>
          <a:xfrm>
            <a:off x="3520440" y="3886200"/>
            <a:ext cx="548640" cy="548640"/>
          </a:xfrm>
          <a:prstGeom prst="ellipse">
            <a:avLst/>
          </a:prstGeom>
          <a:solidFill>
            <a:srgbClr val="6C3FC5"/>
          </a:solidFill>
          <a:ln/>
        </p:spPr>
        <p:txBody>
          <a:bodyPr/>
          <a:lstStyle/>
          <a:p>
            <a:endParaRPr lang="en-AE"/>
          </a:p>
        </p:txBody>
      </p:sp>
      <p:pic>
        <p:nvPicPr>
          <p:cNvPr id="21" name="Image 3" descr="/home/claude/edurisk/icons/cogs_white.png"/>
          <p:cNvPicPr>
            <a:picLocks noChangeAspect="1"/>
          </p:cNvPicPr>
          <p:nvPr/>
        </p:nvPicPr>
        <p:blipFill>
          <a:blip r:embed="rId6"/>
          <a:stretch>
            <a:fillRect/>
          </a:stretch>
        </p:blipFill>
        <p:spPr>
          <a:xfrm>
            <a:off x="3652114" y="4017874"/>
            <a:ext cx="285293" cy="285293"/>
          </a:xfrm>
          <a:prstGeom prst="rect">
            <a:avLst/>
          </a:prstGeom>
        </p:spPr>
      </p:pic>
      <p:sp>
        <p:nvSpPr>
          <p:cNvPr id="22" name="Text 16"/>
          <p:cNvSpPr txBox="1"/>
          <p:nvPr/>
        </p:nvSpPr>
        <p:spPr>
          <a:xfrm>
            <a:off x="2889504" y="4544568"/>
            <a:ext cx="1810512" cy="502920"/>
          </a:xfrm>
          <a:prstGeom prst="rect">
            <a:avLst/>
          </a:prstGeom>
          <a:noFill/>
          <a:ln/>
        </p:spPr>
        <p:txBody>
          <a:bodyPr wrap="square" lIns="0" tIns="0" rIns="0" bIns="0" rtlCol="0" anchor="ctr"/>
          <a:lstStyle/>
          <a:p>
            <a:pPr marL="0" indent="0" algn="ctr">
              <a:buNone/>
            </a:pPr>
            <a:r>
              <a:rPr lang="en-US" sz="1100" b="1" dirty="0">
                <a:solidFill>
                  <a:srgbClr val="1B1F4B"/>
                </a:solidFill>
                <a:latin typeface="Calibri" pitchFamily="34" charset="0"/>
                <a:ea typeface="Calibri" pitchFamily="34" charset="-122"/>
                <a:cs typeface="Calibri" pitchFamily="34" charset="-120"/>
              </a:rPr>
              <a:t>Pre-</a:t>
            </a:r>
            <a:endParaRPr lang="en-US" sz="1100" dirty="0"/>
          </a:p>
          <a:p>
            <a:pPr marL="0" indent="0" algn="ctr">
              <a:buNone/>
            </a:pPr>
            <a:r>
              <a:rPr lang="en-US" sz="1100" b="1" dirty="0">
                <a:solidFill>
                  <a:srgbClr val="1B1F4B"/>
                </a:solidFill>
                <a:latin typeface="Calibri" pitchFamily="34" charset="0"/>
                <a:ea typeface="Calibri" pitchFamily="34" charset="-122"/>
                <a:cs typeface="Calibri" pitchFamily="34" charset="-120"/>
              </a:rPr>
              <a:t>processing</a:t>
            </a:r>
            <a:endParaRPr lang="en-US" sz="1100" dirty="0"/>
          </a:p>
        </p:txBody>
      </p:sp>
      <p:sp>
        <p:nvSpPr>
          <p:cNvPr id="23" name="Shape 17"/>
          <p:cNvSpPr/>
          <p:nvPr/>
        </p:nvSpPr>
        <p:spPr>
          <a:xfrm>
            <a:off x="4782312" y="4357116"/>
            <a:ext cx="310896" cy="109728"/>
          </a:xfrm>
          <a:prstGeom prst="rightArrow">
            <a:avLst/>
          </a:prstGeom>
          <a:solidFill>
            <a:srgbClr val="E4E3EE"/>
          </a:solidFill>
          <a:ln/>
        </p:spPr>
        <p:txBody>
          <a:bodyPr/>
          <a:lstStyle/>
          <a:p>
            <a:endParaRPr lang="en-AE"/>
          </a:p>
        </p:txBody>
      </p:sp>
      <p:sp>
        <p:nvSpPr>
          <p:cNvPr id="24" name="Shape 18"/>
          <p:cNvSpPr/>
          <p:nvPr/>
        </p:nvSpPr>
        <p:spPr>
          <a:xfrm>
            <a:off x="5120640" y="3703320"/>
            <a:ext cx="1920240" cy="1417320"/>
          </a:xfrm>
          <a:prstGeom prst="roundRect">
            <a:avLst>
              <a:gd name="adj" fmla="val 516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25" name="Shape 19"/>
          <p:cNvSpPr/>
          <p:nvPr/>
        </p:nvSpPr>
        <p:spPr>
          <a:xfrm>
            <a:off x="5806440" y="3886200"/>
            <a:ext cx="548640" cy="548640"/>
          </a:xfrm>
          <a:prstGeom prst="ellipse">
            <a:avLst/>
          </a:prstGeom>
          <a:solidFill>
            <a:srgbClr val="6C3FC5"/>
          </a:solidFill>
          <a:ln/>
        </p:spPr>
        <p:txBody>
          <a:bodyPr/>
          <a:lstStyle/>
          <a:p>
            <a:endParaRPr lang="en-AE"/>
          </a:p>
        </p:txBody>
      </p:sp>
      <p:pic>
        <p:nvPicPr>
          <p:cNvPr id="26" name="Image 4" descr="/home/claude/edurisk/icons/tree_white.png"/>
          <p:cNvPicPr>
            <a:picLocks noChangeAspect="1"/>
          </p:cNvPicPr>
          <p:nvPr/>
        </p:nvPicPr>
        <p:blipFill>
          <a:blip r:embed="rId7"/>
          <a:stretch>
            <a:fillRect/>
          </a:stretch>
        </p:blipFill>
        <p:spPr>
          <a:xfrm>
            <a:off x="5938114" y="4017874"/>
            <a:ext cx="285293" cy="285293"/>
          </a:xfrm>
          <a:prstGeom prst="rect">
            <a:avLst/>
          </a:prstGeom>
        </p:spPr>
      </p:pic>
      <p:sp>
        <p:nvSpPr>
          <p:cNvPr id="27" name="Text 20"/>
          <p:cNvSpPr txBox="1"/>
          <p:nvPr/>
        </p:nvSpPr>
        <p:spPr>
          <a:xfrm>
            <a:off x="5175504" y="4544568"/>
            <a:ext cx="1810512" cy="502920"/>
          </a:xfrm>
          <a:prstGeom prst="rect">
            <a:avLst/>
          </a:prstGeom>
          <a:noFill/>
          <a:ln/>
        </p:spPr>
        <p:txBody>
          <a:bodyPr wrap="square" lIns="0" tIns="0" rIns="0" bIns="0" rtlCol="0" anchor="ctr"/>
          <a:lstStyle/>
          <a:p>
            <a:pPr marL="0" indent="0" algn="ctr">
              <a:buNone/>
            </a:pPr>
            <a:r>
              <a:rPr lang="en-US" sz="1100" b="1" dirty="0">
                <a:solidFill>
                  <a:srgbClr val="1B1F4B"/>
                </a:solidFill>
                <a:latin typeface="Calibri" pitchFamily="34" charset="0"/>
                <a:ea typeface="Calibri" pitchFamily="34" charset="-122"/>
                <a:cs typeface="Calibri" pitchFamily="34" charset="-120"/>
              </a:rPr>
              <a:t>Trained</a:t>
            </a:r>
            <a:endParaRPr lang="en-US" sz="1100" dirty="0"/>
          </a:p>
          <a:p>
            <a:pPr marL="0" indent="0" algn="ctr">
              <a:buNone/>
            </a:pPr>
            <a:r>
              <a:rPr lang="en-US" sz="1100" b="1" dirty="0">
                <a:solidFill>
                  <a:srgbClr val="1B1F4B"/>
                </a:solidFill>
                <a:latin typeface="Calibri" pitchFamily="34" charset="0"/>
                <a:ea typeface="Calibri" pitchFamily="34" charset="-122"/>
                <a:cs typeface="Calibri" pitchFamily="34" charset="-120"/>
              </a:rPr>
              <a:t>Model</a:t>
            </a:r>
            <a:endParaRPr lang="en-US" sz="1100" dirty="0"/>
          </a:p>
        </p:txBody>
      </p:sp>
      <p:sp>
        <p:nvSpPr>
          <p:cNvPr id="28" name="Shape 21"/>
          <p:cNvSpPr/>
          <p:nvPr/>
        </p:nvSpPr>
        <p:spPr>
          <a:xfrm>
            <a:off x="7068312" y="4357116"/>
            <a:ext cx="310896" cy="109728"/>
          </a:xfrm>
          <a:prstGeom prst="rightArrow">
            <a:avLst/>
          </a:prstGeom>
          <a:solidFill>
            <a:srgbClr val="E4E3EE"/>
          </a:solidFill>
          <a:ln/>
        </p:spPr>
        <p:txBody>
          <a:bodyPr/>
          <a:lstStyle/>
          <a:p>
            <a:endParaRPr lang="en-AE"/>
          </a:p>
        </p:txBody>
      </p:sp>
      <p:sp>
        <p:nvSpPr>
          <p:cNvPr id="29" name="Shape 22"/>
          <p:cNvSpPr/>
          <p:nvPr/>
        </p:nvSpPr>
        <p:spPr>
          <a:xfrm>
            <a:off x="7406640" y="3703320"/>
            <a:ext cx="1920240" cy="1417320"/>
          </a:xfrm>
          <a:prstGeom prst="roundRect">
            <a:avLst>
              <a:gd name="adj" fmla="val 5161"/>
            </a:avLst>
          </a:prstGeom>
          <a:solidFill>
            <a:srgbClr val="FFFFFF"/>
          </a:solidFill>
          <a:ln w="12700">
            <a:solidFill>
              <a:srgbClr val="E4E3EE"/>
            </a:solidFill>
            <a:prstDash val="solid"/>
          </a:ln>
          <a:effectLst>
            <a:outerShdw blurRad="101600" dist="25400" dir="5400000" algn="bl" rotWithShape="0">
              <a:srgbClr val="1B1F4B">
                <a:alpha val="12000"/>
              </a:srgbClr>
            </a:outerShdw>
          </a:effectLst>
        </p:spPr>
        <p:txBody>
          <a:bodyPr/>
          <a:lstStyle/>
          <a:p>
            <a:endParaRPr lang="en-AE"/>
          </a:p>
        </p:txBody>
      </p:sp>
      <p:sp>
        <p:nvSpPr>
          <p:cNvPr id="30" name="Shape 23"/>
          <p:cNvSpPr/>
          <p:nvPr/>
        </p:nvSpPr>
        <p:spPr>
          <a:xfrm>
            <a:off x="8092440" y="3886200"/>
            <a:ext cx="548640" cy="548640"/>
          </a:xfrm>
          <a:prstGeom prst="ellipse">
            <a:avLst/>
          </a:prstGeom>
          <a:solidFill>
            <a:srgbClr val="6C3FC5"/>
          </a:solidFill>
          <a:ln/>
        </p:spPr>
        <p:txBody>
          <a:bodyPr/>
          <a:lstStyle/>
          <a:p>
            <a:endParaRPr lang="en-AE"/>
          </a:p>
        </p:txBody>
      </p:sp>
      <p:pic>
        <p:nvPicPr>
          <p:cNvPr id="31" name="Image 5" descr="/home/claude/edurisk/icons/bullseye_white.png"/>
          <p:cNvPicPr>
            <a:picLocks noChangeAspect="1"/>
          </p:cNvPicPr>
          <p:nvPr/>
        </p:nvPicPr>
        <p:blipFill>
          <a:blip r:embed="rId8"/>
          <a:stretch>
            <a:fillRect/>
          </a:stretch>
        </p:blipFill>
        <p:spPr>
          <a:xfrm>
            <a:off x="8224114" y="4017874"/>
            <a:ext cx="285293" cy="285293"/>
          </a:xfrm>
          <a:prstGeom prst="rect">
            <a:avLst/>
          </a:prstGeom>
        </p:spPr>
      </p:pic>
      <p:sp>
        <p:nvSpPr>
          <p:cNvPr id="32" name="Text 24"/>
          <p:cNvSpPr txBox="1"/>
          <p:nvPr/>
        </p:nvSpPr>
        <p:spPr>
          <a:xfrm>
            <a:off x="7461504" y="4544568"/>
            <a:ext cx="1810512" cy="502920"/>
          </a:xfrm>
          <a:prstGeom prst="rect">
            <a:avLst/>
          </a:prstGeom>
          <a:noFill/>
          <a:ln/>
        </p:spPr>
        <p:txBody>
          <a:bodyPr wrap="square" lIns="0" tIns="0" rIns="0" bIns="0" rtlCol="0" anchor="ctr"/>
          <a:lstStyle/>
          <a:p>
            <a:pPr marL="0" indent="0" algn="ctr">
              <a:buNone/>
            </a:pPr>
            <a:r>
              <a:rPr lang="en-US" sz="1100" b="1" dirty="0">
                <a:solidFill>
                  <a:srgbClr val="1B1F4B"/>
                </a:solidFill>
                <a:latin typeface="Calibri" pitchFamily="34" charset="0"/>
                <a:ea typeface="Calibri" pitchFamily="34" charset="-122"/>
                <a:cs typeface="Calibri" pitchFamily="34" charset="-120"/>
              </a:rPr>
              <a:t>Prediction</a:t>
            </a:r>
            <a:endParaRPr lang="en-US" sz="1100" dirty="0"/>
          </a:p>
        </p:txBody>
      </p:sp>
      <p:sp>
        <p:nvSpPr>
          <p:cNvPr id="33" name="Shape 25"/>
          <p:cNvSpPr/>
          <p:nvPr/>
        </p:nvSpPr>
        <p:spPr>
          <a:xfrm>
            <a:off x="9345168" y="4357116"/>
            <a:ext cx="164592" cy="109728"/>
          </a:xfrm>
          <a:prstGeom prst="rightArrow">
            <a:avLst/>
          </a:prstGeom>
          <a:solidFill>
            <a:srgbClr val="E4E3EE"/>
          </a:solidFill>
          <a:ln/>
        </p:spPr>
        <p:txBody>
          <a:bodyPr/>
          <a:lstStyle/>
          <a:p>
            <a:endParaRPr lang="en-AE"/>
          </a:p>
        </p:txBody>
      </p:sp>
      <p:sp>
        <p:nvSpPr>
          <p:cNvPr id="34" name="Shape 26"/>
          <p:cNvSpPr/>
          <p:nvPr/>
        </p:nvSpPr>
        <p:spPr>
          <a:xfrm>
            <a:off x="9509760" y="3840480"/>
            <a:ext cx="2130552" cy="502920"/>
          </a:xfrm>
          <a:prstGeom prst="roundRect">
            <a:avLst>
              <a:gd name="adj" fmla="val 14545"/>
            </a:avLst>
          </a:prstGeom>
          <a:solidFill>
            <a:srgbClr val="FCE9EB"/>
          </a:solidFill>
          <a:ln w="12700">
            <a:solidFill>
              <a:srgbClr val="E14B5A"/>
            </a:solidFill>
            <a:prstDash val="solid"/>
          </a:ln>
          <a:effectLst>
            <a:outerShdw blurRad="101600" dist="25400" dir="5400000" algn="bl" rotWithShape="0">
              <a:srgbClr val="1B1F4B">
                <a:alpha val="12000"/>
              </a:srgbClr>
            </a:outerShdw>
          </a:effectLst>
        </p:spPr>
        <p:txBody>
          <a:bodyPr/>
          <a:lstStyle/>
          <a:p>
            <a:endParaRPr lang="en-AE"/>
          </a:p>
        </p:txBody>
      </p:sp>
      <p:sp>
        <p:nvSpPr>
          <p:cNvPr id="35" name="Text 27"/>
          <p:cNvSpPr txBox="1"/>
          <p:nvPr/>
        </p:nvSpPr>
        <p:spPr>
          <a:xfrm>
            <a:off x="9509760" y="3840480"/>
            <a:ext cx="2130552" cy="502920"/>
          </a:xfrm>
          <a:prstGeom prst="rect">
            <a:avLst/>
          </a:prstGeom>
          <a:noFill/>
          <a:ln/>
        </p:spPr>
        <p:txBody>
          <a:bodyPr wrap="square" lIns="0" tIns="0" rIns="0" bIns="0" rtlCol="0" anchor="ctr"/>
          <a:lstStyle/>
          <a:p>
            <a:pPr marL="0" indent="0" algn="ctr">
              <a:buNone/>
            </a:pPr>
            <a:r>
              <a:rPr lang="en-US" sz="1100" b="1" dirty="0">
                <a:solidFill>
                  <a:srgbClr val="E14B5A"/>
                </a:solidFill>
                <a:latin typeface="Calibri" pitchFamily="34" charset="0"/>
                <a:ea typeface="Calibri" pitchFamily="34" charset="-122"/>
                <a:cs typeface="Calibri" pitchFamily="34" charset="-120"/>
              </a:rPr>
              <a:t>Risk</a:t>
            </a:r>
            <a:endParaRPr lang="en-US" sz="1100" dirty="0"/>
          </a:p>
        </p:txBody>
      </p:sp>
      <p:sp>
        <p:nvSpPr>
          <p:cNvPr id="36" name="Shape 28"/>
          <p:cNvSpPr/>
          <p:nvPr/>
        </p:nvSpPr>
        <p:spPr>
          <a:xfrm>
            <a:off x="9509760" y="4480560"/>
            <a:ext cx="2130552" cy="502920"/>
          </a:xfrm>
          <a:prstGeom prst="roundRect">
            <a:avLst>
              <a:gd name="adj" fmla="val 14545"/>
            </a:avLst>
          </a:prstGeom>
          <a:solidFill>
            <a:srgbClr val="E3F6F1"/>
          </a:solidFill>
          <a:ln w="12700">
            <a:solidFill>
              <a:srgbClr val="1E9E82"/>
            </a:solidFill>
            <a:prstDash val="solid"/>
          </a:ln>
          <a:effectLst>
            <a:outerShdw blurRad="101600" dist="25400" dir="5400000" algn="bl" rotWithShape="0">
              <a:srgbClr val="1B1F4B">
                <a:alpha val="12000"/>
              </a:srgbClr>
            </a:outerShdw>
          </a:effectLst>
        </p:spPr>
        <p:txBody>
          <a:bodyPr/>
          <a:lstStyle/>
          <a:p>
            <a:endParaRPr lang="en-AE"/>
          </a:p>
        </p:txBody>
      </p:sp>
      <p:sp>
        <p:nvSpPr>
          <p:cNvPr id="37" name="Text 29"/>
          <p:cNvSpPr txBox="1"/>
          <p:nvPr/>
        </p:nvSpPr>
        <p:spPr>
          <a:xfrm>
            <a:off x="9509760" y="4480560"/>
            <a:ext cx="2130552" cy="502920"/>
          </a:xfrm>
          <a:prstGeom prst="rect">
            <a:avLst/>
          </a:prstGeom>
          <a:noFill/>
          <a:ln/>
        </p:spPr>
        <p:txBody>
          <a:bodyPr wrap="square" lIns="0" tIns="0" rIns="0" bIns="0" rtlCol="0" anchor="ctr"/>
          <a:lstStyle/>
          <a:p>
            <a:pPr marL="0" indent="0" algn="ctr">
              <a:buNone/>
            </a:pPr>
            <a:r>
              <a:rPr lang="en-US" sz="1050" b="1" dirty="0">
                <a:solidFill>
                  <a:srgbClr val="1E9E82"/>
                </a:solidFill>
                <a:latin typeface="Calibri" pitchFamily="34" charset="0"/>
                <a:ea typeface="Calibri" pitchFamily="34" charset="-122"/>
                <a:cs typeface="Calibri" pitchFamily="34" charset="-120"/>
              </a:rPr>
              <a:t>No Risk</a:t>
            </a:r>
            <a:endParaRPr lang="en-US" sz="1050" dirty="0"/>
          </a:p>
        </p:txBody>
      </p:sp>
      <p:sp>
        <p:nvSpPr>
          <p:cNvPr id="38" name="Shape 30"/>
          <p:cNvSpPr/>
          <p:nvPr/>
        </p:nvSpPr>
        <p:spPr>
          <a:xfrm>
            <a:off x="548640" y="5486400"/>
            <a:ext cx="11064240" cy="777240"/>
          </a:xfrm>
          <a:prstGeom prst="roundRect">
            <a:avLst>
              <a:gd name="adj" fmla="val 9412"/>
            </a:avLst>
          </a:prstGeom>
          <a:solidFill>
            <a:srgbClr val="EFE9FB"/>
          </a:solidFill>
          <a:ln w="12700">
            <a:solidFill>
              <a:srgbClr val="6C3FC5"/>
            </a:solidFill>
            <a:prstDash val="solid"/>
          </a:ln>
          <a:effectLst>
            <a:outerShdw blurRad="101600" dist="25400" dir="5400000" algn="bl" rotWithShape="0">
              <a:srgbClr val="1B1F4B">
                <a:alpha val="12000"/>
              </a:srgbClr>
            </a:outerShdw>
          </a:effectLst>
        </p:spPr>
        <p:txBody>
          <a:bodyPr/>
          <a:lstStyle/>
          <a:p>
            <a:endParaRPr lang="en-AE"/>
          </a:p>
        </p:txBody>
      </p:sp>
      <p:pic>
        <p:nvPicPr>
          <p:cNvPr id="39" name="Image 6" descr="/home/claude/edurisk/icons/laptopcode_purple.png"/>
          <p:cNvPicPr>
            <a:picLocks noChangeAspect="1"/>
          </p:cNvPicPr>
          <p:nvPr/>
        </p:nvPicPr>
        <p:blipFill>
          <a:blip r:embed="rId9"/>
          <a:stretch>
            <a:fillRect/>
          </a:stretch>
        </p:blipFill>
        <p:spPr>
          <a:xfrm>
            <a:off x="777240" y="5669280"/>
            <a:ext cx="411480" cy="411480"/>
          </a:xfrm>
          <a:prstGeom prst="rect">
            <a:avLst/>
          </a:prstGeom>
        </p:spPr>
      </p:pic>
      <p:sp>
        <p:nvSpPr>
          <p:cNvPr id="40" name="Text 31"/>
          <p:cNvSpPr txBox="1"/>
          <p:nvPr/>
        </p:nvSpPr>
        <p:spPr>
          <a:xfrm>
            <a:off x="1325880" y="5532120"/>
            <a:ext cx="10058400" cy="685800"/>
          </a:xfrm>
          <a:prstGeom prst="rect">
            <a:avLst/>
          </a:prstGeom>
          <a:noFill/>
          <a:ln/>
        </p:spPr>
        <p:txBody>
          <a:bodyPr wrap="square" lIns="0" tIns="0" rIns="0" bIns="0" rtlCol="0" anchor="ctr"/>
          <a:lstStyle/>
          <a:p>
            <a:pPr marL="0" indent="0">
              <a:buNone/>
            </a:pPr>
            <a:r>
              <a:rPr lang="en-US" sz="1200" dirty="0">
                <a:solidFill>
                  <a:srgbClr val="1B1F4B"/>
                </a:solidFill>
                <a:latin typeface="Calibri" pitchFamily="34" charset="0"/>
                <a:ea typeface="Calibri" pitchFamily="34" charset="-122"/>
                <a:cs typeface="Calibri" pitchFamily="34" charset="-120"/>
              </a:rPr>
              <a:t>The notebook introduces Streamlit (import streamlit as st) to build an interactive application around the saved model — the app itself is not yet implemented in the source shown.</a:t>
            </a:r>
            <a:endParaRPr lang="en-US" sz="1200" dirty="0"/>
          </a:p>
        </p:txBody>
      </p:sp>
      <p:sp>
        <p:nvSpPr>
          <p:cNvPr id="41" name="Text 32"/>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13</a:t>
            </a:r>
            <a:endParaRPr lang="en-US" sz="1000" dirty="0"/>
          </a:p>
        </p:txBody>
      </p:sp>
      <p:sp>
        <p:nvSpPr>
          <p:cNvPr id="42" name="Text 33"/>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4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CFE0FA"/>
                </a:solidFill>
                <a:latin typeface="Calibri" pitchFamily="34" charset="0"/>
                <a:ea typeface="Calibri" pitchFamily="34" charset="-122"/>
                <a:cs typeface="Calibri" pitchFamily="34" charset="-120"/>
              </a:rPr>
              <a:t>WRAPPING UP</a:t>
            </a:r>
            <a:endParaRPr lang="en-US" sz="1200" dirty="0"/>
          </a:p>
        </p:txBody>
      </p:sp>
      <p:sp>
        <p:nvSpPr>
          <p:cNvPr id="3" name="Text 1"/>
          <p:cNvSpPr txBox="1"/>
          <p:nvPr/>
        </p:nvSpPr>
        <p:spPr>
          <a:xfrm>
            <a:off x="548640" y="6400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Future Work</a:t>
            </a:r>
            <a:endParaRPr lang="en-US" sz="3000" dirty="0"/>
          </a:p>
        </p:txBody>
      </p:sp>
      <p:sp>
        <p:nvSpPr>
          <p:cNvPr id="4" name="Shape 2"/>
          <p:cNvSpPr/>
          <p:nvPr/>
        </p:nvSpPr>
        <p:spPr>
          <a:xfrm>
            <a:off x="548640" y="1600200"/>
            <a:ext cx="5349240" cy="2880360"/>
          </a:xfrm>
          <a:prstGeom prst="roundRect">
            <a:avLst>
              <a:gd name="adj" fmla="val 2540"/>
            </a:avLst>
          </a:prstGeom>
          <a:solidFill>
            <a:srgbClr val="262C63"/>
          </a:solidFill>
          <a:ln w="12700">
            <a:solidFill>
              <a:srgbClr val="262C63"/>
            </a:solidFill>
            <a:prstDash val="solid"/>
          </a:ln>
          <a:effectLst>
            <a:outerShdw blurRad="101600" dist="25400" dir="5400000" algn="bl" rotWithShape="0">
              <a:srgbClr val="1B1F4B">
                <a:alpha val="12000"/>
              </a:srgbClr>
            </a:outerShdw>
          </a:effectLst>
        </p:spPr>
        <p:txBody>
          <a:bodyPr/>
          <a:lstStyle/>
          <a:p>
            <a:endParaRPr lang="en-AE" dirty="0"/>
          </a:p>
        </p:txBody>
      </p:sp>
      <p:pic>
        <p:nvPicPr>
          <p:cNvPr id="5" name="Image 0" descr="/home/claude/edurisk/icons/flagcheckered_teal.png"/>
          <p:cNvPicPr>
            <a:picLocks noChangeAspect="1"/>
          </p:cNvPicPr>
          <p:nvPr/>
        </p:nvPicPr>
        <p:blipFill>
          <a:blip r:embed="rId3"/>
          <a:stretch>
            <a:fillRect/>
          </a:stretch>
        </p:blipFill>
        <p:spPr>
          <a:xfrm>
            <a:off x="822960" y="1828800"/>
            <a:ext cx="457200" cy="457200"/>
          </a:xfrm>
          <a:prstGeom prst="rect">
            <a:avLst/>
          </a:prstGeom>
        </p:spPr>
      </p:pic>
      <p:sp>
        <p:nvSpPr>
          <p:cNvPr id="6" name="Text 3"/>
          <p:cNvSpPr txBox="1"/>
          <p:nvPr/>
        </p:nvSpPr>
        <p:spPr>
          <a:xfrm>
            <a:off x="1417320" y="1874520"/>
            <a:ext cx="36576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Conclusion</a:t>
            </a:r>
            <a:endParaRPr lang="en-US" sz="1600" dirty="0"/>
          </a:p>
        </p:txBody>
      </p:sp>
      <p:sp>
        <p:nvSpPr>
          <p:cNvPr id="7" name="Text 4"/>
          <p:cNvSpPr txBox="1"/>
          <p:nvPr/>
        </p:nvSpPr>
        <p:spPr>
          <a:xfrm>
            <a:off x="822960" y="2377440"/>
            <a:ext cx="4800600" cy="2011680"/>
          </a:xfrm>
          <a:prstGeom prst="rect">
            <a:avLst/>
          </a:prstGeom>
          <a:noFill/>
          <a:ln/>
        </p:spPr>
        <p:txBody>
          <a:bodyPr wrap="square" lIns="0" tIns="0" rIns="0" bIns="0" rtlCol="0" anchor="ctr"/>
          <a:lstStyle/>
          <a:p>
            <a:pPr marL="177800" indent="-177800">
              <a:spcAft>
                <a:spcPts val="1000"/>
              </a:spcAft>
              <a:buSzPct val="100000"/>
              <a:buChar char="•"/>
            </a:pPr>
            <a:r>
              <a:rPr lang="en-US" sz="1250" dirty="0">
                <a:solidFill>
                  <a:srgbClr val="CFE0FA"/>
                </a:solidFill>
                <a:latin typeface="Calibri" pitchFamily="34" charset="0"/>
                <a:ea typeface="Calibri" pitchFamily="34" charset="-122"/>
                <a:cs typeface="Calibri" pitchFamily="34" charset="-120"/>
              </a:rPr>
              <a:t>Machine Learning can be applied to academic failure risk prediction.</a:t>
            </a:r>
            <a:endParaRPr lang="en-US" sz="1250" dirty="0"/>
          </a:p>
          <a:p>
            <a:pPr marL="177800" indent="-177800">
              <a:spcAft>
                <a:spcPts val="1000"/>
              </a:spcAft>
              <a:buSzPct val="100000"/>
              <a:buChar char="•"/>
            </a:pPr>
            <a:r>
              <a:rPr lang="en-US" sz="1250" dirty="0">
                <a:solidFill>
                  <a:srgbClr val="CFE0FA"/>
                </a:solidFill>
                <a:latin typeface="Calibri" pitchFamily="34" charset="0"/>
                <a:ea typeface="Calibri" pitchFamily="34" charset="-122"/>
                <a:cs typeface="Calibri" pitchFamily="34" charset="-120"/>
              </a:rPr>
              <a:t>Multiple classification algorithms were trained and compared.</a:t>
            </a:r>
            <a:endParaRPr lang="en-US" sz="1250" dirty="0"/>
          </a:p>
          <a:p>
            <a:pPr marL="177800" indent="-177800">
              <a:spcAft>
                <a:spcPts val="1000"/>
              </a:spcAft>
              <a:buSzPct val="100000"/>
              <a:buChar char="•"/>
            </a:pPr>
            <a:r>
              <a:rPr lang="en-US" sz="1250" dirty="0">
                <a:solidFill>
                  <a:srgbClr val="CFE0FA"/>
                </a:solidFill>
                <a:latin typeface="Calibri" pitchFamily="34" charset="0"/>
                <a:ea typeface="Calibri" pitchFamily="34" charset="-122"/>
                <a:cs typeface="Calibri" pitchFamily="34" charset="-120"/>
              </a:rPr>
              <a:t>Models were evaluated using Accuracy, Precision, Recall &amp; F1-score.</a:t>
            </a:r>
            <a:endParaRPr lang="en-US" sz="1250" dirty="0"/>
          </a:p>
          <a:p>
            <a:pPr marL="177800" indent="-177800">
              <a:spcAft>
                <a:spcPts val="1000"/>
              </a:spcAft>
              <a:buSzPct val="100000"/>
              <a:buChar char="•"/>
            </a:pPr>
            <a:r>
              <a:rPr lang="en-US" sz="1250" dirty="0">
                <a:solidFill>
                  <a:srgbClr val="CFE0FA"/>
                </a:solidFill>
                <a:latin typeface="Calibri" pitchFamily="34" charset="0"/>
                <a:ea typeface="Calibri" pitchFamily="34" charset="-122"/>
                <a:cs typeface="Calibri" pitchFamily="34" charset="-120"/>
              </a:rPr>
              <a:t>A final model was selected for deployment based on performance.</a:t>
            </a:r>
            <a:endParaRPr lang="en-US" sz="1250" dirty="0"/>
          </a:p>
        </p:txBody>
      </p:sp>
      <p:sp>
        <p:nvSpPr>
          <p:cNvPr id="8" name="Shape 5"/>
          <p:cNvSpPr/>
          <p:nvPr/>
        </p:nvSpPr>
        <p:spPr>
          <a:xfrm>
            <a:off x="6126480" y="1600200"/>
            <a:ext cx="5349240" cy="2880360"/>
          </a:xfrm>
          <a:prstGeom prst="roundRect">
            <a:avLst>
              <a:gd name="adj" fmla="val 2540"/>
            </a:avLst>
          </a:prstGeom>
          <a:solidFill>
            <a:srgbClr val="262C63"/>
          </a:solidFill>
          <a:ln w="12700">
            <a:solidFill>
              <a:srgbClr val="262C63"/>
            </a:solidFill>
            <a:prstDash val="solid"/>
          </a:ln>
          <a:effectLst>
            <a:outerShdw blurRad="101600" dist="25400" dir="5400000" algn="bl" rotWithShape="0">
              <a:srgbClr val="1B1F4B">
                <a:alpha val="12000"/>
              </a:srgbClr>
            </a:outerShdw>
          </a:effectLst>
        </p:spPr>
        <p:txBody>
          <a:bodyPr/>
          <a:lstStyle/>
          <a:p>
            <a:endParaRPr lang="en-AE"/>
          </a:p>
        </p:txBody>
      </p:sp>
      <p:pic>
        <p:nvPicPr>
          <p:cNvPr id="9" name="Image 1" descr="/home/claude/edurisk/icons/lightbulb_purple.png"/>
          <p:cNvPicPr>
            <a:picLocks noChangeAspect="1"/>
          </p:cNvPicPr>
          <p:nvPr/>
        </p:nvPicPr>
        <p:blipFill>
          <a:blip r:embed="rId4"/>
          <a:stretch>
            <a:fillRect/>
          </a:stretch>
        </p:blipFill>
        <p:spPr>
          <a:xfrm>
            <a:off x="6400800" y="1828800"/>
            <a:ext cx="457200" cy="457200"/>
          </a:xfrm>
          <a:prstGeom prst="rect">
            <a:avLst/>
          </a:prstGeom>
        </p:spPr>
      </p:pic>
      <p:sp>
        <p:nvSpPr>
          <p:cNvPr id="10" name="Text 6"/>
          <p:cNvSpPr txBox="1"/>
          <p:nvPr/>
        </p:nvSpPr>
        <p:spPr>
          <a:xfrm>
            <a:off x="6995160" y="1874520"/>
            <a:ext cx="36576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Future Work</a:t>
            </a:r>
            <a:endParaRPr lang="en-US" sz="1600" dirty="0"/>
          </a:p>
        </p:txBody>
      </p:sp>
      <p:sp>
        <p:nvSpPr>
          <p:cNvPr id="11" name="Text 7"/>
          <p:cNvSpPr txBox="1"/>
          <p:nvPr/>
        </p:nvSpPr>
        <p:spPr>
          <a:xfrm>
            <a:off x="6400800" y="2377440"/>
            <a:ext cx="4892040" cy="2011680"/>
          </a:xfrm>
          <a:prstGeom prst="rect">
            <a:avLst/>
          </a:prstGeom>
          <a:noFill/>
          <a:ln/>
        </p:spPr>
        <p:txBody>
          <a:bodyPr wrap="square" lIns="0" tIns="0" rIns="0" bIns="0" rtlCol="0" anchor="ctr"/>
          <a:lstStyle/>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Collect more student data</a:t>
            </a:r>
            <a:endParaRPr lang="en-US" sz="1200" dirty="0"/>
          </a:p>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Additional feature engineering</a:t>
            </a:r>
            <a:endParaRPr lang="en-US" sz="1200" dirty="0"/>
          </a:p>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Hyperparameter tuning across all models</a:t>
            </a:r>
            <a:endParaRPr lang="en-US" sz="1200" dirty="0"/>
          </a:p>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Explore more advanced models</a:t>
            </a:r>
            <a:endParaRPr lang="en-US" sz="1200" dirty="0"/>
          </a:p>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Feature importance analysis</a:t>
            </a:r>
            <a:endParaRPr lang="en-US" sz="1200" dirty="0"/>
          </a:p>
          <a:p>
            <a:pPr marL="177800" indent="-177800">
              <a:spcAft>
                <a:spcPts val="700"/>
              </a:spcAft>
              <a:buSzPct val="100000"/>
              <a:buChar char="•"/>
            </a:pPr>
            <a:r>
              <a:rPr lang="en-US" sz="1200" dirty="0">
                <a:solidFill>
                  <a:srgbClr val="CFE0FA"/>
                </a:solidFill>
                <a:latin typeface="Calibri" pitchFamily="34" charset="0"/>
                <a:ea typeface="Calibri" pitchFamily="34" charset="-122"/>
                <a:cs typeface="Calibri" pitchFamily="34" charset="-120"/>
              </a:rPr>
              <a:t>Improve and deploy the Streamlit application</a:t>
            </a:r>
            <a:endParaRPr lang="en-US" sz="1200" dirty="0"/>
          </a:p>
        </p:txBody>
      </p:sp>
      <p:sp>
        <p:nvSpPr>
          <p:cNvPr id="15" name="Text 11"/>
          <p:cNvSpPr txBox="1"/>
          <p:nvPr/>
        </p:nvSpPr>
        <p:spPr>
          <a:xfrm>
            <a:off x="11365992" y="6446520"/>
            <a:ext cx="548640" cy="274320"/>
          </a:xfrm>
          <a:prstGeom prst="rect">
            <a:avLst/>
          </a:prstGeom>
          <a:noFill/>
          <a:ln/>
        </p:spPr>
        <p:txBody>
          <a:bodyPr wrap="square" lIns="0" tIns="0" rIns="0" bIns="0" rtlCol="0" anchor="ctr"/>
          <a:lstStyle/>
          <a:p>
            <a:pPr marL="0" indent="0" algn="r">
              <a:buNone/>
            </a:pPr>
            <a:r>
              <a:rPr lang="en-US" sz="1000" dirty="0">
                <a:solidFill>
                  <a:srgbClr val="6B7089"/>
                </a:solidFill>
                <a:latin typeface="Calibri" pitchFamily="34" charset="0"/>
                <a:ea typeface="Calibri" pitchFamily="34" charset="-122"/>
                <a:cs typeface="Calibri" pitchFamily="34" charset="-120"/>
              </a:rPr>
              <a:t>14</a:t>
            </a:r>
            <a:endParaRPr lang="en-US" sz="1000" dirty="0"/>
          </a:p>
        </p:txBody>
      </p:sp>
      <p:sp>
        <p:nvSpPr>
          <p:cNvPr id="16" name="Text 12"/>
          <p:cNvSpPr txBox="1"/>
          <p:nvPr/>
        </p:nvSpPr>
        <p:spPr>
          <a:xfrm>
            <a:off x="548640" y="6446520"/>
            <a:ext cx="2743200" cy="274320"/>
          </a:xfrm>
          <a:prstGeom prst="rect">
            <a:avLst/>
          </a:prstGeom>
          <a:noFill/>
          <a:ln/>
        </p:spPr>
        <p:txBody>
          <a:bodyPr wrap="square" lIns="0" tIns="0" rIns="0" bIns="0" rtlCol="0" anchor="ctr"/>
          <a:lstStyle/>
          <a:p>
            <a:pPr marL="0" indent="0">
              <a:buNone/>
            </a:pPr>
            <a:r>
              <a:rPr lang="en-US" sz="1000" dirty="0">
                <a:solidFill>
                  <a:srgbClr val="6B7089"/>
                </a:solidFill>
                <a:latin typeface="Calibri" pitchFamily="34" charset="0"/>
                <a:ea typeface="Calibri" pitchFamily="34" charset="-122"/>
                <a:cs typeface="Calibri" pitchFamily="34" charset="-120"/>
              </a:rPr>
              <a:t>EduRisk</a:t>
            </a:r>
            <a:endParaRPr lang="en-US" sz="1000"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F5BED8B-C3BC-6FD6-9E4A-243855927AD3}"/>
              </a:ext>
            </a:extLst>
          </p:cNvPr>
          <p:cNvGraphicFramePr>
            <a:graphicFrameLocks noGrp="1"/>
          </p:cNvGraphicFramePr>
          <p:nvPr>
            <p:extLst>
              <p:ext uri="{D42A27DB-BD31-4B8C-83A1-F6EECF244321}">
                <p14:modId xmlns:p14="http://schemas.microsoft.com/office/powerpoint/2010/main" val="355208782"/>
              </p:ext>
            </p:extLst>
          </p:nvPr>
        </p:nvGraphicFramePr>
        <p:xfrm>
          <a:off x="0" y="0"/>
          <a:ext cx="12192000" cy="6857999"/>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921848261"/>
                    </a:ext>
                  </a:extLst>
                </a:gridCol>
                <a:gridCol w="6096000">
                  <a:extLst>
                    <a:ext uri="{9D8B030D-6E8A-4147-A177-3AD203B41FA5}">
                      <a16:colId xmlns:a16="http://schemas.microsoft.com/office/drawing/2014/main" val="2922606319"/>
                    </a:ext>
                  </a:extLst>
                </a:gridCol>
              </a:tblGrid>
              <a:tr h="1019621">
                <a:tc>
                  <a:txBody>
                    <a:bodyPr/>
                    <a:lstStyle/>
                    <a:p>
                      <a:r>
                        <a:rPr lang="en-US" dirty="0"/>
                        <a:t>Team Member </a:t>
                      </a:r>
                      <a:endParaRPr lang="en-AE" dirty="0"/>
                    </a:p>
                  </a:txBody>
                  <a:tcPr/>
                </a:tc>
                <a:tc>
                  <a:txBody>
                    <a:bodyPr/>
                    <a:lstStyle/>
                    <a:p>
                      <a:r>
                        <a:rPr lang="en-US" dirty="0"/>
                        <a:t>Contribution</a:t>
                      </a:r>
                      <a:endParaRPr lang="en-AE" dirty="0"/>
                    </a:p>
                  </a:txBody>
                  <a:tcPr/>
                </a:tc>
                <a:extLst>
                  <a:ext uri="{0D108BD9-81ED-4DB2-BD59-A6C34878D82A}">
                    <a16:rowId xmlns:a16="http://schemas.microsoft.com/office/drawing/2014/main" val="1260357769"/>
                  </a:ext>
                </a:extLst>
              </a:tr>
              <a:tr h="1759894">
                <a:tc>
                  <a:txBody>
                    <a:bodyPr/>
                    <a:lstStyle/>
                    <a:p>
                      <a:r>
                        <a:rPr lang="en-US" dirty="0"/>
                        <a:t>Karen</a:t>
                      </a:r>
                      <a:endParaRPr lang="en-A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Preprocessing, Random Forest Model &amp; GUI</a:t>
                      </a:r>
                    </a:p>
                  </a:txBody>
                  <a:tcPr/>
                </a:tc>
                <a:extLst>
                  <a:ext uri="{0D108BD9-81ED-4DB2-BD59-A6C34878D82A}">
                    <a16:rowId xmlns:a16="http://schemas.microsoft.com/office/drawing/2014/main" val="2098335193"/>
                  </a:ext>
                </a:extLst>
              </a:tr>
              <a:tr h="1019621">
                <a:tc>
                  <a:txBody>
                    <a:bodyPr/>
                    <a:lstStyle/>
                    <a:p>
                      <a:r>
                        <a:rPr lang="en-US" dirty="0" err="1"/>
                        <a:t>Mayar</a:t>
                      </a:r>
                      <a:endParaRPr lang="en-A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Logistic Regression Model &amp; Deployment</a:t>
                      </a:r>
                    </a:p>
                  </a:txBody>
                  <a:tcPr/>
                </a:tc>
                <a:extLst>
                  <a:ext uri="{0D108BD9-81ED-4DB2-BD59-A6C34878D82A}">
                    <a16:rowId xmlns:a16="http://schemas.microsoft.com/office/drawing/2014/main" val="313658225"/>
                  </a:ext>
                </a:extLst>
              </a:tr>
              <a:tr h="1019621">
                <a:tc>
                  <a:txBody>
                    <a:bodyPr/>
                    <a:lstStyle/>
                    <a:p>
                      <a:r>
                        <a:rPr lang="en-US" dirty="0" err="1"/>
                        <a:t>Zinab</a:t>
                      </a:r>
                      <a:endParaRPr lang="en-A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Naive Bayes Model &amp; Model Comparison</a:t>
                      </a:r>
                    </a:p>
                  </a:txBody>
                  <a:tcPr/>
                </a:tc>
                <a:extLst>
                  <a:ext uri="{0D108BD9-81ED-4DB2-BD59-A6C34878D82A}">
                    <a16:rowId xmlns:a16="http://schemas.microsoft.com/office/drawing/2014/main" val="4146807191"/>
                  </a:ext>
                </a:extLst>
              </a:tr>
              <a:tr h="1019621">
                <a:tc>
                  <a:txBody>
                    <a:bodyPr/>
                    <a:lstStyle/>
                    <a:p>
                      <a:r>
                        <a:rPr lang="en-US" dirty="0"/>
                        <a:t>Salma </a:t>
                      </a:r>
                      <a:endParaRPr lang="en-A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KNN Model &amp; Presentation</a:t>
                      </a:r>
                    </a:p>
                  </a:txBody>
                  <a:tcPr/>
                </a:tc>
                <a:extLst>
                  <a:ext uri="{0D108BD9-81ED-4DB2-BD59-A6C34878D82A}">
                    <a16:rowId xmlns:a16="http://schemas.microsoft.com/office/drawing/2014/main" val="784614497"/>
                  </a:ext>
                </a:extLst>
              </a:tr>
              <a:tr h="1019621">
                <a:tc>
                  <a:txBody>
                    <a:bodyPr/>
                    <a:lstStyle/>
                    <a:p>
                      <a:r>
                        <a:rPr lang="en-US" dirty="0"/>
                        <a:t>Dania </a:t>
                      </a:r>
                      <a:endParaRPr lang="en-A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Decision Tree Model</a:t>
                      </a:r>
                    </a:p>
                  </a:txBody>
                  <a:tcPr/>
                </a:tc>
                <a:extLst>
                  <a:ext uri="{0D108BD9-81ED-4DB2-BD59-A6C34878D82A}">
                    <a16:rowId xmlns:a16="http://schemas.microsoft.com/office/drawing/2014/main" val="1200631580"/>
                  </a:ext>
                </a:extLst>
              </a:tr>
            </a:tbl>
          </a:graphicData>
        </a:graphic>
      </p:graphicFrame>
    </p:spTree>
    <p:extLst>
      <p:ext uri="{BB962C8B-B14F-4D97-AF65-F5344CB8AC3E}">
        <p14:creationId xmlns:p14="http://schemas.microsoft.com/office/powerpoint/2010/main" val="41771910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8">
            <a:extLst>
              <a:ext uri="{FF2B5EF4-FFF2-40B4-BE49-F238E27FC236}">
                <a16:creationId xmlns:a16="http://schemas.microsoft.com/office/drawing/2014/main" id="{5B33F8CC-7C9E-31B0-4FC1-FC3E00794B39}"/>
              </a:ext>
            </a:extLst>
          </p:cNvPr>
          <p:cNvSpPr/>
          <p:nvPr/>
        </p:nvSpPr>
        <p:spPr>
          <a:xfrm>
            <a:off x="-426098" y="-93306"/>
            <a:ext cx="13044196" cy="7231224"/>
          </a:xfrm>
          <a:prstGeom prst="roundRect">
            <a:avLst>
              <a:gd name="adj" fmla="val 5161"/>
            </a:avLst>
          </a:prstGeom>
          <a:solidFill>
            <a:srgbClr val="6C3FC5"/>
          </a:solidFill>
          <a:ln w="12700">
            <a:solidFill>
              <a:srgbClr val="6C3FC5"/>
            </a:solidFill>
            <a:prstDash val="solid"/>
          </a:ln>
          <a:effectLst>
            <a:outerShdw blurRad="101600" dist="25400" dir="5400000" algn="bl" rotWithShape="0">
              <a:srgbClr val="1B1F4B">
                <a:alpha val="12000"/>
              </a:srgbClr>
            </a:outerShdw>
          </a:effectLst>
        </p:spPr>
        <p:txBody>
          <a:bodyPr/>
          <a:lstStyle/>
          <a:p>
            <a:pPr algn="ctr"/>
            <a:endParaRPr lang="ar-EG" sz="9600" b="1" dirty="0">
              <a:solidFill>
                <a:srgbClr val="FFFFFF"/>
              </a:solidFill>
              <a:latin typeface="Cambria" pitchFamily="34" charset="0"/>
              <a:ea typeface="Cambria" pitchFamily="34" charset="-122"/>
              <a:cs typeface="Cambria" pitchFamily="34" charset="-120"/>
            </a:endParaRPr>
          </a:p>
          <a:p>
            <a:pPr algn="ctr"/>
            <a:endParaRPr lang="ar-EG" sz="9600" b="1" dirty="0">
              <a:solidFill>
                <a:srgbClr val="FFFFFF"/>
              </a:solidFill>
              <a:latin typeface="Cambria" pitchFamily="34" charset="0"/>
              <a:ea typeface="Cambria" pitchFamily="34" charset="-122"/>
              <a:cs typeface="Cambria" pitchFamily="34" charset="-120"/>
            </a:endParaRPr>
          </a:p>
          <a:p>
            <a:pPr algn="ctr"/>
            <a:r>
              <a:rPr lang="en-US" sz="9600" b="1" dirty="0">
                <a:solidFill>
                  <a:srgbClr val="FFFFFF"/>
                </a:solidFill>
                <a:latin typeface="Cambria" pitchFamily="34" charset="0"/>
                <a:ea typeface="Cambria" pitchFamily="34" charset="-122"/>
                <a:cs typeface="Cambria" pitchFamily="34" charset="-120"/>
              </a:rPr>
              <a:t>Thank You</a:t>
            </a:r>
            <a:endParaRPr lang="en-US" sz="9600" dirty="0"/>
          </a:p>
          <a:p>
            <a:pPr algn="ctr"/>
            <a:r>
              <a:rPr lang="en-US" sz="2800" dirty="0">
                <a:solidFill>
                  <a:srgbClr val="CFE0FA"/>
                </a:solidFill>
                <a:latin typeface="Calibri" pitchFamily="34" charset="0"/>
                <a:ea typeface="Calibri" pitchFamily="34" charset="-122"/>
                <a:cs typeface="Calibri" pitchFamily="34" charset="-120"/>
              </a:rPr>
              <a:t>Questions?</a:t>
            </a:r>
            <a:endParaRPr lang="en-US" sz="2800" dirty="0"/>
          </a:p>
          <a:p>
            <a:endParaRPr lang="en-AE" sz="9600" dirty="0"/>
          </a:p>
        </p:txBody>
      </p:sp>
    </p:spTree>
    <p:extLst>
      <p:ext uri="{BB962C8B-B14F-4D97-AF65-F5344CB8AC3E}">
        <p14:creationId xmlns:p14="http://schemas.microsoft.com/office/powerpoint/2010/main" val="257575365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2906</Words>
  <Application>Microsoft Office PowerPoint</Application>
  <PresentationFormat>Widescreen</PresentationFormat>
  <Paragraphs>267</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Courier New</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Salma Mohamed Abdalhaliem</cp:lastModifiedBy>
  <cp:revision>2</cp:revision>
  <dcterms:created xsi:type="dcterms:W3CDTF">2026-09-02T10:46:45Z</dcterms:created>
  <dcterms:modified xsi:type="dcterms:W3CDTF">2026-09-02T11:40:51Z</dcterms:modified>
</cp:coreProperties>
</file>